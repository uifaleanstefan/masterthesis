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canonical θ</c:v>
                </c:pt>
              </c:strCache>
            </c:strRef>
          </c:tx>
          <c:spPr>
            <a:solidFill>
              <a:srgbClr val="B9C6D8"/>
            </a:solidFill>
            <a:effectLst/>
          </c:spPr>
          <c:invertIfNegative val="0"/>
          <c:dLbls>
            <c:numFmt formatCode="0.00" sourceLinked="0"/>
            <c:txPr>
              <a:bodyPr/>
              <a:lstStyle/>
              <a:p>
                <a:pPr>
                  <a:defRPr b="0" i="0" strike="noStrike" sz="1000" u="none">
                    <a:solidFill>
                      <a:srgbClr val="1B2A44"/>
                    </a:solidFill>
                    <a:latin typeface="Calibri"/>
                  </a:defRPr>
                </a:pPr>
              </a:p>
            </c:txPr>
            <c:showLegendKey val="0"/>
            <c:showVal val="1"/>
            <c:showCatName val="0"/>
            <c:showSerName val="0"/>
            <c:showPercent val="0"/>
            <c:showBubbleSize val="0"/>
            <c:showLeaderLines val="0"/>
          </c:dLbls>
          <c:cat>
            <c:multiLvlStrRef>
              <c:f>Sheet1!$A$2:$A$4</c:f>
              <c:multiLvlStrCache>
                <c:ptCount val="3"/>
                <c:lvl>
                  <c:pt idx="0">
                    <c:v>FinanceBench</c:v>
                  </c:pt>
                  <c:pt idx="1">
                    <c:v>CUAD</c:v>
                  </c:pt>
                  <c:pt idx="2">
                    <c:v>QASPER</c:v>
                  </c:pt>
                </c:lvl>
              </c:multiLvlStrCache>
            </c:multiLvlStrRef>
          </c:cat>
          <c:val>
            <c:numRef>
              <c:f>Sheet1!$B$2:$B$4</c:f>
              <c:numCache>
                <c:formatCode>General</c:formatCode>
                <c:ptCount val="3"/>
                <c:pt idx="0">
                  <c:v>0.243</c:v>
                </c:pt>
                <c:pt idx="1">
                  <c:v>0.028</c:v>
                </c:pt>
                <c:pt idx="2">
                  <c:v>0.25</c:v>
                </c:pt>
              </c:numCache>
            </c:numRef>
          </c:val>
        </c:ser>
        <c:ser>
          <c:idx val="1"/>
          <c:order val="1"/>
          <c:tx>
            <c:strRef>
              <c:f>Sheet1!$C$1</c:f>
              <c:strCache>
                <c:ptCount val="1"/>
                <c:pt idx="0">
                  <c:v>corpus-tuned θ</c:v>
                </c:pt>
              </c:strCache>
            </c:strRef>
          </c:tx>
          <c:spPr>
            <a:solidFill>
              <a:srgbClr val="1FB6A6"/>
            </a:solidFill>
            <a:effectLst/>
          </c:spPr>
          <c:invertIfNegative val="0"/>
          <c:dLbls>
            <c:numFmt formatCode="0.00" sourceLinked="0"/>
            <c:txPr>
              <a:bodyPr/>
              <a:lstStyle/>
              <a:p>
                <a:pPr>
                  <a:defRPr b="0" i="0" strike="noStrike" sz="1000" u="none">
                    <a:solidFill>
                      <a:srgbClr val="1B2A44"/>
                    </a:solidFill>
                    <a:latin typeface="Calibri"/>
                  </a:defRPr>
                </a:pPr>
              </a:p>
            </c:txPr>
            <c:showLegendKey val="0"/>
            <c:showVal val="1"/>
            <c:showCatName val="0"/>
            <c:showSerName val="0"/>
            <c:showPercent val="0"/>
            <c:showBubbleSize val="0"/>
            <c:showLeaderLines val="0"/>
          </c:dLbls>
          <c:cat>
            <c:multiLvlStrRef>
              <c:f>Sheet1!$A$2:$A$4</c:f>
              <c:multiLvlStrCache>
                <c:ptCount val="3"/>
                <c:lvl>
                  <c:pt idx="0">
                    <c:v>FinanceBench</c:v>
                  </c:pt>
                  <c:pt idx="1">
                    <c:v>CUAD</c:v>
                  </c:pt>
                  <c:pt idx="2">
                    <c:v>QASPER</c:v>
                  </c:pt>
                </c:lvl>
              </c:multiLvlStrCache>
            </c:multiLvlStrRef>
          </c:cat>
          <c:val>
            <c:numRef>
              <c:f>Sheet1!$C$2:$C$4</c:f>
              <c:numCache>
                <c:formatCode>General</c:formatCode>
                <c:ptCount val="3"/>
                <c:pt idx="0">
                  <c:v>0.645</c:v>
                </c:pt>
                <c:pt idx="1">
                  <c:v>0.172</c:v>
                </c:pt>
                <c:pt idx="2">
                  <c:v>0.415</c:v>
                </c:pt>
              </c:numCache>
            </c:numRef>
          </c:val>
        </c:ser>
        <c:dLbls>
          <c:numFmt formatCode="0.00" sourceLinked="0"/>
          <c:txPr>
            <a:bodyPr/>
            <a:lstStyle/>
            <a:p>
              <a:pPr>
                <a:defRPr b="0" i="0" strike="noStrike" sz="1000" u="none">
                  <a:solidFill>
                    <a:srgbClr val="1B2A4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44"/>
                </a:solidFill>
                <a:latin typeface="Calibri"/>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12700" cap="flat">
              <a:solidFill>
                <a:srgbClr val="EAEFF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7088"/>
                </a:solidFill>
                <a:latin typeface="Calibri"/>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solidFill>
                <a:srgbClr val="1B2A4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asks whether an agent can LEARN how to build its own memory, rather than having it hand-designed and frozen — and whether the best memory differs from task to task. I'll motivate the problem, state the two research questions, walk you through the method and three stages of experiments, and come back to answer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example. An agent reads 500 contracts one clause at a time. You ask about contract number 3. A memory that scores retrieval by recency hands back clauses from the most recent contract — number 500 — and gets it wrong, even though it saw the right answer. The rule that's optimal for a fresh document is exactly wrong at end-of-corpus. So the memory rule should depend on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Generalizing: what these systems share is that the memory is FIXED. What to store, which concepts to track, and how to score a retrieval are hand-designed once and frozen. But a multi-hop question needs entity relations, a navigation task needs spatial transitions, and an end-of-corpus question needs recency-independent recall. A rule that's optimal for one is harmful for another — so a single frozen memory must compromise.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gives two research questions. RQ1: can an agent LEARN how to construct its own memory — what to store, which concepts to track, and how to score retrieval? RQ2: is that learned optimum task-dependent? And a commitment that runs through the thesis: we subject every headline number to an adversarial self-audit and report the corrected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is to make memory construction itself a learnable object. A single vector theta — up to ten dimensions in the fullest system — governs the whole pipeline: what gets stored, which nodes and edges form a memory graph, and how a candidate is scored at retrieval as a weighted sum of a graph signal, embedding similarity, and recency. Crucially we optimize theta ONLY — not the policy, not the language model. So this is not a new RL agent or a new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retrieval concrete, because it's the heart of the method. When the agent needs to answer, every item in memory gets a score, and it keeps the top few. The score is just three signals added up. One: does the item MEAN the same as the question — an embedding similarity, zero to one. Two: how RECENT is it — freshness, zero to one. Three: is it LINKED to the question in the entity graph — on or off. Each of the three retrieval weights in theta decides how loudly that signal votes. In our contract example the recency vote was set too loud, so the newest document always won. Learning theta is just learning how loud to set each vote — and for end-of-corpus questions it learns to turn recency down and meaning up. One honesty note I'll return to: the graph vote carried no measurable weight on the Stage 3 corpora, so in practice retrieval came down to meaning versus freshness.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learn theta with black-box search — an Evolution Strategy for the small case, then CMA-ES. Two reasons it's derivative-free: the storage decision is discrete, and — importantly — the objective is recall-at-8 of the gold evidence, which uses NO language model. So tuning is cheap and it can't be biased by the judge that later scores answers. We test the idea in three stages of increasing realism: grid worlds, a twelve-system benchmark, and real LLMs over six corpora.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grid worlds, a three-dimensional theta tuned separately per task. The headline is the DIFFERENCE between the recovered vectors: Key-Door learns to discard most events but keep temporal order; Goal-Room learns to store everything. That's the cleanest evidence for RQ2 — the optimal memory is task-dependent. On the hardest task the learned rule lifts success from 2.5 to 27.5 percent. It's a single-seed proof of concept,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scales to twelve memory systems on four environments. The ten-dimensional learnable memory reaches the top cluster — 0.178 versus the best baseline's 0.173, which we report honestly as a statistical tie, not a number-one. Ablation tells us WHY it works: the novelty parameter is load-bearing — zero it and reward collapses — while the graph-traversal term carries no measurable retrieval load, an honest negative result we keep in. And a two-thousand-parameter neural controller with the same budget only matches the ten scalars.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is the real test. A gpt-4o-mini answerer, a MiniLM encoder, and — importantly — a CROSS-VENDOR Claude judge scoring every answer one-by-one, so the judge isn't grading its own vendor. Theta is re-tuned per corpus. And we pre-registered the six benchmarks into three groups: three domain-coherent ones where we predict a lift, two domain-incoherent CONTROLS, and NarrativeQA which has no gold evidence so the objective is undefined. Fixing that partition up front is what lets the result be a test rather than a search for a favorable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Re-tuning theta per corpus lifts end-of-corpus accuracy on all three coherent benchmarks — FinanceBench jumps from 0.24 to 0.65 — and on a held-out split, two of the three survive multiple-comparison correction; QASPER doesn't, and we report it as non-significant. The mechanism is consistent: tuning drives the recency weight toward zero and the embedding weight up. The memory stops chasing the most recent document and retrieves by meaning — which is exactly what an end-of-corpus question needs. We also verified the tuning objective is valid: retrieval recall predicts judge score at rho 0.69.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part I'm proudest of. Our self-audit caught that a full-context 'dump everything into the prompt' baseline, once a truncation bug was fixed, is statistically TIED with selective memory on accuracy. So we do NOT claim selective retrieval is more accurate. Instead the argument is efficiency and scalability: it matches accuracy at about eighteen times lower cost, and — structurally — dump-all can't even run past about eleven contracts because it overflows the context window, while selective retrieval holds its prompt flat at around 700 tokens. Beyond a few documents, retrieving the right items isn't an optimization, it's a necessity.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back to the questions. RQ1 — can memory construction be learned? Yes: what to store and how to retrieve are captured by a single theta, optimized by black-box search over the language model. RQ2 — is that optimum task-dependent? Yes: the optimizer recovers different theta per task, and it transfers within a task family but not across families. And measured carefully, at corpus scale the learned memory buys efficiency and graceful scaling rather than a free accuracy gain. A modest but defensible step toward agents that adapt not just their actions, but the structure of their own memory.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94A"/>
        </a:solidFill>
      </p:bgPr>
    </p:bg>
    <p:spTree>
      <p:nvGrpSpPr>
        <p:cNvPr id="1" name=""/>
        <p:cNvGrpSpPr/>
        <p:nvPr/>
      </p:nvGrpSpPr>
      <p:grpSpPr>
        <a:xfrm>
          <a:off x="0" y="0"/>
          <a:ext cx="0" cy="0"/>
          <a:chOff x="0" y="0"/>
          <a:chExt cx="0" cy="0"/>
        </a:xfrm>
      </p:grpSpPr>
      <p:sp>
        <p:nvSpPr>
          <p:cNvPr id="2" name="Shape 0"/>
          <p:cNvSpPr/>
          <p:nvPr/>
        </p:nvSpPr>
        <p:spPr>
          <a:xfrm>
            <a:off x="0" y="0"/>
            <a:ext cx="12161520" cy="128016"/>
          </a:xfrm>
          <a:prstGeom prst="rect">
            <a:avLst/>
          </a:prstGeom>
          <a:solidFill>
            <a:srgbClr val="1FB6A6"/>
          </a:solidFill>
          <a:ln/>
        </p:spPr>
      </p:sp>
      <p:sp>
        <p:nvSpPr>
          <p:cNvPr id="3" name="Text 1"/>
          <p:cNvSpPr/>
          <p:nvPr/>
        </p:nvSpPr>
        <p:spPr>
          <a:xfrm>
            <a:off x="822960" y="1371600"/>
            <a:ext cx="10058400" cy="365760"/>
          </a:xfrm>
          <a:prstGeom prst="rect">
            <a:avLst/>
          </a:prstGeom>
          <a:noFill/>
          <a:ln/>
        </p:spPr>
        <p:txBody>
          <a:bodyPr wrap="square" lIns="0" tIns="0" rIns="0" bIns="0" rtlCol="0" anchor="ctr"/>
          <a:lstStyle/>
          <a:p>
            <a:pPr indent="0" marL="0">
              <a:buNone/>
            </a:pPr>
            <a:r>
              <a:rPr lang="en-US" sz="1400" b="1" spc="300" kern="0" dirty="0">
                <a:solidFill>
                  <a:srgbClr val="1FB6A6"/>
                </a:solidFill>
                <a:latin typeface="Calibri" pitchFamily="34" charset="0"/>
                <a:ea typeface="Calibri" pitchFamily="34" charset="-122"/>
                <a:cs typeface="Calibri" pitchFamily="34" charset="-120"/>
              </a:rPr>
              <a:t>MSc THESIS DEFENSE</a:t>
            </a:r>
            <a:endParaRPr lang="en-US" sz="1400" dirty="0"/>
          </a:p>
        </p:txBody>
      </p:sp>
      <p:sp>
        <p:nvSpPr>
          <p:cNvPr id="4" name="Text 2"/>
          <p:cNvSpPr/>
          <p:nvPr/>
        </p:nvSpPr>
        <p:spPr>
          <a:xfrm>
            <a:off x="786384" y="1828800"/>
            <a:ext cx="10607040" cy="1737360"/>
          </a:xfrm>
          <a:prstGeom prst="rect">
            <a:avLst/>
          </a:prstGeom>
          <a:noFill/>
          <a:ln/>
        </p:spPr>
        <p:txBody>
          <a:bodyPr wrap="square" lIns="0" tIns="0" rIns="0" bIns="0"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Learnable, Task-Adaptive Structured</a:t>
            </a:r>
            <a:endParaRPr lang="en-US" sz="4200" dirty="0"/>
          </a:p>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Memory for LLM Agents</a:t>
            </a:r>
            <a:endParaRPr lang="en-US" sz="4200" dirty="0"/>
          </a:p>
        </p:txBody>
      </p:sp>
      <p:sp>
        <p:nvSpPr>
          <p:cNvPr id="5" name="Text 3"/>
          <p:cNvSpPr/>
          <p:nvPr/>
        </p:nvSpPr>
        <p:spPr>
          <a:xfrm>
            <a:off x="822960" y="3611880"/>
            <a:ext cx="10058400" cy="54864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Can an agent learn how to construct its own memory — and is the optimum task-dependent?</a:t>
            </a:r>
            <a:endParaRPr lang="en-US" sz="1700" dirty="0"/>
          </a:p>
        </p:txBody>
      </p:sp>
      <p:sp>
        <p:nvSpPr>
          <p:cNvPr id="6" name="Shape 4"/>
          <p:cNvSpPr/>
          <p:nvPr/>
        </p:nvSpPr>
        <p:spPr>
          <a:xfrm>
            <a:off x="841248" y="4480560"/>
            <a:ext cx="3108960" cy="0"/>
          </a:xfrm>
          <a:prstGeom prst="line">
            <a:avLst/>
          </a:prstGeom>
          <a:noFill/>
          <a:ln w="19050">
            <a:solidFill>
              <a:srgbClr val="35507A"/>
            </a:solidFill>
            <a:prstDash val="solid"/>
          </a:ln>
        </p:spPr>
      </p:sp>
      <p:sp>
        <p:nvSpPr>
          <p:cNvPr id="7" name="Text 5"/>
          <p:cNvSpPr/>
          <p:nvPr/>
        </p:nvSpPr>
        <p:spPr>
          <a:xfrm>
            <a:off x="822960" y="4709160"/>
            <a:ext cx="10058400" cy="109728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Stefan Uifalean</a:t>
            </a:r>
            <a:endParaRPr lang="en-US" sz="1500" dirty="0"/>
          </a:p>
          <a:p>
            <a:pPr indent="0" marL="0">
              <a:spcAft>
                <a:spcPts val="400"/>
              </a:spcAft>
              <a:buNone/>
            </a:pPr>
            <a:r>
              <a:rPr lang="en-US" sz="1300" dirty="0">
                <a:solidFill>
                  <a:srgbClr val="AFC3E0"/>
                </a:solidFill>
                <a:latin typeface="Calibri" pitchFamily="34" charset="0"/>
                <a:ea typeface="Calibri" pitchFamily="34" charset="-122"/>
                <a:cs typeface="Calibri" pitchFamily="34" charset="-120"/>
              </a:rPr>
              <a:t>MSc Artificial Intelligence  ·  Bocconi University</a:t>
            </a:r>
            <a:endParaRPr lang="en-US" sz="1500" dirty="0"/>
          </a:p>
          <a:p>
            <a:pPr indent="0" marL="0">
              <a:spcAft>
                <a:spcPts val="400"/>
              </a:spcAft>
              <a:buNone/>
            </a:pPr>
            <a:r>
              <a:rPr lang="en-US" sz="1300" dirty="0">
                <a:solidFill>
                  <a:srgbClr val="AFC3E0"/>
                </a:solidFill>
                <a:latin typeface="Calibri" pitchFamily="34" charset="0"/>
                <a:ea typeface="Calibri" pitchFamily="34" charset="-122"/>
                <a:cs typeface="Calibri" pitchFamily="34" charset="-120"/>
              </a:rPr>
              <a:t>Supervisor: Prof. Dirk Hovy  ·  Academic Year 2025–2026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B6A6"/>
                </a:solidFill>
                <a:latin typeface="Calibri" pitchFamily="34" charset="0"/>
                <a:ea typeface="Calibri" pitchFamily="34" charset="-122"/>
                <a:cs typeface="Calibri" pitchFamily="34" charset="-120"/>
              </a:rPr>
              <a:t>MOTIVATING EXAMPLE</a:t>
            </a:r>
            <a:endParaRPr lang="en-US" sz="1200" dirty="0"/>
          </a:p>
        </p:txBody>
      </p:sp>
      <p:sp>
        <p:nvSpPr>
          <p:cNvPr id="3" name="Text 1"/>
          <p:cNvSpPr/>
          <p:nvPr/>
        </p:nvSpPr>
        <p:spPr>
          <a:xfrm>
            <a:off x="530352" y="658368"/>
            <a:ext cx="11064240" cy="822960"/>
          </a:xfrm>
          <a:prstGeom prst="rect">
            <a:avLst/>
          </a:prstGeom>
          <a:noFill/>
          <a:ln/>
        </p:spPr>
        <p:txBody>
          <a:bodyPr wrap="square" lIns="0" tIns="0" rIns="0" bIns="0" rtlCol="0" anchor="ctr"/>
          <a:lstStyle/>
          <a:p>
            <a:pPr indent="0" marL="0">
              <a:buNone/>
            </a:pPr>
            <a:r>
              <a:rPr lang="en-US" sz="3000" b="1" dirty="0">
                <a:solidFill>
                  <a:srgbClr val="1B2A44"/>
                </a:solidFill>
                <a:latin typeface="Cambria" pitchFamily="34" charset="0"/>
                <a:ea typeface="Cambria" pitchFamily="34" charset="-122"/>
                <a:cs typeface="Cambria" pitchFamily="34" charset="-120"/>
              </a:rPr>
              <a:t>A question whose answer the agent has seen — and still gets wrong</a:t>
            </a:r>
            <a:endParaRPr lang="en-US" sz="3000" dirty="0"/>
          </a:p>
        </p:txBody>
      </p:sp>
      <p:sp>
        <p:nvSpPr>
          <p:cNvPr id="4" name="Text 2"/>
          <p:cNvSpPr/>
          <p:nvPr/>
        </p:nvSpPr>
        <p:spPr>
          <a:xfrm>
            <a:off x="548640" y="1737360"/>
            <a:ext cx="5943600" cy="3840480"/>
          </a:xfrm>
          <a:prstGeom prst="rect">
            <a:avLst/>
          </a:prstGeom>
          <a:noFill/>
          <a:ln/>
        </p:spPr>
        <p:txBody>
          <a:bodyPr wrap="square" lIns="0" tIns="0" rIns="0" bIns="0" rtlCol="0" anchor="t"/>
          <a:lstStyle/>
          <a:p>
            <a:pPr indent="0" marL="0">
              <a:spcAft>
                <a:spcPts val="1000"/>
              </a:spcAft>
              <a:buNone/>
            </a:pPr>
            <a:r>
              <a:rPr lang="en-US" sz="1600" b="1" dirty="0">
                <a:solidFill>
                  <a:srgbClr val="1B2A44"/>
                </a:solidFill>
                <a:latin typeface="Calibri" pitchFamily="34" charset="0"/>
                <a:ea typeface="Calibri" pitchFamily="34" charset="-122"/>
                <a:cs typeface="Calibri" pitchFamily="34" charset="-120"/>
              </a:rPr>
              <a:t>An agent ingests 500 legal contracts, one clause at a time.</a:t>
            </a:r>
            <a:endParaRPr lang="en-US" sz="1600" dirty="0"/>
          </a:p>
          <a:p>
            <a:pPr indent="0" marL="0">
              <a:spcAft>
                <a:spcPts val="1000"/>
              </a:spcAft>
              <a:buNone/>
            </a:pPr>
            <a:r>
              <a:rPr lang="en-US" sz="1600" dirty="0">
                <a:solidFill>
                  <a:srgbClr val="1B2A44"/>
                </a:solidFill>
                <a:latin typeface="Calibri" pitchFamily="34" charset="0"/>
                <a:ea typeface="Calibri" pitchFamily="34" charset="-122"/>
                <a:cs typeface="Calibri" pitchFamily="34" charset="-120"/>
              </a:rPr>
              <a:t>You ask: “What law governs contract #3?”</a:t>
            </a:r>
            <a:endParaRPr lang="en-US" sz="1600" dirty="0"/>
          </a:p>
          <a:p>
            <a:pPr indent="0" marL="0">
              <a:spcAft>
                <a:spcPts val="1000"/>
              </a:spcAft>
              <a:buNone/>
            </a:pPr>
            <a:r>
              <a:rPr lang="en-US" sz="1500" dirty="0">
                <a:solidFill>
                  <a:srgbClr val="5E7088"/>
                </a:solidFill>
                <a:latin typeface="Calibri" pitchFamily="34" charset="0"/>
                <a:ea typeface="Calibri" pitchFamily="34" charset="-122"/>
                <a:cs typeface="Calibri" pitchFamily="34" charset="-120"/>
              </a:rPr>
              <a:t>A standard memory scores retrieval by recency — so it returns clauses from contract #500, the most recent thing it saw.</a:t>
            </a:r>
            <a:endParaRPr lang="en-US" sz="1600" dirty="0"/>
          </a:p>
          <a:p>
            <a:pPr indent="0" marL="0">
              <a:buNone/>
            </a:pPr>
            <a:r>
              <a:rPr lang="en-US" sz="1500" dirty="0">
                <a:solidFill>
                  <a:srgbClr val="1B2A44"/>
                </a:solidFill>
                <a:latin typeface="Calibri" pitchFamily="34" charset="0"/>
                <a:ea typeface="Calibri" pitchFamily="34" charset="-122"/>
                <a:cs typeface="Calibri" pitchFamily="34" charset="-120"/>
              </a:rPr>
              <a:t>The right evidence was read long ago. The memory rule that helps a fresh document actively hurts an end-of-corpus question.</a:t>
            </a:r>
            <a:endParaRPr lang="en-US" sz="1600" dirty="0"/>
          </a:p>
        </p:txBody>
      </p:sp>
      <p:sp>
        <p:nvSpPr>
          <p:cNvPr id="5" name="Shape 3"/>
          <p:cNvSpPr/>
          <p:nvPr/>
        </p:nvSpPr>
        <p:spPr>
          <a:xfrm>
            <a:off x="6858000" y="1828800"/>
            <a:ext cx="4754880" cy="3931920"/>
          </a:xfrm>
          <a:prstGeom prst="roundRect">
            <a:avLst>
              <a:gd name="adj" fmla="val 2791"/>
            </a:avLst>
          </a:prstGeom>
          <a:solidFill>
            <a:srgbClr val="F2F6FB"/>
          </a:solidFill>
          <a:ln w="12700">
            <a:solidFill>
              <a:srgbClr val="DCE5EF"/>
            </a:solidFill>
            <a:prstDash val="solid"/>
          </a:ln>
        </p:spPr>
      </p:sp>
      <p:sp>
        <p:nvSpPr>
          <p:cNvPr id="6" name="Shape 4"/>
          <p:cNvSpPr/>
          <p:nvPr/>
        </p:nvSpPr>
        <p:spPr>
          <a:xfrm>
            <a:off x="7223760" y="2194560"/>
            <a:ext cx="4023360" cy="384048"/>
          </a:xfrm>
          <a:prstGeom prst="roundRect">
            <a:avLst>
              <a:gd name="adj" fmla="val 19048"/>
            </a:avLst>
          </a:prstGeom>
          <a:solidFill>
            <a:srgbClr val="12294A"/>
          </a:solidFill>
          <a:ln/>
        </p:spPr>
      </p:sp>
      <p:sp>
        <p:nvSpPr>
          <p:cNvPr id="7" name="Text 5"/>
          <p:cNvSpPr/>
          <p:nvPr/>
        </p:nvSpPr>
        <p:spPr>
          <a:xfrm>
            <a:off x="7223760" y="2194560"/>
            <a:ext cx="402336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Doc 1  →  Doc 3  →  …  →  Doc 500</a:t>
            </a:r>
            <a:endParaRPr lang="en-US" sz="1250" dirty="0"/>
          </a:p>
        </p:txBody>
      </p:sp>
      <p:sp>
        <p:nvSpPr>
          <p:cNvPr id="8" name="Text 6"/>
          <p:cNvSpPr/>
          <p:nvPr/>
        </p:nvSpPr>
        <p:spPr>
          <a:xfrm>
            <a:off x="7223760" y="2651760"/>
            <a:ext cx="4023360" cy="274320"/>
          </a:xfrm>
          <a:prstGeom prst="rect">
            <a:avLst/>
          </a:prstGeom>
          <a:noFill/>
          <a:ln/>
        </p:spPr>
        <p:txBody>
          <a:bodyPr wrap="square" lIns="0" tIns="0" rIns="0" bIns="0" rtlCol="0" anchor="ctr"/>
          <a:lstStyle/>
          <a:p>
            <a:pPr algn="ctr" indent="0" marL="0">
              <a:buNone/>
            </a:pPr>
            <a:r>
              <a:rPr lang="en-US" sz="1100" i="1" dirty="0">
                <a:solidFill>
                  <a:srgbClr val="5E7088"/>
                </a:solidFill>
                <a:latin typeface="Calibri" pitchFamily="34" charset="0"/>
                <a:ea typeface="Calibri" pitchFamily="34" charset="-122"/>
                <a:cs typeface="Calibri" pitchFamily="34" charset="-120"/>
              </a:rPr>
              <a:t>stored by time of arrival</a:t>
            </a:r>
            <a:endParaRPr lang="en-US" sz="1100" dirty="0"/>
          </a:p>
        </p:txBody>
      </p:sp>
      <p:sp>
        <p:nvSpPr>
          <p:cNvPr id="9" name="Shape 7"/>
          <p:cNvSpPr/>
          <p:nvPr/>
        </p:nvSpPr>
        <p:spPr>
          <a:xfrm>
            <a:off x="7635240" y="3246120"/>
            <a:ext cx="3200400" cy="685800"/>
          </a:xfrm>
          <a:prstGeom prst="roundRect">
            <a:avLst>
              <a:gd name="adj" fmla="val 13333"/>
            </a:avLst>
          </a:prstGeom>
          <a:solidFill>
            <a:srgbClr val="FFFFFF"/>
          </a:solidFill>
          <a:ln w="19050">
            <a:solidFill>
              <a:srgbClr val="C63B3B"/>
            </a:solidFill>
            <a:prstDash val="solid"/>
          </a:ln>
        </p:spPr>
      </p:sp>
      <p:sp>
        <p:nvSpPr>
          <p:cNvPr id="10" name="Text 8"/>
          <p:cNvSpPr/>
          <p:nvPr/>
        </p:nvSpPr>
        <p:spPr>
          <a:xfrm>
            <a:off x="7635240" y="3246120"/>
            <a:ext cx="3200400" cy="685800"/>
          </a:xfrm>
          <a:prstGeom prst="rect">
            <a:avLst/>
          </a:prstGeom>
          <a:noFill/>
          <a:ln/>
        </p:spPr>
        <p:txBody>
          <a:bodyPr wrap="square" lIns="0" tIns="0" rIns="0" bIns="0" rtlCol="0" anchor="ctr"/>
          <a:lstStyle/>
          <a:p>
            <a:pPr algn="ctr" indent="0" marL="0">
              <a:buNone/>
            </a:pPr>
            <a:r>
              <a:rPr lang="en-US" sz="1400" b="1" dirty="0">
                <a:solidFill>
                  <a:srgbClr val="C63B3B"/>
                </a:solidFill>
                <a:latin typeface="Calibri" pitchFamily="34" charset="0"/>
                <a:ea typeface="Calibri" pitchFamily="34" charset="-122"/>
                <a:cs typeface="Calibri" pitchFamily="34" charset="-120"/>
              </a:rPr>
              <a:t>retrieves Doc 500  </a:t>
            </a:r>
            <a:pPr algn="ctr" indent="0" marL="0">
              <a:buNone/>
            </a:pPr>
            <a:r>
              <a:rPr lang="en-US" sz="1400" b="1" dirty="0">
                <a:solidFill>
                  <a:srgbClr val="C63B3B"/>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7635240" y="3931920"/>
            <a:ext cx="3200400" cy="274320"/>
          </a:xfrm>
          <a:prstGeom prst="rect">
            <a:avLst/>
          </a:prstGeom>
          <a:noFill/>
          <a:ln/>
        </p:spPr>
        <p:txBody>
          <a:bodyPr wrap="square" lIns="0" tIns="0" rIns="0" bIns="0" rtlCol="0" anchor="ctr"/>
          <a:lstStyle/>
          <a:p>
            <a:pPr algn="ctr" indent="0" marL="0">
              <a:buNone/>
            </a:pPr>
            <a:r>
              <a:rPr lang="en-US" sz="1100" i="1" dirty="0">
                <a:solidFill>
                  <a:srgbClr val="5E7088"/>
                </a:solidFill>
                <a:latin typeface="Calibri" pitchFamily="34" charset="0"/>
                <a:ea typeface="Calibri" pitchFamily="34" charset="-122"/>
                <a:cs typeface="Calibri" pitchFamily="34" charset="-120"/>
              </a:rPr>
              <a:t>wrong contract</a:t>
            </a:r>
            <a:endParaRPr lang="en-US" sz="1100" dirty="0"/>
          </a:p>
        </p:txBody>
      </p:sp>
      <p:sp>
        <p:nvSpPr>
          <p:cNvPr id="12" name="Text 10"/>
          <p:cNvSpPr/>
          <p:nvPr/>
        </p:nvSpPr>
        <p:spPr>
          <a:xfrm>
            <a:off x="7635240" y="4663440"/>
            <a:ext cx="3200400" cy="548640"/>
          </a:xfrm>
          <a:prstGeom prst="rect">
            <a:avLst/>
          </a:prstGeom>
          <a:noFill/>
          <a:ln/>
        </p:spPr>
        <p:txBody>
          <a:bodyPr wrap="square" lIns="0" tIns="0" rIns="0" bIns="0" rtlCol="0" anchor="ctr"/>
          <a:lstStyle/>
          <a:p>
            <a:pPr algn="ctr" indent="0" marL="0">
              <a:buNone/>
            </a:pPr>
            <a:r>
              <a:rPr lang="en-US" sz="1500" dirty="0">
                <a:solidFill>
                  <a:srgbClr val="5E7088"/>
                </a:solidFill>
                <a:latin typeface="Calibri" pitchFamily="34" charset="0"/>
                <a:ea typeface="Calibri" pitchFamily="34" charset="-122"/>
                <a:cs typeface="Calibri" pitchFamily="34" charset="-120"/>
              </a:rPr>
              <a:t>answer was at </a:t>
            </a:r>
            <a:pPr algn="ctr" indent="0" marL="0">
              <a:buNone/>
            </a:pPr>
            <a:r>
              <a:rPr lang="en-US" sz="1500" b="1" dirty="0">
                <a:solidFill>
                  <a:srgbClr val="E6A23C"/>
                </a:solidFill>
                <a:latin typeface="Calibri" pitchFamily="34" charset="0"/>
                <a:ea typeface="Calibri" pitchFamily="34" charset="-122"/>
                <a:cs typeface="Calibri" pitchFamily="34" charset="-120"/>
              </a:rPr>
              <a:t>Doc 3 of 500</a:t>
            </a:r>
            <a:endParaRPr lang="en-US" sz="1500" dirty="0"/>
          </a:p>
        </p:txBody>
      </p:sp>
      <p:sp>
        <p:nvSpPr>
          <p:cNvPr id="13" name="Text 11"/>
          <p:cNvSpPr/>
          <p:nvPr/>
        </p:nvSpPr>
        <p:spPr>
          <a:xfrm>
            <a:off x="457200" y="6446520"/>
            <a:ext cx="9601200" cy="274320"/>
          </a:xfrm>
          <a:prstGeom prst="rect">
            <a:avLst/>
          </a:prstGeom>
          <a:noFill/>
          <a:ln/>
        </p:spPr>
        <p:txBody>
          <a:bodyPr wrap="square" lIns="0" tIns="0" rIns="0" bIns="0" rtlCol="0" anchor="ctr"/>
          <a:lstStyle/>
          <a:p>
            <a:pPr algn="l" indent="0" marL="0">
              <a:buNone/>
            </a:pPr>
            <a:r>
              <a:rPr lang="en-US" sz="900" dirty="0">
                <a:solidFill>
                  <a:srgbClr val="5E7088"/>
                </a:solidFill>
                <a:latin typeface="Calibri" pitchFamily="34" charset="0"/>
                <a:ea typeface="Calibri" pitchFamily="34" charset="-122"/>
                <a:cs typeface="Calibri" pitchFamily="34" charset="-120"/>
              </a:rPr>
              <a:t>Learnable Task-Adaptive Memory for LLM Agents  ·  S. Uifalean  ·  Bocconi MSc AI</a:t>
            </a:r>
            <a:endParaRPr lang="en-US" sz="900" dirty="0"/>
          </a:p>
        </p:txBody>
      </p:sp>
      <p:sp>
        <p:nvSpPr>
          <p:cNvPr id="14" name="Text 12"/>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E708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B6A6"/>
                </a:solidFill>
                <a:latin typeface="Calibri" pitchFamily="34" charset="0"/>
                <a:ea typeface="Calibri" pitchFamily="34" charset="-122"/>
                <a:cs typeface="Calibri" pitchFamily="34" charset="-120"/>
              </a:rPr>
              <a:t>THE GAP</a:t>
            </a:r>
            <a:endParaRPr lang="en-US" sz="1200" dirty="0"/>
          </a:p>
        </p:txBody>
      </p:sp>
      <p:sp>
        <p:nvSpPr>
          <p:cNvPr id="3" name="Text 1"/>
          <p:cNvSpPr/>
          <p:nvPr/>
        </p:nvSpPr>
        <p:spPr>
          <a:xfrm>
            <a:off x="530352" y="658368"/>
            <a:ext cx="11064240" cy="822960"/>
          </a:xfrm>
          <a:prstGeom prst="rect">
            <a:avLst/>
          </a:prstGeom>
          <a:noFill/>
          <a:ln/>
        </p:spPr>
        <p:txBody>
          <a:bodyPr wrap="square" lIns="0" tIns="0" rIns="0" bIns="0" rtlCol="0" anchor="ctr"/>
          <a:lstStyle/>
          <a:p>
            <a:pPr indent="0" marL="0">
              <a:buNone/>
            </a:pPr>
            <a:r>
              <a:rPr lang="en-US" sz="3000" b="1" dirty="0">
                <a:solidFill>
                  <a:srgbClr val="1B2A44"/>
                </a:solidFill>
                <a:latin typeface="Cambria" pitchFamily="34" charset="0"/>
                <a:ea typeface="Cambria" pitchFamily="34" charset="-122"/>
                <a:cs typeface="Cambria" pitchFamily="34" charset="-120"/>
              </a:rPr>
              <a:t>Today, an agent’s memory is fixed and hand-designed</a:t>
            </a:r>
            <a:endParaRPr lang="en-US" sz="3000" dirty="0"/>
          </a:p>
        </p:txBody>
      </p:sp>
      <p:sp>
        <p:nvSpPr>
          <p:cNvPr id="4" name="Shape 2"/>
          <p:cNvSpPr/>
          <p:nvPr/>
        </p:nvSpPr>
        <p:spPr>
          <a:xfrm>
            <a:off x="640080" y="1783080"/>
            <a:ext cx="475488" cy="475488"/>
          </a:xfrm>
          <a:prstGeom prst="ellipse">
            <a:avLst/>
          </a:prstGeom>
          <a:solidFill>
            <a:srgbClr val="1FB6A6"/>
          </a:solidFill>
          <a:ln/>
        </p:spPr>
      </p:sp>
      <p:sp>
        <p:nvSpPr>
          <p:cNvPr id="5" name="Text 3"/>
          <p:cNvSpPr/>
          <p:nvPr/>
        </p:nvSpPr>
        <p:spPr>
          <a:xfrm>
            <a:off x="640080" y="178308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25880" y="1755648"/>
            <a:ext cx="4937760" cy="320040"/>
          </a:xfrm>
          <a:prstGeom prst="rect">
            <a:avLst/>
          </a:prstGeom>
          <a:noFill/>
          <a:ln/>
        </p:spPr>
        <p:txBody>
          <a:bodyPr wrap="square" lIns="0" tIns="0" rIns="0" bIns="0" rtlCol="0" anchor="ctr"/>
          <a:lstStyle/>
          <a:p>
            <a:pPr indent="0" marL="0">
              <a:buNone/>
            </a:pPr>
            <a:r>
              <a:rPr lang="en-US" sz="1600" b="1" dirty="0">
                <a:solidFill>
                  <a:srgbClr val="1B2A44"/>
                </a:solidFill>
                <a:latin typeface="Calibri" pitchFamily="34" charset="0"/>
                <a:ea typeface="Calibri" pitchFamily="34" charset="-122"/>
                <a:cs typeface="Calibri" pitchFamily="34" charset="-120"/>
              </a:rPr>
              <a:t>WHAT to store</a:t>
            </a:r>
            <a:endParaRPr lang="en-US" sz="1600" dirty="0"/>
          </a:p>
        </p:txBody>
      </p:sp>
      <p:sp>
        <p:nvSpPr>
          <p:cNvPr id="7" name="Text 5"/>
          <p:cNvSpPr/>
          <p:nvPr/>
        </p:nvSpPr>
        <p:spPr>
          <a:xfrm>
            <a:off x="1325880" y="2057400"/>
            <a:ext cx="4937760" cy="320040"/>
          </a:xfrm>
          <a:prstGeom prst="rect">
            <a:avLst/>
          </a:prstGeom>
          <a:noFill/>
          <a:ln/>
        </p:spPr>
        <p:txBody>
          <a:bodyPr wrap="square" lIns="0" tIns="0" rIns="0" bIns="0" rtlCol="0" anchor="ctr"/>
          <a:lstStyle/>
          <a:p>
            <a:pPr indent="0" marL="0">
              <a:buNone/>
            </a:pPr>
            <a:r>
              <a:rPr lang="en-US" sz="1300" dirty="0">
                <a:solidFill>
                  <a:srgbClr val="5E7088"/>
                </a:solidFill>
                <a:latin typeface="Calibri" pitchFamily="34" charset="0"/>
                <a:ea typeface="Calibri" pitchFamily="34" charset="-122"/>
                <a:cs typeface="Calibri" pitchFamily="34" charset="-120"/>
              </a:rPr>
              <a:t>every observation kept, or a fixed rule decides</a:t>
            </a:r>
            <a:endParaRPr lang="en-US" sz="1300" dirty="0"/>
          </a:p>
        </p:txBody>
      </p:sp>
      <p:sp>
        <p:nvSpPr>
          <p:cNvPr id="8" name="Shape 6"/>
          <p:cNvSpPr/>
          <p:nvPr/>
        </p:nvSpPr>
        <p:spPr>
          <a:xfrm>
            <a:off x="640080" y="2697480"/>
            <a:ext cx="475488" cy="475488"/>
          </a:xfrm>
          <a:prstGeom prst="ellipse">
            <a:avLst/>
          </a:prstGeom>
          <a:solidFill>
            <a:srgbClr val="1FB6A6"/>
          </a:solidFill>
          <a:ln/>
        </p:spPr>
      </p:sp>
      <p:sp>
        <p:nvSpPr>
          <p:cNvPr id="9" name="Text 7"/>
          <p:cNvSpPr/>
          <p:nvPr/>
        </p:nvSpPr>
        <p:spPr>
          <a:xfrm>
            <a:off x="640080" y="269748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25880" y="2670048"/>
            <a:ext cx="4937760" cy="320040"/>
          </a:xfrm>
          <a:prstGeom prst="rect">
            <a:avLst/>
          </a:prstGeom>
          <a:noFill/>
          <a:ln/>
        </p:spPr>
        <p:txBody>
          <a:bodyPr wrap="square" lIns="0" tIns="0" rIns="0" bIns="0" rtlCol="0" anchor="ctr"/>
          <a:lstStyle/>
          <a:p>
            <a:pPr indent="0" marL="0">
              <a:buNone/>
            </a:pPr>
            <a:r>
              <a:rPr lang="en-US" sz="1600" b="1" dirty="0">
                <a:solidFill>
                  <a:srgbClr val="1B2A44"/>
                </a:solidFill>
                <a:latin typeface="Calibri" pitchFamily="34" charset="0"/>
                <a:ea typeface="Calibri" pitchFamily="34" charset="-122"/>
                <a:cs typeface="Calibri" pitchFamily="34" charset="-120"/>
              </a:rPr>
              <a:t>WHICH concepts to track</a:t>
            </a:r>
            <a:endParaRPr lang="en-US" sz="1600" dirty="0"/>
          </a:p>
        </p:txBody>
      </p:sp>
      <p:sp>
        <p:nvSpPr>
          <p:cNvPr id="11" name="Text 9"/>
          <p:cNvSpPr/>
          <p:nvPr/>
        </p:nvSpPr>
        <p:spPr>
          <a:xfrm>
            <a:off x="1325880" y="2971800"/>
            <a:ext cx="4937760" cy="320040"/>
          </a:xfrm>
          <a:prstGeom prst="rect">
            <a:avLst/>
          </a:prstGeom>
          <a:noFill/>
          <a:ln/>
        </p:spPr>
        <p:txBody>
          <a:bodyPr wrap="square" lIns="0" tIns="0" rIns="0" bIns="0" rtlCol="0" anchor="ctr"/>
          <a:lstStyle/>
          <a:p>
            <a:pPr indent="0" marL="0">
              <a:buNone/>
            </a:pPr>
            <a:r>
              <a:rPr lang="en-US" sz="1300" dirty="0">
                <a:solidFill>
                  <a:srgbClr val="5E7088"/>
                </a:solidFill>
                <a:latin typeface="Calibri" pitchFamily="34" charset="0"/>
                <a:ea typeface="Calibri" pitchFamily="34" charset="-122"/>
                <a:cs typeface="Calibri" pitchFamily="34" charset="-120"/>
              </a:rPr>
              <a:t>entities / nodes chosen by a frozen heuristic</a:t>
            </a:r>
            <a:endParaRPr lang="en-US" sz="1300" dirty="0"/>
          </a:p>
        </p:txBody>
      </p:sp>
      <p:sp>
        <p:nvSpPr>
          <p:cNvPr id="12" name="Shape 10"/>
          <p:cNvSpPr/>
          <p:nvPr/>
        </p:nvSpPr>
        <p:spPr>
          <a:xfrm>
            <a:off x="640080" y="3611880"/>
            <a:ext cx="475488" cy="475488"/>
          </a:xfrm>
          <a:prstGeom prst="ellipse">
            <a:avLst/>
          </a:prstGeom>
          <a:solidFill>
            <a:srgbClr val="1FB6A6"/>
          </a:solidFill>
          <a:ln/>
        </p:spPr>
      </p:sp>
      <p:sp>
        <p:nvSpPr>
          <p:cNvPr id="13" name="Text 11"/>
          <p:cNvSpPr/>
          <p:nvPr/>
        </p:nvSpPr>
        <p:spPr>
          <a:xfrm>
            <a:off x="640080" y="361188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325880" y="3584448"/>
            <a:ext cx="4937760" cy="320040"/>
          </a:xfrm>
          <a:prstGeom prst="rect">
            <a:avLst/>
          </a:prstGeom>
          <a:noFill/>
          <a:ln/>
        </p:spPr>
        <p:txBody>
          <a:bodyPr wrap="square" lIns="0" tIns="0" rIns="0" bIns="0" rtlCol="0" anchor="ctr"/>
          <a:lstStyle/>
          <a:p>
            <a:pPr indent="0" marL="0">
              <a:buNone/>
            </a:pPr>
            <a:r>
              <a:rPr lang="en-US" sz="1600" b="1" dirty="0">
                <a:solidFill>
                  <a:srgbClr val="1B2A44"/>
                </a:solidFill>
                <a:latin typeface="Calibri" pitchFamily="34" charset="0"/>
                <a:ea typeface="Calibri" pitchFamily="34" charset="-122"/>
                <a:cs typeface="Calibri" pitchFamily="34" charset="-120"/>
              </a:rPr>
              <a:t>HOW to score retrieval</a:t>
            </a:r>
            <a:endParaRPr lang="en-US" sz="1600" dirty="0"/>
          </a:p>
        </p:txBody>
      </p:sp>
      <p:sp>
        <p:nvSpPr>
          <p:cNvPr id="15" name="Text 13"/>
          <p:cNvSpPr/>
          <p:nvPr/>
        </p:nvSpPr>
        <p:spPr>
          <a:xfrm>
            <a:off x="1325880" y="3886200"/>
            <a:ext cx="4937760" cy="320040"/>
          </a:xfrm>
          <a:prstGeom prst="rect">
            <a:avLst/>
          </a:prstGeom>
          <a:noFill/>
          <a:ln/>
        </p:spPr>
        <p:txBody>
          <a:bodyPr wrap="square" lIns="0" tIns="0" rIns="0" bIns="0" rtlCol="0" anchor="ctr"/>
          <a:lstStyle/>
          <a:p>
            <a:pPr indent="0" marL="0">
              <a:buNone/>
            </a:pPr>
            <a:r>
              <a:rPr lang="en-US" sz="1300" dirty="0">
                <a:solidFill>
                  <a:srgbClr val="5E7088"/>
                </a:solidFill>
                <a:latin typeface="Calibri" pitchFamily="34" charset="0"/>
                <a:ea typeface="Calibri" pitchFamily="34" charset="-122"/>
                <a:cs typeface="Calibri" pitchFamily="34" charset="-120"/>
              </a:rPr>
              <a:t>one fixed weighting of similarity vs. recency</a:t>
            </a:r>
            <a:endParaRPr lang="en-US" sz="1300" dirty="0"/>
          </a:p>
        </p:txBody>
      </p:sp>
      <p:sp>
        <p:nvSpPr>
          <p:cNvPr id="16" name="Shape 14"/>
          <p:cNvSpPr/>
          <p:nvPr/>
        </p:nvSpPr>
        <p:spPr>
          <a:xfrm>
            <a:off x="6675120" y="1783080"/>
            <a:ext cx="4937760" cy="2788920"/>
          </a:xfrm>
          <a:prstGeom prst="roundRect">
            <a:avLst>
              <a:gd name="adj" fmla="val 3934"/>
            </a:avLst>
          </a:prstGeom>
          <a:solidFill>
            <a:srgbClr val="12294A"/>
          </a:solidFill>
          <a:ln/>
        </p:spPr>
      </p:sp>
      <p:sp>
        <p:nvSpPr>
          <p:cNvPr id="17" name="Text 15"/>
          <p:cNvSpPr/>
          <p:nvPr/>
        </p:nvSpPr>
        <p:spPr>
          <a:xfrm>
            <a:off x="6949440" y="2011680"/>
            <a:ext cx="438912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Different tasks need different memory</a:t>
            </a:r>
            <a:endParaRPr lang="en-US" sz="1600" dirty="0"/>
          </a:p>
        </p:txBody>
      </p:sp>
      <p:sp>
        <p:nvSpPr>
          <p:cNvPr id="18" name="Text 16"/>
          <p:cNvSpPr/>
          <p:nvPr/>
        </p:nvSpPr>
        <p:spPr>
          <a:xfrm>
            <a:off x="6949440" y="2514600"/>
            <a:ext cx="4434840" cy="1554480"/>
          </a:xfrm>
          <a:prstGeom prst="rect">
            <a:avLst/>
          </a:prstGeom>
          <a:noFill/>
          <a:ln/>
        </p:spPr>
        <p:txBody>
          <a:bodyPr wrap="square" lIns="0" tIns="0" rIns="0" bIns="0" rtlCol="0" anchor="t"/>
          <a:lstStyle/>
          <a:p>
            <a:pPr indent="0" marL="0">
              <a:spcAft>
                <a:spcPts val="800"/>
              </a:spcAft>
              <a:buNone/>
            </a:pPr>
            <a:r>
              <a:rPr lang="en-US" sz="1400" b="1" dirty="0">
                <a:solidFill>
                  <a:srgbClr val="1FB6A6"/>
                </a:solidFill>
                <a:latin typeface="Calibri" pitchFamily="34" charset="0"/>
                <a:ea typeface="Calibri" pitchFamily="34" charset="-122"/>
                <a:cs typeface="Calibri" pitchFamily="34" charset="-120"/>
              </a:rPr>
              <a:t>multi-hop question</a:t>
            </a:r>
            <a:pPr indent="0" marL="0">
              <a:spcAft>
                <a:spcPts val="1000"/>
              </a:spcAft>
              <a:buNone/>
            </a:pPr>
            <a:r>
              <a:rPr lang="en-US" sz="1400" dirty="0">
                <a:solidFill>
                  <a:srgbClr val="CADCFC"/>
                </a:solidFill>
                <a:latin typeface="Calibri" pitchFamily="34" charset="0"/>
                <a:ea typeface="Calibri" pitchFamily="34" charset="-122"/>
                <a:cs typeface="Calibri" pitchFamily="34" charset="-120"/>
              </a:rPr>
              <a:t>  →  entity relations</a:t>
            </a:r>
            <a:endParaRPr lang="en-US" sz="1400" dirty="0"/>
          </a:p>
          <a:p>
            <a:pPr indent="0" marL="0">
              <a:spcAft>
                <a:spcPts val="800"/>
              </a:spcAft>
              <a:buNone/>
            </a:pPr>
            <a:r>
              <a:rPr lang="en-US" sz="1400" b="1" dirty="0">
                <a:solidFill>
                  <a:srgbClr val="1FB6A6"/>
                </a:solidFill>
                <a:latin typeface="Calibri" pitchFamily="34" charset="0"/>
                <a:ea typeface="Calibri" pitchFamily="34" charset="-122"/>
                <a:cs typeface="Calibri" pitchFamily="34" charset="-120"/>
              </a:rPr>
              <a:t>navigation task</a:t>
            </a:r>
            <a:pPr indent="0" marL="0">
              <a:spcAft>
                <a:spcPts val="1000"/>
              </a:spcAft>
              <a:buNone/>
            </a:pPr>
            <a:r>
              <a:rPr lang="en-US" sz="1400" dirty="0">
                <a:solidFill>
                  <a:srgbClr val="CADCFC"/>
                </a:solidFill>
                <a:latin typeface="Calibri" pitchFamily="34" charset="0"/>
                <a:ea typeface="Calibri" pitchFamily="34" charset="-122"/>
                <a:cs typeface="Calibri" pitchFamily="34" charset="-120"/>
              </a:rPr>
              <a:t>  →  spatial / temporal transitions</a:t>
            </a:r>
            <a:endParaRPr lang="en-US" sz="1400" dirty="0"/>
          </a:p>
          <a:p>
            <a:pPr indent="0" marL="0">
              <a:spcAft>
                <a:spcPts val="800"/>
              </a:spcAft>
              <a:buNone/>
            </a:pPr>
            <a:r>
              <a:rPr lang="en-US" sz="1400" b="1" dirty="0">
                <a:solidFill>
                  <a:srgbClr val="1FB6A6"/>
                </a:solidFill>
                <a:latin typeface="Calibri" pitchFamily="34" charset="0"/>
                <a:ea typeface="Calibri" pitchFamily="34" charset="-122"/>
                <a:cs typeface="Calibri" pitchFamily="34" charset="-120"/>
              </a:rPr>
              <a:t>end-of-corpus question</a:t>
            </a:r>
            <a:pPr indent="0" marL="0">
              <a:spcAft>
                <a:spcPts val="800"/>
              </a:spcAft>
              <a:buNone/>
            </a:pPr>
            <a:r>
              <a:rPr lang="en-US" sz="1400" dirty="0">
                <a:solidFill>
                  <a:srgbClr val="CADCFC"/>
                </a:solidFill>
                <a:latin typeface="Calibri" pitchFamily="34" charset="0"/>
                <a:ea typeface="Calibri" pitchFamily="34" charset="-122"/>
                <a:cs typeface="Calibri" pitchFamily="34" charset="-120"/>
              </a:rPr>
              <a:t>  →  recency-independent recall</a:t>
            </a:r>
            <a:endParaRPr lang="en-US" sz="1400" dirty="0"/>
          </a:p>
        </p:txBody>
      </p:sp>
      <p:sp>
        <p:nvSpPr>
          <p:cNvPr id="19" name="Text 17"/>
          <p:cNvSpPr/>
          <p:nvPr/>
        </p:nvSpPr>
        <p:spPr>
          <a:xfrm>
            <a:off x="640080" y="4892040"/>
            <a:ext cx="10972800" cy="457200"/>
          </a:xfrm>
          <a:prstGeom prst="rect">
            <a:avLst/>
          </a:prstGeom>
          <a:noFill/>
          <a:ln/>
        </p:spPr>
        <p:txBody>
          <a:bodyPr wrap="square" lIns="0" tIns="0" rIns="0" bIns="0" rtlCol="0" anchor="ctr"/>
          <a:lstStyle/>
          <a:p>
            <a:pPr algn="ctr" indent="0" marL="0">
              <a:buNone/>
            </a:pPr>
            <a:r>
              <a:rPr lang="en-US" sz="1600" b="1" i="1" dirty="0">
                <a:solidFill>
                  <a:srgbClr val="1B2A44"/>
                </a:solidFill>
                <a:latin typeface="Calibri" pitchFamily="34" charset="0"/>
                <a:ea typeface="Calibri" pitchFamily="34" charset="-122"/>
                <a:cs typeface="Calibri" pitchFamily="34" charset="-120"/>
              </a:rPr>
              <a:t>A memory rule optimal for one is often actively harmful for another.</a:t>
            </a:r>
            <a:endParaRPr lang="en-US" sz="1600" dirty="0"/>
          </a:p>
        </p:txBody>
      </p:sp>
      <p:sp>
        <p:nvSpPr>
          <p:cNvPr id="20" name="Text 18"/>
          <p:cNvSpPr/>
          <p:nvPr/>
        </p:nvSpPr>
        <p:spPr>
          <a:xfrm>
            <a:off x="457200" y="6446520"/>
            <a:ext cx="9601200" cy="274320"/>
          </a:xfrm>
          <a:prstGeom prst="rect">
            <a:avLst/>
          </a:prstGeom>
          <a:noFill/>
          <a:ln/>
        </p:spPr>
        <p:txBody>
          <a:bodyPr wrap="square" lIns="0" tIns="0" rIns="0" bIns="0" rtlCol="0" anchor="ctr"/>
          <a:lstStyle/>
          <a:p>
            <a:pPr algn="l" indent="0" marL="0">
              <a:buNone/>
            </a:pPr>
            <a:r>
              <a:rPr lang="en-US" sz="900" dirty="0">
                <a:solidFill>
                  <a:srgbClr val="5E7088"/>
                </a:solidFill>
                <a:latin typeface="Calibri" pitchFamily="34" charset="0"/>
                <a:ea typeface="Calibri" pitchFamily="34" charset="-122"/>
                <a:cs typeface="Calibri" pitchFamily="34" charset="-120"/>
              </a:rPr>
              <a:t>Learnable Task-Adaptive Memory for LLM Agents  ·  S. Uifalean  ·  Bocconi MSc AI</a:t>
            </a:r>
            <a:endParaRPr lang="en-US" sz="900" dirty="0"/>
          </a:p>
        </p:txBody>
      </p:sp>
      <p:sp>
        <p:nvSpPr>
          <p:cNvPr id="21" name="Text 19"/>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E708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457200"/>
            <a:ext cx="11064240" cy="822960"/>
          </a:xfrm>
          <a:prstGeom prst="rect">
            <a:avLst/>
          </a:prstGeom>
          <a:noFill/>
          <a:ln/>
        </p:spPr>
        <p:txBody>
          <a:bodyPr wrap="square" lIns="0" tIns="0" rIns="0" bIns="0" rtlCol="0" anchor="ctr"/>
          <a:lstStyle/>
          <a:p>
            <a:pPr indent="0" marL="0">
              <a:buNone/>
            </a:pPr>
            <a:r>
              <a:rPr lang="en-US" sz="3000" b="1" dirty="0">
                <a:solidFill>
                  <a:srgbClr val="1B2A44"/>
                </a:solidFill>
                <a:latin typeface="Cambria" pitchFamily="34" charset="0"/>
                <a:ea typeface="Cambria" pitchFamily="34" charset="-122"/>
                <a:cs typeface="Cambria" pitchFamily="34" charset="-120"/>
              </a:rPr>
              <a:t>Research questions</a:t>
            </a:r>
            <a:endParaRPr lang="en-US" sz="3000" dirty="0"/>
          </a:p>
        </p:txBody>
      </p:sp>
      <p:sp>
        <p:nvSpPr>
          <p:cNvPr id="3" name="Shape 1"/>
          <p:cNvSpPr/>
          <p:nvPr/>
        </p:nvSpPr>
        <p:spPr>
          <a:xfrm>
            <a:off x="640080" y="1828800"/>
            <a:ext cx="5212080" cy="3200400"/>
          </a:xfrm>
          <a:prstGeom prst="roundRect">
            <a:avLst>
              <a:gd name="adj" fmla="val 4000"/>
            </a:avLst>
          </a:prstGeom>
          <a:solidFill>
            <a:srgbClr val="F2F6FB"/>
          </a:solidFill>
          <a:ln w="12700">
            <a:solidFill>
              <a:srgbClr val="DCE5EF"/>
            </a:solidFill>
            <a:prstDash val="solid"/>
          </a:ln>
        </p:spPr>
      </p:sp>
      <p:sp>
        <p:nvSpPr>
          <p:cNvPr id="4" name="Shape 2"/>
          <p:cNvSpPr/>
          <p:nvPr/>
        </p:nvSpPr>
        <p:spPr>
          <a:xfrm>
            <a:off x="960120" y="2194560"/>
            <a:ext cx="1005840" cy="502920"/>
          </a:xfrm>
          <a:prstGeom prst="roundRect">
            <a:avLst>
              <a:gd name="adj" fmla="val 18182"/>
            </a:avLst>
          </a:prstGeom>
          <a:solidFill>
            <a:srgbClr val="1FB6A6"/>
          </a:solidFill>
          <a:ln/>
        </p:spPr>
      </p:sp>
      <p:sp>
        <p:nvSpPr>
          <p:cNvPr id="5" name="Text 3"/>
          <p:cNvSpPr/>
          <p:nvPr/>
        </p:nvSpPr>
        <p:spPr>
          <a:xfrm>
            <a:off x="960120" y="2194560"/>
            <a:ext cx="100584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RQ1</a:t>
            </a:r>
            <a:endParaRPr lang="en-US" sz="1700" dirty="0"/>
          </a:p>
        </p:txBody>
      </p:sp>
      <p:sp>
        <p:nvSpPr>
          <p:cNvPr id="6" name="Text 4"/>
          <p:cNvSpPr/>
          <p:nvPr/>
        </p:nvSpPr>
        <p:spPr>
          <a:xfrm>
            <a:off x="960120" y="2880360"/>
            <a:ext cx="4572000" cy="1920240"/>
          </a:xfrm>
          <a:prstGeom prst="rect">
            <a:avLst/>
          </a:prstGeom>
          <a:noFill/>
          <a:ln/>
        </p:spPr>
        <p:txBody>
          <a:bodyPr wrap="square" lIns="0" tIns="0" rIns="0" bIns="0" rtlCol="0" anchor="t"/>
          <a:lstStyle/>
          <a:p>
            <a:pPr indent="0" marL="0">
              <a:lnSpc>
                <a:spcPct val="105000"/>
              </a:lnSpc>
              <a:buNone/>
            </a:pPr>
            <a:r>
              <a:rPr lang="en-US" sz="1800" dirty="0">
                <a:solidFill>
                  <a:srgbClr val="1B2A44"/>
                </a:solidFill>
                <a:latin typeface="Calibri" pitchFamily="34" charset="0"/>
                <a:ea typeface="Calibri" pitchFamily="34" charset="-122"/>
                <a:cs typeface="Calibri" pitchFamily="34" charset="-120"/>
              </a:rPr>
              <a:t>Can an agent learn how to construct its own memory — what to store, which concepts to track as nodes, and how to score retrieval?</a:t>
            </a:r>
            <a:endParaRPr lang="en-US" sz="1800" dirty="0"/>
          </a:p>
        </p:txBody>
      </p:sp>
      <p:sp>
        <p:nvSpPr>
          <p:cNvPr id="7" name="Shape 5"/>
          <p:cNvSpPr/>
          <p:nvPr/>
        </p:nvSpPr>
        <p:spPr>
          <a:xfrm>
            <a:off x="6309360" y="1828800"/>
            <a:ext cx="5212080" cy="3200400"/>
          </a:xfrm>
          <a:prstGeom prst="roundRect">
            <a:avLst>
              <a:gd name="adj" fmla="val 4000"/>
            </a:avLst>
          </a:prstGeom>
          <a:solidFill>
            <a:srgbClr val="F2F6FB"/>
          </a:solidFill>
          <a:ln w="12700">
            <a:solidFill>
              <a:srgbClr val="DCE5EF"/>
            </a:solidFill>
            <a:prstDash val="solid"/>
          </a:ln>
        </p:spPr>
      </p:sp>
      <p:sp>
        <p:nvSpPr>
          <p:cNvPr id="8" name="Shape 6"/>
          <p:cNvSpPr/>
          <p:nvPr/>
        </p:nvSpPr>
        <p:spPr>
          <a:xfrm>
            <a:off x="6629400" y="2194560"/>
            <a:ext cx="1005840" cy="502920"/>
          </a:xfrm>
          <a:prstGeom prst="roundRect">
            <a:avLst>
              <a:gd name="adj" fmla="val 18182"/>
            </a:avLst>
          </a:prstGeom>
          <a:solidFill>
            <a:srgbClr val="1FB6A6"/>
          </a:solidFill>
          <a:ln/>
        </p:spPr>
      </p:sp>
      <p:sp>
        <p:nvSpPr>
          <p:cNvPr id="9" name="Text 7"/>
          <p:cNvSpPr/>
          <p:nvPr/>
        </p:nvSpPr>
        <p:spPr>
          <a:xfrm>
            <a:off x="6629400" y="2194560"/>
            <a:ext cx="100584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RQ2</a:t>
            </a:r>
            <a:endParaRPr lang="en-US" sz="1700" dirty="0"/>
          </a:p>
        </p:txBody>
      </p:sp>
      <p:sp>
        <p:nvSpPr>
          <p:cNvPr id="10" name="Text 8"/>
          <p:cNvSpPr/>
          <p:nvPr/>
        </p:nvSpPr>
        <p:spPr>
          <a:xfrm>
            <a:off x="6629400" y="2880360"/>
            <a:ext cx="4572000" cy="1920240"/>
          </a:xfrm>
          <a:prstGeom prst="rect">
            <a:avLst/>
          </a:prstGeom>
          <a:noFill/>
          <a:ln/>
        </p:spPr>
        <p:txBody>
          <a:bodyPr wrap="square" lIns="0" tIns="0" rIns="0" bIns="0" rtlCol="0" anchor="t"/>
          <a:lstStyle/>
          <a:p>
            <a:pPr indent="0" marL="0">
              <a:lnSpc>
                <a:spcPct val="105000"/>
              </a:lnSpc>
              <a:buNone/>
            </a:pPr>
            <a:r>
              <a:rPr lang="en-US" sz="1800" dirty="0">
                <a:solidFill>
                  <a:srgbClr val="1B2A44"/>
                </a:solidFill>
                <a:latin typeface="Calibri" pitchFamily="34" charset="0"/>
                <a:ea typeface="Calibri" pitchFamily="34" charset="-122"/>
                <a:cs typeface="Calibri" pitchFamily="34" charset="-120"/>
              </a:rPr>
              <a:t>Is the learned optimum task-dependent — does the best memory genuinely differ from one task to another?</a:t>
            </a:r>
            <a:endParaRPr lang="en-US" sz="1800" dirty="0"/>
          </a:p>
        </p:txBody>
      </p:sp>
      <p:sp>
        <p:nvSpPr>
          <p:cNvPr id="11" name="Text 9"/>
          <p:cNvSpPr/>
          <p:nvPr/>
        </p:nvSpPr>
        <p:spPr>
          <a:xfrm>
            <a:off x="640080" y="5394960"/>
            <a:ext cx="10972800" cy="365760"/>
          </a:xfrm>
          <a:prstGeom prst="rect">
            <a:avLst/>
          </a:prstGeom>
          <a:noFill/>
          <a:ln/>
        </p:spPr>
        <p:txBody>
          <a:bodyPr wrap="square" lIns="0" tIns="0" rIns="0" bIns="0" rtlCol="0" anchor="ctr"/>
          <a:lstStyle/>
          <a:p>
            <a:pPr algn="ctr" indent="0" marL="0">
              <a:buNone/>
            </a:pPr>
            <a:r>
              <a:rPr lang="en-US" sz="1400" i="1" dirty="0">
                <a:solidFill>
                  <a:srgbClr val="5E7088"/>
                </a:solidFill>
                <a:latin typeface="Calibri" pitchFamily="34" charset="0"/>
                <a:ea typeface="Calibri" pitchFamily="34" charset="-122"/>
                <a:cs typeface="Calibri" pitchFamily="34" charset="-120"/>
              </a:rPr>
              <a:t>We answer both empirically, and hold ourselves to a self-audit of every headline number.</a:t>
            </a:r>
            <a:endParaRPr lang="en-US" sz="1400" dirty="0"/>
          </a:p>
        </p:txBody>
      </p:sp>
      <p:sp>
        <p:nvSpPr>
          <p:cNvPr id="12" name="Text 10"/>
          <p:cNvSpPr/>
          <p:nvPr/>
        </p:nvSpPr>
        <p:spPr>
          <a:xfrm>
            <a:off x="457200" y="6446520"/>
            <a:ext cx="9601200" cy="274320"/>
          </a:xfrm>
          <a:prstGeom prst="rect">
            <a:avLst/>
          </a:prstGeom>
          <a:noFill/>
          <a:ln/>
        </p:spPr>
        <p:txBody>
          <a:bodyPr wrap="square" lIns="0" tIns="0" rIns="0" bIns="0" rtlCol="0" anchor="ctr"/>
          <a:lstStyle/>
          <a:p>
            <a:pPr algn="l" indent="0" marL="0">
              <a:buNone/>
            </a:pPr>
            <a:r>
              <a:rPr lang="en-US" sz="900" dirty="0">
                <a:solidFill>
                  <a:srgbClr val="5E7088"/>
                </a:solidFill>
                <a:latin typeface="Calibri" pitchFamily="34" charset="0"/>
                <a:ea typeface="Calibri" pitchFamily="34" charset="-122"/>
                <a:cs typeface="Calibri" pitchFamily="34" charset="-120"/>
              </a:rPr>
              <a:t>Learnable Task-Adaptive Memory for LLM Agents  ·  S. Uifalean  ·  Bocconi MSc AI</a:t>
            </a:r>
            <a:endParaRPr lang="en-US" sz="900" dirty="0"/>
          </a:p>
        </p:txBody>
      </p:sp>
      <p:sp>
        <p:nvSpPr>
          <p:cNvPr id="13" name="Text 1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E708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B6A6"/>
                </a:solidFill>
                <a:latin typeface="Calibri" pitchFamily="34" charset="0"/>
                <a:ea typeface="Calibri" pitchFamily="34" charset="-122"/>
                <a:cs typeface="Calibri" pitchFamily="34" charset="-120"/>
              </a:rPr>
              <a:t>THE IDEA</a:t>
            </a:r>
            <a:endParaRPr lang="en-US" sz="1200" dirty="0"/>
          </a:p>
        </p:txBody>
      </p:sp>
      <p:sp>
        <p:nvSpPr>
          <p:cNvPr id="3" name="Text 1"/>
          <p:cNvSpPr/>
          <p:nvPr/>
        </p:nvSpPr>
        <p:spPr>
          <a:xfrm>
            <a:off x="530352" y="658368"/>
            <a:ext cx="11064240" cy="822960"/>
          </a:xfrm>
          <a:prstGeom prst="rect">
            <a:avLst/>
          </a:prstGeom>
          <a:noFill/>
          <a:ln/>
        </p:spPr>
        <p:txBody>
          <a:bodyPr wrap="square" lIns="0" tIns="0" rIns="0" bIns="0" rtlCol="0" anchor="ctr"/>
          <a:lstStyle/>
          <a:p>
            <a:pPr indent="0" marL="0">
              <a:buNone/>
            </a:pPr>
            <a:r>
              <a:rPr lang="en-US" sz="3000" b="1" dirty="0">
                <a:solidFill>
                  <a:srgbClr val="1B2A44"/>
                </a:solidFill>
                <a:latin typeface="Cambria" pitchFamily="34" charset="0"/>
                <a:ea typeface="Cambria" pitchFamily="34" charset="-122"/>
                <a:cs typeface="Cambria" pitchFamily="34" charset="-120"/>
              </a:rPr>
              <a:t>Make memory construction a small learnable vector  θ</a:t>
            </a:r>
            <a:endParaRPr lang="en-US" sz="3000" dirty="0"/>
          </a:p>
        </p:txBody>
      </p:sp>
      <p:sp>
        <p:nvSpPr>
          <p:cNvPr id="4" name="Text 2"/>
          <p:cNvSpPr/>
          <p:nvPr/>
        </p:nvSpPr>
        <p:spPr>
          <a:xfrm>
            <a:off x="548640" y="1691640"/>
            <a:ext cx="10972800" cy="640080"/>
          </a:xfrm>
          <a:prstGeom prst="rect">
            <a:avLst/>
          </a:prstGeom>
          <a:noFill/>
          <a:ln/>
        </p:spPr>
        <p:txBody>
          <a:bodyPr wrap="square" lIns="0" tIns="0" rIns="0" bIns="0" rtlCol="0" anchor="ctr"/>
          <a:lstStyle/>
          <a:p>
            <a:pPr indent="0" marL="0">
              <a:buNone/>
            </a:pPr>
            <a:r>
              <a:rPr lang="en-US" sz="1700" dirty="0">
                <a:solidFill>
                  <a:srgbClr val="1B2A44"/>
                </a:solidFill>
                <a:latin typeface="Calibri" pitchFamily="34" charset="0"/>
                <a:ea typeface="Calibri" pitchFamily="34" charset="-122"/>
                <a:cs typeface="Calibri" pitchFamily="34" charset="-120"/>
              </a:rPr>
              <a:t>A single parameter vector </a:t>
            </a:r>
            <a:pPr indent="0" marL="0">
              <a:buNone/>
            </a:pPr>
            <a:r>
              <a:rPr lang="en-US" sz="1700" b="1" dirty="0">
                <a:solidFill>
                  <a:srgbClr val="1FB6A6"/>
                </a:solidFill>
                <a:latin typeface="Calibri" pitchFamily="34" charset="0"/>
                <a:ea typeface="Calibri" pitchFamily="34" charset="-122"/>
                <a:cs typeface="Calibri" pitchFamily="34" charset="-120"/>
              </a:rPr>
              <a:t>θ (up to 10 dimensions)</a:t>
            </a:r>
            <a:pPr indent="0" marL="0">
              <a:buNone/>
            </a:pPr>
            <a:r>
              <a:rPr lang="en-US" sz="1700" dirty="0">
                <a:solidFill>
                  <a:srgbClr val="1B2A44"/>
                </a:solidFill>
                <a:latin typeface="Calibri" pitchFamily="34" charset="0"/>
                <a:ea typeface="Calibri" pitchFamily="34" charset="-122"/>
                <a:cs typeface="Calibri" pitchFamily="34" charset="-120"/>
              </a:rPr>
              <a:t> governs the whole pipeline — storage, abstraction, and retrieval scoring.</a:t>
            </a:r>
            <a:endParaRPr lang="en-US" sz="1700" dirty="0"/>
          </a:p>
        </p:txBody>
      </p:sp>
      <p:sp>
        <p:nvSpPr>
          <p:cNvPr id="5" name="Shape 3"/>
          <p:cNvSpPr/>
          <p:nvPr/>
        </p:nvSpPr>
        <p:spPr>
          <a:xfrm>
            <a:off x="548640" y="2514600"/>
            <a:ext cx="3566160" cy="1691640"/>
          </a:xfrm>
          <a:prstGeom prst="roundRect">
            <a:avLst>
              <a:gd name="adj" fmla="val 6486"/>
            </a:avLst>
          </a:prstGeom>
          <a:solidFill>
            <a:srgbClr val="F2F6FB"/>
          </a:solidFill>
          <a:ln w="12700">
            <a:solidFill>
              <a:srgbClr val="DCE5EF"/>
            </a:solidFill>
            <a:prstDash val="solid"/>
          </a:ln>
        </p:spPr>
      </p:sp>
      <p:sp>
        <p:nvSpPr>
          <p:cNvPr id="6" name="Text 4"/>
          <p:cNvSpPr/>
          <p:nvPr/>
        </p:nvSpPr>
        <p:spPr>
          <a:xfrm>
            <a:off x="777240" y="2697480"/>
            <a:ext cx="3108960" cy="320040"/>
          </a:xfrm>
          <a:prstGeom prst="rect">
            <a:avLst/>
          </a:prstGeom>
          <a:noFill/>
          <a:ln/>
        </p:spPr>
        <p:txBody>
          <a:bodyPr wrap="square" lIns="0" tIns="0" rIns="0" bIns="0" rtlCol="0" anchor="ctr"/>
          <a:lstStyle/>
          <a:p>
            <a:pPr indent="0" marL="0">
              <a:buNone/>
            </a:pPr>
            <a:r>
              <a:rPr lang="en-US" sz="1300" b="1" spc="100" kern="0" dirty="0">
                <a:solidFill>
                  <a:srgbClr val="1FB6A6"/>
                </a:solidFill>
                <a:latin typeface="Calibri" pitchFamily="34" charset="0"/>
                <a:ea typeface="Calibri" pitchFamily="34" charset="-122"/>
                <a:cs typeface="Calibri" pitchFamily="34" charset="-120"/>
              </a:rPr>
              <a:t>STORAGE</a:t>
            </a:r>
            <a:endParaRPr lang="en-US" sz="1300" dirty="0"/>
          </a:p>
        </p:txBody>
      </p:sp>
      <p:sp>
        <p:nvSpPr>
          <p:cNvPr id="7" name="Text 5"/>
          <p:cNvSpPr/>
          <p:nvPr/>
        </p:nvSpPr>
        <p:spPr>
          <a:xfrm>
            <a:off x="777240" y="3063240"/>
            <a:ext cx="3154680" cy="731520"/>
          </a:xfrm>
          <a:prstGeom prst="rect">
            <a:avLst/>
          </a:prstGeom>
          <a:noFill/>
          <a:ln/>
        </p:spPr>
        <p:txBody>
          <a:bodyPr wrap="square" lIns="0" tIns="0" rIns="0" bIns="0" rtlCol="0" anchor="t"/>
          <a:lstStyle/>
          <a:p>
            <a:pPr indent="0" marL="0">
              <a:buNone/>
            </a:pPr>
            <a:r>
              <a:rPr lang="en-US" sz="1250" b="1" dirty="0">
                <a:solidFill>
                  <a:srgbClr val="1B2A44"/>
                </a:solidFill>
                <a:latin typeface="Consolas" pitchFamily="34" charset="0"/>
                <a:ea typeface="Consolas" pitchFamily="34" charset="-122"/>
                <a:cs typeface="Consolas" pitchFamily="34" charset="-120"/>
              </a:rPr>
              <a:t>θ_store · θ_novel · θ_surprise · θ_erich</a:t>
            </a:r>
            <a:endParaRPr lang="en-US" sz="1250" dirty="0"/>
          </a:p>
        </p:txBody>
      </p:sp>
      <p:sp>
        <p:nvSpPr>
          <p:cNvPr id="8" name="Text 6"/>
          <p:cNvSpPr/>
          <p:nvPr/>
        </p:nvSpPr>
        <p:spPr>
          <a:xfrm>
            <a:off x="777240" y="3840480"/>
            <a:ext cx="3154680" cy="274320"/>
          </a:xfrm>
          <a:prstGeom prst="rect">
            <a:avLst/>
          </a:prstGeom>
          <a:noFill/>
          <a:ln/>
        </p:spPr>
        <p:txBody>
          <a:bodyPr wrap="square" lIns="0" tIns="0" rIns="0" bIns="0" rtlCol="0" anchor="ctr"/>
          <a:lstStyle/>
          <a:p>
            <a:pPr indent="0" marL="0">
              <a:buNone/>
            </a:pPr>
            <a:r>
              <a:rPr lang="en-US" sz="1150" i="1" dirty="0">
                <a:solidFill>
                  <a:srgbClr val="5E7088"/>
                </a:solidFill>
                <a:latin typeface="Calibri" pitchFamily="34" charset="0"/>
                <a:ea typeface="Calibri" pitchFamily="34" charset="-122"/>
                <a:cs typeface="Calibri" pitchFamily="34" charset="-120"/>
              </a:rPr>
              <a:t>what is written to memory</a:t>
            </a:r>
            <a:endParaRPr lang="en-US" sz="1150" dirty="0"/>
          </a:p>
        </p:txBody>
      </p:sp>
      <p:sp>
        <p:nvSpPr>
          <p:cNvPr id="9" name="Shape 7"/>
          <p:cNvSpPr/>
          <p:nvPr/>
        </p:nvSpPr>
        <p:spPr>
          <a:xfrm>
            <a:off x="4343400" y="2514600"/>
            <a:ext cx="3566160" cy="1691640"/>
          </a:xfrm>
          <a:prstGeom prst="roundRect">
            <a:avLst>
              <a:gd name="adj" fmla="val 6486"/>
            </a:avLst>
          </a:prstGeom>
          <a:solidFill>
            <a:srgbClr val="F2F6FB"/>
          </a:solidFill>
          <a:ln w="12700">
            <a:solidFill>
              <a:srgbClr val="DCE5EF"/>
            </a:solidFill>
            <a:prstDash val="solid"/>
          </a:ln>
        </p:spPr>
      </p:sp>
      <p:sp>
        <p:nvSpPr>
          <p:cNvPr id="10" name="Text 8"/>
          <p:cNvSpPr/>
          <p:nvPr/>
        </p:nvSpPr>
        <p:spPr>
          <a:xfrm>
            <a:off x="4572000" y="2697480"/>
            <a:ext cx="3108960" cy="320040"/>
          </a:xfrm>
          <a:prstGeom prst="rect">
            <a:avLst/>
          </a:prstGeom>
          <a:noFill/>
          <a:ln/>
        </p:spPr>
        <p:txBody>
          <a:bodyPr wrap="square" lIns="0" tIns="0" rIns="0" bIns="0" rtlCol="0" anchor="ctr"/>
          <a:lstStyle/>
          <a:p>
            <a:pPr indent="0" marL="0">
              <a:buNone/>
            </a:pPr>
            <a:r>
              <a:rPr lang="en-US" sz="1300" b="1" spc="100" kern="0" dirty="0">
                <a:solidFill>
                  <a:srgbClr val="1FB6A6"/>
                </a:solidFill>
                <a:latin typeface="Calibri" pitchFamily="34" charset="0"/>
                <a:ea typeface="Calibri" pitchFamily="34" charset="-122"/>
                <a:cs typeface="Calibri" pitchFamily="34" charset="-120"/>
              </a:rPr>
              <a:t>ABSTRACTION</a:t>
            </a:r>
            <a:endParaRPr lang="en-US" sz="1300" dirty="0"/>
          </a:p>
        </p:txBody>
      </p:sp>
      <p:sp>
        <p:nvSpPr>
          <p:cNvPr id="11" name="Text 9"/>
          <p:cNvSpPr/>
          <p:nvPr/>
        </p:nvSpPr>
        <p:spPr>
          <a:xfrm>
            <a:off x="4572000" y="3063240"/>
            <a:ext cx="3154680" cy="731520"/>
          </a:xfrm>
          <a:prstGeom prst="rect">
            <a:avLst/>
          </a:prstGeom>
          <a:noFill/>
          <a:ln/>
        </p:spPr>
        <p:txBody>
          <a:bodyPr wrap="square" lIns="0" tIns="0" rIns="0" bIns="0" rtlCol="0" anchor="t"/>
          <a:lstStyle/>
          <a:p>
            <a:pPr indent="0" marL="0">
              <a:buNone/>
            </a:pPr>
            <a:r>
              <a:rPr lang="en-US" sz="1250" b="1" dirty="0">
                <a:solidFill>
                  <a:srgbClr val="1B2A44"/>
                </a:solidFill>
                <a:latin typeface="Consolas" pitchFamily="34" charset="0"/>
                <a:ea typeface="Consolas" pitchFamily="34" charset="-122"/>
                <a:cs typeface="Consolas" pitchFamily="34" charset="-120"/>
              </a:rPr>
              <a:t>θ_entity · θ_temporal · θ_decay</a:t>
            </a:r>
            <a:endParaRPr lang="en-US" sz="1250" dirty="0"/>
          </a:p>
        </p:txBody>
      </p:sp>
      <p:sp>
        <p:nvSpPr>
          <p:cNvPr id="12" name="Text 10"/>
          <p:cNvSpPr/>
          <p:nvPr/>
        </p:nvSpPr>
        <p:spPr>
          <a:xfrm>
            <a:off x="4572000" y="3840480"/>
            <a:ext cx="3154680" cy="274320"/>
          </a:xfrm>
          <a:prstGeom prst="rect">
            <a:avLst/>
          </a:prstGeom>
          <a:noFill/>
          <a:ln/>
        </p:spPr>
        <p:txBody>
          <a:bodyPr wrap="square" lIns="0" tIns="0" rIns="0" bIns="0" rtlCol="0" anchor="ctr"/>
          <a:lstStyle/>
          <a:p>
            <a:pPr indent="0" marL="0">
              <a:buNone/>
            </a:pPr>
            <a:r>
              <a:rPr lang="en-US" sz="1150" i="1" dirty="0">
                <a:solidFill>
                  <a:srgbClr val="5E7088"/>
                </a:solidFill>
                <a:latin typeface="Calibri" pitchFamily="34" charset="0"/>
                <a:ea typeface="Calibri" pitchFamily="34" charset="-122"/>
                <a:cs typeface="Calibri" pitchFamily="34" charset="-120"/>
              </a:rPr>
              <a:t>which nodes &amp; edges form the graph</a:t>
            </a:r>
            <a:endParaRPr lang="en-US" sz="1150" dirty="0"/>
          </a:p>
        </p:txBody>
      </p:sp>
      <p:sp>
        <p:nvSpPr>
          <p:cNvPr id="13" name="Shape 11"/>
          <p:cNvSpPr/>
          <p:nvPr/>
        </p:nvSpPr>
        <p:spPr>
          <a:xfrm>
            <a:off x="8138160" y="2514600"/>
            <a:ext cx="3566160" cy="1691640"/>
          </a:xfrm>
          <a:prstGeom prst="roundRect">
            <a:avLst>
              <a:gd name="adj" fmla="val 6486"/>
            </a:avLst>
          </a:prstGeom>
          <a:solidFill>
            <a:srgbClr val="F2F6FB"/>
          </a:solidFill>
          <a:ln w="12700">
            <a:solidFill>
              <a:srgbClr val="DCE5EF"/>
            </a:solidFill>
            <a:prstDash val="solid"/>
          </a:ln>
        </p:spPr>
      </p:sp>
      <p:sp>
        <p:nvSpPr>
          <p:cNvPr id="14" name="Text 12"/>
          <p:cNvSpPr/>
          <p:nvPr/>
        </p:nvSpPr>
        <p:spPr>
          <a:xfrm>
            <a:off x="8366760" y="2697480"/>
            <a:ext cx="3108960" cy="320040"/>
          </a:xfrm>
          <a:prstGeom prst="rect">
            <a:avLst/>
          </a:prstGeom>
          <a:noFill/>
          <a:ln/>
        </p:spPr>
        <p:txBody>
          <a:bodyPr wrap="square" lIns="0" tIns="0" rIns="0" bIns="0" rtlCol="0" anchor="ctr"/>
          <a:lstStyle/>
          <a:p>
            <a:pPr indent="0" marL="0">
              <a:buNone/>
            </a:pPr>
            <a:r>
              <a:rPr lang="en-US" sz="1300" b="1" spc="100" kern="0" dirty="0">
                <a:solidFill>
                  <a:srgbClr val="1FB6A6"/>
                </a:solidFill>
                <a:latin typeface="Calibri" pitchFamily="34" charset="0"/>
                <a:ea typeface="Calibri" pitchFamily="34" charset="-122"/>
                <a:cs typeface="Calibri" pitchFamily="34" charset="-120"/>
              </a:rPr>
              <a:t>RETRIEVAL</a:t>
            </a:r>
            <a:endParaRPr lang="en-US" sz="1300" dirty="0"/>
          </a:p>
        </p:txBody>
      </p:sp>
      <p:sp>
        <p:nvSpPr>
          <p:cNvPr id="15" name="Text 13"/>
          <p:cNvSpPr/>
          <p:nvPr/>
        </p:nvSpPr>
        <p:spPr>
          <a:xfrm>
            <a:off x="8366760" y="3063240"/>
            <a:ext cx="3154680" cy="731520"/>
          </a:xfrm>
          <a:prstGeom prst="rect">
            <a:avLst/>
          </a:prstGeom>
          <a:noFill/>
          <a:ln/>
        </p:spPr>
        <p:txBody>
          <a:bodyPr wrap="square" lIns="0" tIns="0" rIns="0" bIns="0" rtlCol="0" anchor="t"/>
          <a:lstStyle/>
          <a:p>
            <a:pPr indent="0" marL="0">
              <a:buNone/>
            </a:pPr>
            <a:r>
              <a:rPr lang="en-US" sz="1250" b="1" dirty="0">
                <a:solidFill>
                  <a:srgbClr val="1B2A44"/>
                </a:solidFill>
                <a:latin typeface="Consolas" pitchFamily="34" charset="0"/>
                <a:ea typeface="Consolas" pitchFamily="34" charset="-122"/>
                <a:cs typeface="Consolas" pitchFamily="34" charset="-120"/>
              </a:rPr>
              <a:t>w_graph · w_embed · w_recency</a:t>
            </a:r>
            <a:endParaRPr lang="en-US" sz="1250" dirty="0"/>
          </a:p>
        </p:txBody>
      </p:sp>
      <p:sp>
        <p:nvSpPr>
          <p:cNvPr id="16" name="Text 14"/>
          <p:cNvSpPr/>
          <p:nvPr/>
        </p:nvSpPr>
        <p:spPr>
          <a:xfrm>
            <a:off x="8366760" y="3840480"/>
            <a:ext cx="3154680" cy="274320"/>
          </a:xfrm>
          <a:prstGeom prst="rect">
            <a:avLst/>
          </a:prstGeom>
          <a:noFill/>
          <a:ln/>
        </p:spPr>
        <p:txBody>
          <a:bodyPr wrap="square" lIns="0" tIns="0" rIns="0" bIns="0" rtlCol="0" anchor="ctr"/>
          <a:lstStyle/>
          <a:p>
            <a:pPr indent="0" marL="0">
              <a:buNone/>
            </a:pPr>
            <a:r>
              <a:rPr lang="en-US" sz="1150" i="1" dirty="0">
                <a:solidFill>
                  <a:srgbClr val="5E7088"/>
                </a:solidFill>
                <a:latin typeface="Calibri" pitchFamily="34" charset="0"/>
                <a:ea typeface="Calibri" pitchFamily="34" charset="-122"/>
                <a:cs typeface="Calibri" pitchFamily="34" charset="-120"/>
              </a:rPr>
              <a:t>how a candidate is scored at query time</a:t>
            </a:r>
            <a:endParaRPr lang="en-US" sz="1150" dirty="0"/>
          </a:p>
        </p:txBody>
      </p:sp>
      <p:sp>
        <p:nvSpPr>
          <p:cNvPr id="17" name="Shape 15"/>
          <p:cNvSpPr/>
          <p:nvPr/>
        </p:nvSpPr>
        <p:spPr>
          <a:xfrm>
            <a:off x="548640" y="4526280"/>
            <a:ext cx="11064240" cy="1234440"/>
          </a:xfrm>
          <a:prstGeom prst="roundRect">
            <a:avLst>
              <a:gd name="adj" fmla="val 7407"/>
            </a:avLst>
          </a:prstGeom>
          <a:solidFill>
            <a:srgbClr val="12294A"/>
          </a:solidFill>
          <a:ln/>
        </p:spPr>
      </p:sp>
      <p:sp>
        <p:nvSpPr>
          <p:cNvPr id="18" name="Text 16"/>
          <p:cNvSpPr/>
          <p:nvPr/>
        </p:nvSpPr>
        <p:spPr>
          <a:xfrm>
            <a:off x="822960" y="4709160"/>
            <a:ext cx="2743200" cy="320040"/>
          </a:xfrm>
          <a:prstGeom prst="rect">
            <a:avLst/>
          </a:prstGeom>
          <a:noFill/>
          <a:ln/>
        </p:spPr>
        <p:txBody>
          <a:bodyPr wrap="square" lIns="0" tIns="0" rIns="0" bIns="0" rtlCol="0" anchor="ctr"/>
          <a:lstStyle/>
          <a:p>
            <a:pPr indent="0" marL="0">
              <a:buNone/>
            </a:pPr>
            <a:r>
              <a:rPr lang="en-US" sz="1300" b="1" dirty="0">
                <a:solidFill>
                  <a:srgbClr val="1FB6A6"/>
                </a:solidFill>
                <a:latin typeface="Calibri" pitchFamily="34" charset="0"/>
                <a:ea typeface="Calibri" pitchFamily="34" charset="-122"/>
                <a:cs typeface="Calibri" pitchFamily="34" charset="-120"/>
              </a:rPr>
              <a:t>retrieval score:</a:t>
            </a:r>
            <a:endParaRPr lang="en-US" sz="1300" dirty="0"/>
          </a:p>
        </p:txBody>
      </p:sp>
      <p:sp>
        <p:nvSpPr>
          <p:cNvPr id="19" name="Text 17"/>
          <p:cNvSpPr/>
          <p:nvPr/>
        </p:nvSpPr>
        <p:spPr>
          <a:xfrm>
            <a:off x="822960" y="5029200"/>
            <a:ext cx="10515600" cy="457200"/>
          </a:xfrm>
          <a:prstGeom prst="rect">
            <a:avLst/>
          </a:prstGeom>
          <a:noFill/>
          <a:ln/>
        </p:spPr>
        <p:txBody>
          <a:bodyPr wrap="square" lIns="0" tIns="0" rIns="0" bIns="0" rtlCol="0" anchor="ctr"/>
          <a:lstStyle/>
          <a:p>
            <a:pPr indent="0" marL="0">
              <a:buNone/>
            </a:pPr>
            <a:r>
              <a:rPr lang="en-US" sz="1500" b="1" dirty="0">
                <a:solidFill>
                  <a:srgbClr val="FFFFFF"/>
                </a:solidFill>
                <a:latin typeface="Consolas" pitchFamily="34" charset="0"/>
                <a:ea typeface="Consolas" pitchFamily="34" charset="-122"/>
                <a:cs typeface="Consolas" pitchFamily="34" charset="-120"/>
              </a:rPr>
              <a:t>s(item, q)  =  w_graph · g(item,q)   +   w_embed · cos(e_item, e_q)   +   w_recency · ρ(item)</a:t>
            </a:r>
            <a:endParaRPr lang="en-US" sz="1500" dirty="0"/>
          </a:p>
        </p:txBody>
      </p:sp>
      <p:sp>
        <p:nvSpPr>
          <p:cNvPr id="20" name="Text 18"/>
          <p:cNvSpPr/>
          <p:nvPr/>
        </p:nvSpPr>
        <p:spPr>
          <a:xfrm>
            <a:off x="822960" y="5486400"/>
            <a:ext cx="10515600" cy="274320"/>
          </a:xfrm>
          <a:prstGeom prst="rect">
            <a:avLst/>
          </a:prstGeom>
          <a:noFill/>
          <a:ln/>
        </p:spPr>
        <p:txBody>
          <a:bodyPr wrap="square" lIns="0" tIns="0" rIns="0" bIns="0"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We optimize θ only — never the agent’s policy, never the LLM’s weights.</a:t>
            </a:r>
            <a:endParaRPr lang="en-US" sz="1250" dirty="0"/>
          </a:p>
        </p:txBody>
      </p:sp>
      <p:sp>
        <p:nvSpPr>
          <p:cNvPr id="21" name="Text 19"/>
          <p:cNvSpPr/>
          <p:nvPr/>
        </p:nvSpPr>
        <p:spPr>
          <a:xfrm>
            <a:off x="457200" y="6446520"/>
            <a:ext cx="9601200" cy="274320"/>
          </a:xfrm>
          <a:prstGeom prst="rect">
            <a:avLst/>
          </a:prstGeom>
          <a:noFill/>
          <a:ln/>
        </p:spPr>
        <p:txBody>
          <a:bodyPr wrap="square" lIns="0" tIns="0" rIns="0" bIns="0" rtlCol="0" anchor="ctr"/>
          <a:lstStyle/>
          <a:p>
            <a:pPr algn="l" indent="0" marL="0">
              <a:buNone/>
            </a:pPr>
            <a:r>
              <a:rPr lang="en-US" sz="900" dirty="0">
                <a:solidFill>
                  <a:srgbClr val="5E7088"/>
                </a:solidFill>
                <a:latin typeface="Calibri" pitchFamily="34" charset="0"/>
                <a:ea typeface="Calibri" pitchFamily="34" charset="-122"/>
                <a:cs typeface="Calibri" pitchFamily="34" charset="-120"/>
              </a:rPr>
              <a:t>Learnable Task-Adaptive Memory for LLM Agents  ·  S. Uifalean  ·  Bocconi MSc AI</a:t>
            </a:r>
            <a:endParaRPr lang="en-US" sz="900" dirty="0"/>
          </a:p>
        </p:txBody>
      </p:sp>
      <p:sp>
        <p:nvSpPr>
          <p:cNvPr id="22" name="Text 20"/>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E708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B6A6"/>
                </a:solidFill>
                <a:latin typeface="Calibri" pitchFamily="34" charset="0"/>
                <a:ea typeface="Calibri" pitchFamily="34" charset="-122"/>
                <a:cs typeface="Calibri" pitchFamily="34" charset="-120"/>
              </a:rPr>
              <a:t>HOW RETRIEVAL WORKS</a:t>
            </a:r>
            <a:endParaRPr lang="en-US" sz="1200" dirty="0"/>
          </a:p>
        </p:txBody>
      </p:sp>
      <p:sp>
        <p:nvSpPr>
          <p:cNvPr id="3" name="Text 1"/>
          <p:cNvSpPr/>
          <p:nvPr/>
        </p:nvSpPr>
        <p:spPr>
          <a:xfrm>
            <a:off x="530352" y="658368"/>
            <a:ext cx="11064240" cy="822960"/>
          </a:xfrm>
          <a:prstGeom prst="rect">
            <a:avLst/>
          </a:prstGeom>
          <a:noFill/>
          <a:ln/>
        </p:spPr>
        <p:txBody>
          <a:bodyPr wrap="square" lIns="0" tIns="0" rIns="0" bIns="0" rtlCol="0" anchor="ctr"/>
          <a:lstStyle/>
          <a:p>
            <a:pPr indent="0" marL="0">
              <a:buNone/>
            </a:pPr>
            <a:r>
              <a:rPr lang="en-US" sz="3000" b="1" dirty="0">
                <a:solidFill>
                  <a:srgbClr val="1B2A44"/>
                </a:solidFill>
                <a:latin typeface="Cambria" pitchFamily="34" charset="0"/>
                <a:ea typeface="Cambria" pitchFamily="34" charset="-122"/>
                <a:cs typeface="Cambria" pitchFamily="34" charset="-120"/>
              </a:rPr>
              <a:t>Retrieval is a weighted vote across three signals</a:t>
            </a:r>
            <a:endParaRPr lang="en-US" sz="3000" dirty="0"/>
          </a:p>
        </p:txBody>
      </p:sp>
      <p:sp>
        <p:nvSpPr>
          <p:cNvPr id="4" name="Text 2"/>
          <p:cNvSpPr/>
          <p:nvPr/>
        </p:nvSpPr>
        <p:spPr>
          <a:xfrm>
            <a:off x="548640" y="1691640"/>
            <a:ext cx="11064240" cy="457200"/>
          </a:xfrm>
          <a:prstGeom prst="rect">
            <a:avLst/>
          </a:prstGeom>
          <a:noFill/>
          <a:ln/>
        </p:spPr>
        <p:txBody>
          <a:bodyPr wrap="square" lIns="0" tIns="0" rIns="0" bIns="0" rtlCol="0" anchor="ctr"/>
          <a:lstStyle/>
          <a:p>
            <a:pPr indent="0" marL="0">
              <a:buNone/>
            </a:pPr>
            <a:r>
              <a:rPr lang="en-US" sz="1600" dirty="0">
                <a:solidFill>
                  <a:srgbClr val="1B2A44"/>
                </a:solidFill>
                <a:latin typeface="Calibri" pitchFamily="34" charset="0"/>
                <a:ea typeface="Calibri" pitchFamily="34" charset="-122"/>
                <a:cs typeface="Calibri" pitchFamily="34" charset="-120"/>
              </a:rPr>
              <a:t>Every memory item gets a score; the agent keeps the top few. </a:t>
            </a:r>
            <a:pPr indent="0" marL="0">
              <a:buNone/>
            </a:pPr>
            <a:r>
              <a:rPr lang="en-US" sz="1600" b="1" dirty="0">
                <a:solidFill>
                  <a:srgbClr val="1B2A44"/>
                </a:solidFill>
                <a:latin typeface="Calibri" pitchFamily="34" charset="0"/>
                <a:ea typeface="Calibri" pitchFamily="34" charset="-122"/>
                <a:cs typeface="Calibri" pitchFamily="34" charset="-120"/>
              </a:rPr>
              <a:t>θ sets how loudly each signal votes.</a:t>
            </a:r>
            <a:endParaRPr lang="en-US" sz="1600" dirty="0"/>
          </a:p>
        </p:txBody>
      </p:sp>
      <p:sp>
        <p:nvSpPr>
          <p:cNvPr id="5" name="Shape 3"/>
          <p:cNvSpPr/>
          <p:nvPr/>
        </p:nvSpPr>
        <p:spPr>
          <a:xfrm>
            <a:off x="548640" y="2423160"/>
            <a:ext cx="3566160" cy="2240280"/>
          </a:xfrm>
          <a:prstGeom prst="roundRect">
            <a:avLst>
              <a:gd name="adj" fmla="val 4898"/>
            </a:avLst>
          </a:prstGeom>
          <a:solidFill>
            <a:srgbClr val="F2F6FB"/>
          </a:solidFill>
          <a:ln w="12700">
            <a:solidFill>
              <a:srgbClr val="DCE5EF"/>
            </a:solidFill>
            <a:prstDash val="solid"/>
          </a:ln>
        </p:spPr>
      </p:sp>
      <p:sp>
        <p:nvSpPr>
          <p:cNvPr id="6" name="Text 4"/>
          <p:cNvSpPr/>
          <p:nvPr/>
        </p:nvSpPr>
        <p:spPr>
          <a:xfrm>
            <a:off x="777240" y="2578608"/>
            <a:ext cx="3108960" cy="320040"/>
          </a:xfrm>
          <a:prstGeom prst="rect">
            <a:avLst/>
          </a:prstGeom>
          <a:noFill/>
          <a:ln/>
        </p:spPr>
        <p:txBody>
          <a:bodyPr wrap="square" lIns="0" tIns="0" rIns="0" bIns="0" rtlCol="0" anchor="ctr"/>
          <a:lstStyle/>
          <a:p>
            <a:pPr indent="0" marL="0">
              <a:buNone/>
            </a:pPr>
            <a:r>
              <a:rPr lang="en-US" sz="1500" b="1" dirty="0">
                <a:solidFill>
                  <a:srgbClr val="1FB6A6"/>
                </a:solidFill>
                <a:latin typeface="Consolas" pitchFamily="34" charset="0"/>
                <a:ea typeface="Consolas" pitchFamily="34" charset="-122"/>
                <a:cs typeface="Consolas" pitchFamily="34" charset="-120"/>
              </a:rPr>
              <a:t>w_embed</a:t>
            </a:r>
            <a:endParaRPr lang="en-US" sz="1500" dirty="0"/>
          </a:p>
        </p:txBody>
      </p:sp>
      <p:sp>
        <p:nvSpPr>
          <p:cNvPr id="7" name="Text 5"/>
          <p:cNvSpPr/>
          <p:nvPr/>
        </p:nvSpPr>
        <p:spPr>
          <a:xfrm>
            <a:off x="777240" y="2926080"/>
            <a:ext cx="3108960" cy="685800"/>
          </a:xfrm>
          <a:prstGeom prst="rect">
            <a:avLst/>
          </a:prstGeom>
          <a:noFill/>
          <a:ln/>
        </p:spPr>
        <p:txBody>
          <a:bodyPr wrap="square" lIns="0" tIns="0" rIns="0" bIns="0" rtlCol="0" anchor="t"/>
          <a:lstStyle/>
          <a:p>
            <a:pPr indent="0" marL="0">
              <a:lnSpc>
                <a:spcPct val="100000"/>
              </a:lnSpc>
              <a:buNone/>
            </a:pPr>
            <a:r>
              <a:rPr lang="en-US" sz="1700" b="1" dirty="0">
                <a:solidFill>
                  <a:srgbClr val="1B2A44"/>
                </a:solidFill>
                <a:latin typeface="Cambria" pitchFamily="34" charset="0"/>
                <a:ea typeface="Cambria" pitchFamily="34" charset="-122"/>
                <a:cs typeface="Cambria" pitchFamily="34" charset="-120"/>
              </a:rPr>
              <a:t>Does it mean</a:t>
            </a:r>
            <a:endParaRPr lang="en-US" sz="1700" dirty="0"/>
          </a:p>
          <a:p>
            <a:pPr indent="0" marL="0">
              <a:lnSpc>
                <a:spcPct val="100000"/>
              </a:lnSpc>
              <a:buNone/>
            </a:pPr>
            <a:r>
              <a:rPr lang="en-US" sz="1700" b="1" dirty="0">
                <a:solidFill>
                  <a:srgbClr val="1B2A44"/>
                </a:solidFill>
                <a:latin typeface="Cambria" pitchFamily="34" charset="0"/>
                <a:ea typeface="Cambria" pitchFamily="34" charset="-122"/>
                <a:cs typeface="Cambria" pitchFamily="34" charset="-120"/>
              </a:rPr>
              <a:t>the same?</a:t>
            </a:r>
            <a:endParaRPr lang="en-US" sz="1700" dirty="0"/>
          </a:p>
        </p:txBody>
      </p:sp>
      <p:sp>
        <p:nvSpPr>
          <p:cNvPr id="8" name="Shape 6"/>
          <p:cNvSpPr/>
          <p:nvPr/>
        </p:nvSpPr>
        <p:spPr>
          <a:xfrm>
            <a:off x="777240" y="3703320"/>
            <a:ext cx="3108960" cy="164592"/>
          </a:xfrm>
          <a:prstGeom prst="roundRect">
            <a:avLst>
              <a:gd name="adj" fmla="val 50000"/>
            </a:avLst>
          </a:prstGeom>
          <a:solidFill>
            <a:srgbClr val="E4EBF3"/>
          </a:solidFill>
          <a:ln/>
        </p:spPr>
      </p:sp>
      <p:sp>
        <p:nvSpPr>
          <p:cNvPr id="9" name="Shape 7"/>
          <p:cNvSpPr/>
          <p:nvPr/>
        </p:nvSpPr>
        <p:spPr>
          <a:xfrm>
            <a:off x="777240" y="3703320"/>
            <a:ext cx="2642616" cy="164592"/>
          </a:xfrm>
          <a:prstGeom prst="roundRect">
            <a:avLst>
              <a:gd name="adj" fmla="val 50000"/>
            </a:avLst>
          </a:prstGeom>
          <a:solidFill>
            <a:srgbClr val="1FB6A6"/>
          </a:solidFill>
          <a:ln/>
        </p:spPr>
      </p:sp>
      <p:sp>
        <p:nvSpPr>
          <p:cNvPr id="10" name="Text 8"/>
          <p:cNvSpPr/>
          <p:nvPr/>
        </p:nvSpPr>
        <p:spPr>
          <a:xfrm>
            <a:off x="777240" y="3913632"/>
            <a:ext cx="3108960" cy="274320"/>
          </a:xfrm>
          <a:prstGeom prst="rect">
            <a:avLst/>
          </a:prstGeom>
          <a:noFill/>
          <a:ln/>
        </p:spPr>
        <p:txBody>
          <a:bodyPr wrap="square" lIns="0" tIns="0" rIns="0" bIns="0" rtlCol="0" anchor="ctr"/>
          <a:lstStyle/>
          <a:p>
            <a:pPr indent="0" marL="0">
              <a:buNone/>
            </a:pPr>
            <a:r>
              <a:rPr lang="en-US" sz="1150" i="1" dirty="0">
                <a:solidFill>
                  <a:srgbClr val="5E7088"/>
                </a:solidFill>
                <a:latin typeface="Calibri" pitchFamily="34" charset="0"/>
                <a:ea typeface="Calibri" pitchFamily="34" charset="-122"/>
                <a:cs typeface="Calibri" pitchFamily="34" charset="-120"/>
              </a:rPr>
              <a:t>meaning match · 0…1</a:t>
            </a:r>
            <a:endParaRPr lang="en-US" sz="1150" dirty="0"/>
          </a:p>
        </p:txBody>
      </p:sp>
      <p:sp>
        <p:nvSpPr>
          <p:cNvPr id="11" name="Text 9"/>
          <p:cNvSpPr/>
          <p:nvPr/>
        </p:nvSpPr>
        <p:spPr>
          <a:xfrm>
            <a:off x="777240" y="4206240"/>
            <a:ext cx="3154680" cy="411480"/>
          </a:xfrm>
          <a:prstGeom prst="rect">
            <a:avLst/>
          </a:prstGeom>
          <a:noFill/>
          <a:ln/>
        </p:spPr>
        <p:txBody>
          <a:bodyPr wrap="square" lIns="0" tIns="0" rIns="0" bIns="0" rtlCol="0" anchor="t"/>
          <a:lstStyle/>
          <a:p>
            <a:pPr indent="0" marL="0">
              <a:buNone/>
            </a:pPr>
            <a:r>
              <a:rPr lang="en-US" sz="1200" dirty="0">
                <a:solidFill>
                  <a:srgbClr val="5E7088"/>
                </a:solidFill>
                <a:latin typeface="Calibri" pitchFamily="34" charset="0"/>
                <a:ea typeface="Calibri" pitchFamily="34" charset="-122"/>
                <a:cs typeface="Calibri" pitchFamily="34" charset="-120"/>
              </a:rPr>
              <a:t>the governing-law clause scores high</a:t>
            </a:r>
            <a:endParaRPr lang="en-US" sz="1200" dirty="0"/>
          </a:p>
        </p:txBody>
      </p:sp>
      <p:sp>
        <p:nvSpPr>
          <p:cNvPr id="12" name="Shape 10"/>
          <p:cNvSpPr/>
          <p:nvPr/>
        </p:nvSpPr>
        <p:spPr>
          <a:xfrm>
            <a:off x="4343400" y="2423160"/>
            <a:ext cx="3566160" cy="2240280"/>
          </a:xfrm>
          <a:prstGeom prst="roundRect">
            <a:avLst>
              <a:gd name="adj" fmla="val 4898"/>
            </a:avLst>
          </a:prstGeom>
          <a:solidFill>
            <a:srgbClr val="F2F6FB"/>
          </a:solidFill>
          <a:ln w="12700">
            <a:solidFill>
              <a:srgbClr val="DCE5EF"/>
            </a:solidFill>
            <a:prstDash val="solid"/>
          </a:ln>
        </p:spPr>
      </p:sp>
      <p:sp>
        <p:nvSpPr>
          <p:cNvPr id="13" name="Text 11"/>
          <p:cNvSpPr/>
          <p:nvPr/>
        </p:nvSpPr>
        <p:spPr>
          <a:xfrm>
            <a:off x="4572000" y="2578608"/>
            <a:ext cx="3108960" cy="320040"/>
          </a:xfrm>
          <a:prstGeom prst="rect">
            <a:avLst/>
          </a:prstGeom>
          <a:noFill/>
          <a:ln/>
        </p:spPr>
        <p:txBody>
          <a:bodyPr wrap="square" lIns="0" tIns="0" rIns="0" bIns="0" rtlCol="0" anchor="ctr"/>
          <a:lstStyle/>
          <a:p>
            <a:pPr indent="0" marL="0">
              <a:buNone/>
            </a:pPr>
            <a:r>
              <a:rPr lang="en-US" sz="1500" b="1" dirty="0">
                <a:solidFill>
                  <a:srgbClr val="1FB6A6"/>
                </a:solidFill>
                <a:latin typeface="Consolas" pitchFamily="34" charset="0"/>
                <a:ea typeface="Consolas" pitchFamily="34" charset="-122"/>
                <a:cs typeface="Consolas" pitchFamily="34" charset="-120"/>
              </a:rPr>
              <a:t>w_recency</a:t>
            </a:r>
            <a:endParaRPr lang="en-US" sz="1500" dirty="0"/>
          </a:p>
        </p:txBody>
      </p:sp>
      <p:sp>
        <p:nvSpPr>
          <p:cNvPr id="14" name="Text 12"/>
          <p:cNvSpPr/>
          <p:nvPr/>
        </p:nvSpPr>
        <p:spPr>
          <a:xfrm>
            <a:off x="4572000" y="2926080"/>
            <a:ext cx="3108960" cy="685800"/>
          </a:xfrm>
          <a:prstGeom prst="rect">
            <a:avLst/>
          </a:prstGeom>
          <a:noFill/>
          <a:ln/>
        </p:spPr>
        <p:txBody>
          <a:bodyPr wrap="square" lIns="0" tIns="0" rIns="0" bIns="0" rtlCol="0" anchor="t"/>
          <a:lstStyle/>
          <a:p>
            <a:pPr indent="0" marL="0">
              <a:lnSpc>
                <a:spcPct val="100000"/>
              </a:lnSpc>
              <a:buNone/>
            </a:pPr>
            <a:r>
              <a:rPr lang="en-US" sz="1700" b="1" dirty="0">
                <a:solidFill>
                  <a:srgbClr val="1B2A44"/>
                </a:solidFill>
                <a:latin typeface="Cambria" pitchFamily="34" charset="0"/>
                <a:ea typeface="Cambria" pitchFamily="34" charset="-122"/>
                <a:cs typeface="Cambria" pitchFamily="34" charset="-120"/>
              </a:rPr>
              <a:t>How fresh</a:t>
            </a:r>
            <a:endParaRPr lang="en-US" sz="1700" dirty="0"/>
          </a:p>
          <a:p>
            <a:pPr indent="0" marL="0">
              <a:lnSpc>
                <a:spcPct val="100000"/>
              </a:lnSpc>
              <a:buNone/>
            </a:pPr>
            <a:r>
              <a:rPr lang="en-US" sz="1700" b="1" dirty="0">
                <a:solidFill>
                  <a:srgbClr val="1B2A44"/>
                </a:solidFill>
                <a:latin typeface="Cambria" pitchFamily="34" charset="0"/>
                <a:ea typeface="Cambria" pitchFamily="34" charset="-122"/>
                <a:cs typeface="Cambria" pitchFamily="34" charset="-120"/>
              </a:rPr>
              <a:t>is it?</a:t>
            </a:r>
            <a:endParaRPr lang="en-US" sz="1700" dirty="0"/>
          </a:p>
        </p:txBody>
      </p:sp>
      <p:sp>
        <p:nvSpPr>
          <p:cNvPr id="15" name="Shape 13"/>
          <p:cNvSpPr/>
          <p:nvPr/>
        </p:nvSpPr>
        <p:spPr>
          <a:xfrm>
            <a:off x="4572000" y="3703320"/>
            <a:ext cx="3108960" cy="164592"/>
          </a:xfrm>
          <a:prstGeom prst="roundRect">
            <a:avLst>
              <a:gd name="adj" fmla="val 50000"/>
            </a:avLst>
          </a:prstGeom>
          <a:solidFill>
            <a:srgbClr val="E4EBF3"/>
          </a:solidFill>
          <a:ln/>
        </p:spPr>
      </p:sp>
      <p:sp>
        <p:nvSpPr>
          <p:cNvPr id="16" name="Shape 14"/>
          <p:cNvSpPr/>
          <p:nvPr/>
        </p:nvSpPr>
        <p:spPr>
          <a:xfrm>
            <a:off x="4572000" y="3703320"/>
            <a:ext cx="1927555" cy="164592"/>
          </a:xfrm>
          <a:prstGeom prst="roundRect">
            <a:avLst>
              <a:gd name="adj" fmla="val 50000"/>
            </a:avLst>
          </a:prstGeom>
          <a:solidFill>
            <a:srgbClr val="E6A23C"/>
          </a:solidFill>
          <a:ln/>
        </p:spPr>
      </p:sp>
      <p:sp>
        <p:nvSpPr>
          <p:cNvPr id="17" name="Text 15"/>
          <p:cNvSpPr/>
          <p:nvPr/>
        </p:nvSpPr>
        <p:spPr>
          <a:xfrm>
            <a:off x="4572000" y="3913632"/>
            <a:ext cx="3108960" cy="274320"/>
          </a:xfrm>
          <a:prstGeom prst="rect">
            <a:avLst/>
          </a:prstGeom>
          <a:noFill/>
          <a:ln/>
        </p:spPr>
        <p:txBody>
          <a:bodyPr wrap="square" lIns="0" tIns="0" rIns="0" bIns="0" rtlCol="0" anchor="ctr"/>
          <a:lstStyle/>
          <a:p>
            <a:pPr indent="0" marL="0">
              <a:buNone/>
            </a:pPr>
            <a:r>
              <a:rPr lang="en-US" sz="1150" i="1" dirty="0">
                <a:solidFill>
                  <a:srgbClr val="5E7088"/>
                </a:solidFill>
                <a:latin typeface="Calibri" pitchFamily="34" charset="0"/>
                <a:ea typeface="Calibri" pitchFamily="34" charset="-122"/>
                <a:cs typeface="Calibri" pitchFamily="34" charset="-120"/>
              </a:rPr>
              <a:t>freshness · 0…1</a:t>
            </a:r>
            <a:endParaRPr lang="en-US" sz="1150" dirty="0"/>
          </a:p>
        </p:txBody>
      </p:sp>
      <p:sp>
        <p:nvSpPr>
          <p:cNvPr id="18" name="Text 16"/>
          <p:cNvSpPr/>
          <p:nvPr/>
        </p:nvSpPr>
        <p:spPr>
          <a:xfrm>
            <a:off x="4572000" y="4206240"/>
            <a:ext cx="3154680" cy="411480"/>
          </a:xfrm>
          <a:prstGeom prst="rect">
            <a:avLst/>
          </a:prstGeom>
          <a:noFill/>
          <a:ln/>
        </p:spPr>
        <p:txBody>
          <a:bodyPr wrap="square" lIns="0" tIns="0" rIns="0" bIns="0" rtlCol="0" anchor="t"/>
          <a:lstStyle/>
          <a:p>
            <a:pPr indent="0" marL="0">
              <a:buNone/>
            </a:pPr>
            <a:r>
              <a:rPr lang="en-US" sz="1200" dirty="0">
                <a:solidFill>
                  <a:srgbClr val="5E7088"/>
                </a:solidFill>
                <a:latin typeface="Calibri" pitchFamily="34" charset="0"/>
                <a:ea typeface="Calibri" pitchFamily="34" charset="-122"/>
                <a:cs typeface="Calibri" pitchFamily="34" charset="-120"/>
              </a:rPr>
              <a:t>the newest clause always wins — the trap in our example</a:t>
            </a:r>
            <a:endParaRPr lang="en-US" sz="1200" dirty="0"/>
          </a:p>
        </p:txBody>
      </p:sp>
      <p:sp>
        <p:nvSpPr>
          <p:cNvPr id="19" name="Shape 17"/>
          <p:cNvSpPr/>
          <p:nvPr/>
        </p:nvSpPr>
        <p:spPr>
          <a:xfrm>
            <a:off x="8138160" y="2423160"/>
            <a:ext cx="3566160" cy="2240280"/>
          </a:xfrm>
          <a:prstGeom prst="roundRect">
            <a:avLst>
              <a:gd name="adj" fmla="val 4898"/>
            </a:avLst>
          </a:prstGeom>
          <a:solidFill>
            <a:srgbClr val="F2F6FB"/>
          </a:solidFill>
          <a:ln w="12700">
            <a:solidFill>
              <a:srgbClr val="DCE5EF"/>
            </a:solidFill>
            <a:prstDash val="solid"/>
          </a:ln>
        </p:spPr>
      </p:sp>
      <p:sp>
        <p:nvSpPr>
          <p:cNvPr id="20" name="Text 18"/>
          <p:cNvSpPr/>
          <p:nvPr/>
        </p:nvSpPr>
        <p:spPr>
          <a:xfrm>
            <a:off x="8366760" y="2578608"/>
            <a:ext cx="3108960" cy="320040"/>
          </a:xfrm>
          <a:prstGeom prst="rect">
            <a:avLst/>
          </a:prstGeom>
          <a:noFill/>
          <a:ln/>
        </p:spPr>
        <p:txBody>
          <a:bodyPr wrap="square" lIns="0" tIns="0" rIns="0" bIns="0" rtlCol="0" anchor="ctr"/>
          <a:lstStyle/>
          <a:p>
            <a:pPr indent="0" marL="0">
              <a:buNone/>
            </a:pPr>
            <a:r>
              <a:rPr lang="en-US" sz="1500" b="1" dirty="0">
                <a:solidFill>
                  <a:srgbClr val="1FB6A6"/>
                </a:solidFill>
                <a:latin typeface="Consolas" pitchFamily="34" charset="0"/>
                <a:ea typeface="Consolas" pitchFamily="34" charset="-122"/>
                <a:cs typeface="Consolas" pitchFamily="34" charset="-120"/>
              </a:rPr>
              <a:t>w_graph</a:t>
            </a:r>
            <a:endParaRPr lang="en-US" sz="1500" dirty="0"/>
          </a:p>
        </p:txBody>
      </p:sp>
      <p:sp>
        <p:nvSpPr>
          <p:cNvPr id="21" name="Text 19"/>
          <p:cNvSpPr/>
          <p:nvPr/>
        </p:nvSpPr>
        <p:spPr>
          <a:xfrm>
            <a:off x="8366760" y="2926080"/>
            <a:ext cx="3108960" cy="685800"/>
          </a:xfrm>
          <a:prstGeom prst="rect">
            <a:avLst/>
          </a:prstGeom>
          <a:noFill/>
          <a:ln/>
        </p:spPr>
        <p:txBody>
          <a:bodyPr wrap="square" lIns="0" tIns="0" rIns="0" bIns="0" rtlCol="0" anchor="t"/>
          <a:lstStyle/>
          <a:p>
            <a:pPr indent="0" marL="0">
              <a:lnSpc>
                <a:spcPct val="100000"/>
              </a:lnSpc>
              <a:buNone/>
            </a:pPr>
            <a:r>
              <a:rPr lang="en-US" sz="1700" b="1" dirty="0">
                <a:solidFill>
                  <a:srgbClr val="1B2A44"/>
                </a:solidFill>
                <a:latin typeface="Cambria" pitchFamily="34" charset="0"/>
                <a:ea typeface="Cambria" pitchFamily="34" charset="-122"/>
                <a:cs typeface="Cambria" pitchFamily="34" charset="-120"/>
              </a:rPr>
              <a:t>Is it linked</a:t>
            </a:r>
            <a:endParaRPr lang="en-US" sz="1700" dirty="0"/>
          </a:p>
          <a:p>
            <a:pPr indent="0" marL="0">
              <a:lnSpc>
                <a:spcPct val="100000"/>
              </a:lnSpc>
              <a:buNone/>
            </a:pPr>
            <a:r>
              <a:rPr lang="en-US" sz="1700" b="1" dirty="0">
                <a:solidFill>
                  <a:srgbClr val="1B2A44"/>
                </a:solidFill>
                <a:latin typeface="Cambria" pitchFamily="34" charset="0"/>
                <a:ea typeface="Cambria" pitchFamily="34" charset="-122"/>
                <a:cs typeface="Cambria" pitchFamily="34" charset="-120"/>
              </a:rPr>
              <a:t>in the graph?</a:t>
            </a:r>
            <a:endParaRPr lang="en-US" sz="1700" dirty="0"/>
          </a:p>
        </p:txBody>
      </p:sp>
      <p:sp>
        <p:nvSpPr>
          <p:cNvPr id="22" name="Shape 20"/>
          <p:cNvSpPr/>
          <p:nvPr/>
        </p:nvSpPr>
        <p:spPr>
          <a:xfrm>
            <a:off x="8366760" y="3703320"/>
            <a:ext cx="3108960" cy="164592"/>
          </a:xfrm>
          <a:prstGeom prst="roundRect">
            <a:avLst>
              <a:gd name="adj" fmla="val 50000"/>
            </a:avLst>
          </a:prstGeom>
          <a:solidFill>
            <a:srgbClr val="E4EBF3"/>
          </a:solidFill>
          <a:ln/>
        </p:spPr>
      </p:sp>
      <p:sp>
        <p:nvSpPr>
          <p:cNvPr id="23" name="Shape 21"/>
          <p:cNvSpPr/>
          <p:nvPr/>
        </p:nvSpPr>
        <p:spPr>
          <a:xfrm>
            <a:off x="8366760" y="3703320"/>
            <a:ext cx="3108960" cy="164592"/>
          </a:xfrm>
          <a:prstGeom prst="roundRect">
            <a:avLst>
              <a:gd name="adj" fmla="val 50000"/>
            </a:avLst>
          </a:prstGeom>
          <a:solidFill>
            <a:srgbClr val="12294A"/>
          </a:solidFill>
          <a:ln/>
        </p:spPr>
      </p:sp>
      <p:sp>
        <p:nvSpPr>
          <p:cNvPr id="24" name="Text 22"/>
          <p:cNvSpPr/>
          <p:nvPr/>
        </p:nvSpPr>
        <p:spPr>
          <a:xfrm>
            <a:off x="8366760" y="3913632"/>
            <a:ext cx="3108960" cy="274320"/>
          </a:xfrm>
          <a:prstGeom prst="rect">
            <a:avLst/>
          </a:prstGeom>
          <a:noFill/>
          <a:ln/>
        </p:spPr>
        <p:txBody>
          <a:bodyPr wrap="square" lIns="0" tIns="0" rIns="0" bIns="0" rtlCol="0" anchor="ctr"/>
          <a:lstStyle/>
          <a:p>
            <a:pPr indent="0" marL="0">
              <a:buNone/>
            </a:pPr>
            <a:r>
              <a:rPr lang="en-US" sz="1150" i="1" dirty="0">
                <a:solidFill>
                  <a:srgbClr val="5E7088"/>
                </a:solidFill>
                <a:latin typeface="Calibri" pitchFamily="34" charset="0"/>
                <a:ea typeface="Calibri" pitchFamily="34" charset="-122"/>
                <a:cs typeface="Calibri" pitchFamily="34" charset="-120"/>
              </a:rPr>
              <a:t>shares an entity · 0 or 1</a:t>
            </a:r>
            <a:endParaRPr lang="en-US" sz="1150" dirty="0"/>
          </a:p>
        </p:txBody>
      </p:sp>
      <p:sp>
        <p:nvSpPr>
          <p:cNvPr id="25" name="Text 23"/>
          <p:cNvSpPr/>
          <p:nvPr/>
        </p:nvSpPr>
        <p:spPr>
          <a:xfrm>
            <a:off x="8366760" y="4206240"/>
            <a:ext cx="3154680" cy="411480"/>
          </a:xfrm>
          <a:prstGeom prst="rect">
            <a:avLst/>
          </a:prstGeom>
          <a:noFill/>
          <a:ln/>
        </p:spPr>
        <p:txBody>
          <a:bodyPr wrap="square" lIns="0" tIns="0" rIns="0" bIns="0" rtlCol="0" anchor="t"/>
          <a:lstStyle/>
          <a:p>
            <a:pPr indent="0" marL="0">
              <a:buNone/>
            </a:pPr>
            <a:r>
              <a:rPr lang="en-US" sz="1200" dirty="0">
                <a:solidFill>
                  <a:srgbClr val="5E7088"/>
                </a:solidFill>
                <a:latin typeface="Calibri" pitchFamily="34" charset="0"/>
                <a:ea typeface="Calibri" pitchFamily="34" charset="-122"/>
                <a:cs typeface="Calibri" pitchFamily="34" charset="-120"/>
              </a:rPr>
              <a:t>on/off link — inert at retrieval in Stage 3</a:t>
            </a:r>
            <a:endParaRPr lang="en-US" sz="1200" dirty="0"/>
          </a:p>
        </p:txBody>
      </p:sp>
      <p:sp>
        <p:nvSpPr>
          <p:cNvPr id="26" name="Shape 24"/>
          <p:cNvSpPr/>
          <p:nvPr/>
        </p:nvSpPr>
        <p:spPr>
          <a:xfrm>
            <a:off x="548640" y="4828032"/>
            <a:ext cx="11064240" cy="1078992"/>
          </a:xfrm>
          <a:prstGeom prst="roundRect">
            <a:avLst>
              <a:gd name="adj" fmla="val 8475"/>
            </a:avLst>
          </a:prstGeom>
          <a:solidFill>
            <a:srgbClr val="12294A"/>
          </a:solidFill>
          <a:ln/>
        </p:spPr>
      </p:sp>
      <p:sp>
        <p:nvSpPr>
          <p:cNvPr id="27" name="Text 25"/>
          <p:cNvSpPr/>
          <p:nvPr/>
        </p:nvSpPr>
        <p:spPr>
          <a:xfrm>
            <a:off x="822960" y="4974336"/>
            <a:ext cx="10515600" cy="365760"/>
          </a:xfrm>
          <a:prstGeom prst="rect">
            <a:avLst/>
          </a:prstGeom>
          <a:noFill/>
          <a:ln/>
        </p:spPr>
        <p:txBody>
          <a:bodyPr wrap="square" lIns="0" tIns="0" rIns="0" bIns="0" rtlCol="0" anchor="ctr"/>
          <a:lstStyle/>
          <a:p>
            <a:pPr indent="0" marL="0">
              <a:buNone/>
            </a:pPr>
            <a:r>
              <a:rPr lang="en-US" sz="1350" b="1" dirty="0">
                <a:solidFill>
                  <a:srgbClr val="FFFFFF"/>
                </a:solidFill>
                <a:latin typeface="Consolas" pitchFamily="34" charset="0"/>
                <a:ea typeface="Consolas" pitchFamily="34" charset="-122"/>
                <a:cs typeface="Consolas" pitchFamily="34" charset="-120"/>
              </a:rPr>
              <a:t>score(item)  =  w_embed · meaning  +  w_recency · freshness  +  w_graph · link      →   keep the top 8</a:t>
            </a:r>
            <a:endParaRPr lang="en-US" sz="1350" dirty="0"/>
          </a:p>
        </p:txBody>
      </p:sp>
      <p:sp>
        <p:nvSpPr>
          <p:cNvPr id="28" name="Text 26"/>
          <p:cNvSpPr/>
          <p:nvPr/>
        </p:nvSpPr>
        <p:spPr>
          <a:xfrm>
            <a:off x="822960" y="5413248"/>
            <a:ext cx="10515600" cy="384048"/>
          </a:xfrm>
          <a:prstGeom prst="rect">
            <a:avLst/>
          </a:prstGeom>
          <a:noFill/>
          <a:ln/>
        </p:spPr>
        <p:txBody>
          <a:bodyPr wrap="square" lIns="0" tIns="0" rIns="0" bIns="0" rtlCol="0" anchor="ctr"/>
          <a:lstStyle/>
          <a:p>
            <a:pPr indent="0" marL="0">
              <a:buNone/>
            </a:pPr>
            <a:r>
              <a:rPr lang="en-US" sz="1300" b="1" i="1" dirty="0">
                <a:solidFill>
                  <a:srgbClr val="CADCFC"/>
                </a:solidFill>
                <a:latin typeface="Calibri" pitchFamily="34" charset="0"/>
                <a:ea typeface="Calibri" pitchFamily="34" charset="-122"/>
                <a:cs typeface="Calibri" pitchFamily="34" charset="-120"/>
              </a:rPr>
              <a:t>Learning θ = learning how loud to set each vote.  </a:t>
            </a:r>
            <a:pPr indent="0" marL="0">
              <a:buNone/>
            </a:pPr>
            <a:r>
              <a:rPr lang="en-US" sz="1300" i="1" dirty="0">
                <a:solidFill>
                  <a:srgbClr val="CADCFC"/>
                </a:solidFill>
                <a:latin typeface="Calibri" pitchFamily="34" charset="0"/>
                <a:ea typeface="Calibri" pitchFamily="34" charset="-122"/>
                <a:cs typeface="Calibri" pitchFamily="34" charset="-120"/>
              </a:rPr>
              <a:t>For an end-of-corpus question the optimizer turns recency down and meaning up.</a:t>
            </a:r>
            <a:endParaRPr lang="en-US" sz="1300" dirty="0"/>
          </a:p>
        </p:txBody>
      </p:sp>
      <p:sp>
        <p:nvSpPr>
          <p:cNvPr id="29" name="Text 27"/>
          <p:cNvSpPr/>
          <p:nvPr/>
        </p:nvSpPr>
        <p:spPr>
          <a:xfrm>
            <a:off x="457200" y="6446520"/>
            <a:ext cx="9601200" cy="274320"/>
          </a:xfrm>
          <a:prstGeom prst="rect">
            <a:avLst/>
          </a:prstGeom>
          <a:noFill/>
          <a:ln/>
        </p:spPr>
        <p:txBody>
          <a:bodyPr wrap="square" lIns="0" tIns="0" rIns="0" bIns="0" rtlCol="0" anchor="ctr"/>
          <a:lstStyle/>
          <a:p>
            <a:pPr algn="l" indent="0" marL="0">
              <a:buNone/>
            </a:pPr>
            <a:r>
              <a:rPr lang="en-US" sz="900" dirty="0">
                <a:solidFill>
                  <a:srgbClr val="5E7088"/>
                </a:solidFill>
                <a:latin typeface="Calibri" pitchFamily="34" charset="0"/>
                <a:ea typeface="Calibri" pitchFamily="34" charset="-122"/>
                <a:cs typeface="Calibri" pitchFamily="34" charset="-120"/>
              </a:rPr>
              <a:t>Learnable Task-Adaptive Memory for LLM Agents  ·  S. Uifalean  ·  Bocconi MSc AI</a:t>
            </a:r>
            <a:endParaRPr lang="en-US" sz="900" dirty="0"/>
          </a:p>
        </p:txBody>
      </p:sp>
      <p:sp>
        <p:nvSpPr>
          <p:cNvPr id="30" name="Text 2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E708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B6A6"/>
                </a:solidFill>
                <a:latin typeface="Calibri" pitchFamily="34" charset="0"/>
                <a:ea typeface="Calibri" pitchFamily="34" charset="-122"/>
                <a:cs typeface="Calibri" pitchFamily="34" charset="-120"/>
              </a:rPr>
              <a:t>METHOD</a:t>
            </a:r>
            <a:endParaRPr lang="en-US" sz="1200" dirty="0"/>
          </a:p>
        </p:txBody>
      </p:sp>
      <p:sp>
        <p:nvSpPr>
          <p:cNvPr id="3" name="Text 1"/>
          <p:cNvSpPr/>
          <p:nvPr/>
        </p:nvSpPr>
        <p:spPr>
          <a:xfrm>
            <a:off x="530352" y="658368"/>
            <a:ext cx="11064240" cy="822960"/>
          </a:xfrm>
          <a:prstGeom prst="rect">
            <a:avLst/>
          </a:prstGeom>
          <a:noFill/>
          <a:ln/>
        </p:spPr>
        <p:txBody>
          <a:bodyPr wrap="square" lIns="0" tIns="0" rIns="0" bIns="0" rtlCol="0" anchor="ctr"/>
          <a:lstStyle/>
          <a:p>
            <a:pPr indent="0" marL="0">
              <a:buNone/>
            </a:pPr>
            <a:r>
              <a:rPr lang="en-US" sz="3000" b="1" dirty="0">
                <a:solidFill>
                  <a:srgbClr val="1B2A44"/>
                </a:solidFill>
                <a:latin typeface="Cambria" pitchFamily="34" charset="0"/>
                <a:ea typeface="Cambria" pitchFamily="34" charset="-122"/>
                <a:cs typeface="Cambria" pitchFamily="34" charset="-120"/>
              </a:rPr>
              <a:t>How we learn θ: black-box search, no LLM in the loop</a:t>
            </a:r>
            <a:endParaRPr lang="en-US" sz="3000" dirty="0"/>
          </a:p>
        </p:txBody>
      </p:sp>
      <p:sp>
        <p:nvSpPr>
          <p:cNvPr id="4" name="Shape 2"/>
          <p:cNvSpPr/>
          <p:nvPr/>
        </p:nvSpPr>
        <p:spPr>
          <a:xfrm>
            <a:off x="548640" y="1737360"/>
            <a:ext cx="11064240" cy="1143000"/>
          </a:xfrm>
          <a:prstGeom prst="roundRect">
            <a:avLst>
              <a:gd name="adj" fmla="val 8000"/>
            </a:avLst>
          </a:prstGeom>
          <a:solidFill>
            <a:srgbClr val="F2F6FB"/>
          </a:solidFill>
          <a:ln w="12700">
            <a:solidFill>
              <a:srgbClr val="DCE5EF"/>
            </a:solidFill>
            <a:prstDash val="solid"/>
          </a:ln>
        </p:spPr>
      </p:sp>
      <p:sp>
        <p:nvSpPr>
          <p:cNvPr id="5" name="Text 3"/>
          <p:cNvSpPr/>
          <p:nvPr/>
        </p:nvSpPr>
        <p:spPr>
          <a:xfrm>
            <a:off x="822960" y="1920240"/>
            <a:ext cx="10515600" cy="365760"/>
          </a:xfrm>
          <a:prstGeom prst="rect">
            <a:avLst/>
          </a:prstGeom>
          <a:noFill/>
          <a:ln/>
        </p:spPr>
        <p:txBody>
          <a:bodyPr wrap="square" lIns="0" tIns="0" rIns="0" bIns="0" rtlCol="0" anchor="ctr"/>
          <a:lstStyle/>
          <a:p>
            <a:pPr indent="0" marL="0">
              <a:buNone/>
            </a:pPr>
            <a:r>
              <a:rPr lang="en-US" sz="1600" b="1" dirty="0">
                <a:solidFill>
                  <a:srgbClr val="1B2A44"/>
                </a:solidFill>
                <a:latin typeface="Calibri" pitchFamily="34" charset="0"/>
                <a:ea typeface="Calibri" pitchFamily="34" charset="-122"/>
                <a:cs typeface="Calibri" pitchFamily="34" charset="-120"/>
              </a:rPr>
              <a:t>Optimizer:  </a:t>
            </a:r>
            <a:pPr indent="0" marL="0">
              <a:buNone/>
            </a:pPr>
            <a:r>
              <a:rPr lang="en-US" sz="1600" b="1" dirty="0">
                <a:solidFill>
                  <a:srgbClr val="1FB6A6"/>
                </a:solidFill>
                <a:latin typeface="Calibri" pitchFamily="34" charset="0"/>
                <a:ea typeface="Calibri" pitchFamily="34" charset="-122"/>
                <a:cs typeface="Calibri" pitchFamily="34" charset="-120"/>
              </a:rPr>
              <a:t>Evolution Strategy → CMA-ES</a:t>
            </a:r>
            <a:pPr indent="0" marL="0">
              <a:buNone/>
            </a:pPr>
            <a:r>
              <a:rPr lang="en-US" sz="1600" b="1" dirty="0">
                <a:solidFill>
                  <a:srgbClr val="1B2A44"/>
                </a:solidFill>
                <a:latin typeface="Calibri" pitchFamily="34" charset="0"/>
                <a:ea typeface="Calibri" pitchFamily="34" charset="-122"/>
                <a:cs typeface="Calibri" pitchFamily="34" charset="-120"/>
              </a:rPr>
              <a:t>   ·   Objective:  </a:t>
            </a:r>
            <a:pPr indent="0" marL="0">
              <a:buNone/>
            </a:pPr>
            <a:r>
              <a:rPr lang="en-US" sz="1600" b="1" dirty="0">
                <a:solidFill>
                  <a:srgbClr val="1FB6A6"/>
                </a:solidFill>
                <a:latin typeface="Calibri" pitchFamily="34" charset="0"/>
                <a:ea typeface="Calibri" pitchFamily="34" charset="-122"/>
                <a:cs typeface="Calibri" pitchFamily="34" charset="-120"/>
              </a:rPr>
              <a:t>recall@8 of the gold evidence</a:t>
            </a:r>
            <a:endParaRPr lang="en-US" sz="1600" dirty="0"/>
          </a:p>
        </p:txBody>
      </p:sp>
      <p:sp>
        <p:nvSpPr>
          <p:cNvPr id="6" name="Text 4"/>
          <p:cNvSpPr/>
          <p:nvPr/>
        </p:nvSpPr>
        <p:spPr>
          <a:xfrm>
            <a:off x="822960" y="2331720"/>
            <a:ext cx="10515600" cy="457200"/>
          </a:xfrm>
          <a:prstGeom prst="rect">
            <a:avLst/>
          </a:prstGeom>
          <a:noFill/>
          <a:ln/>
        </p:spPr>
        <p:txBody>
          <a:bodyPr wrap="square" lIns="0" tIns="0" rIns="0" bIns="0" rtlCol="0" anchor="ctr"/>
          <a:lstStyle/>
          <a:p>
            <a:pPr indent="0" marL="0">
              <a:buNone/>
            </a:pPr>
            <a:r>
              <a:rPr lang="en-US" sz="1350" dirty="0">
                <a:solidFill>
                  <a:srgbClr val="5E7088"/>
                </a:solidFill>
                <a:latin typeface="Calibri" pitchFamily="34" charset="0"/>
                <a:ea typeface="Calibri" pitchFamily="34" charset="-122"/>
                <a:cs typeface="Calibri" pitchFamily="34" charset="-120"/>
              </a:rPr>
              <a:t>Derivative-free (the store decision is discrete) and LLM-free — so tuning is cheap and never biased by the judge.</a:t>
            </a:r>
            <a:endParaRPr lang="en-US" sz="1350" dirty="0"/>
          </a:p>
        </p:txBody>
      </p:sp>
      <p:sp>
        <p:nvSpPr>
          <p:cNvPr id="7" name="Shape 5"/>
          <p:cNvSpPr/>
          <p:nvPr/>
        </p:nvSpPr>
        <p:spPr>
          <a:xfrm>
            <a:off x="548640" y="3291840"/>
            <a:ext cx="3429000" cy="2286000"/>
          </a:xfrm>
          <a:prstGeom prst="roundRect">
            <a:avLst>
              <a:gd name="adj" fmla="val 4800"/>
            </a:avLst>
          </a:prstGeom>
          <a:solidFill>
            <a:srgbClr val="FFFFFF"/>
          </a:solidFill>
          <a:ln w="25400">
            <a:solidFill>
              <a:srgbClr val="1FB6A6"/>
            </a:solidFill>
            <a:prstDash val="solid"/>
          </a:ln>
        </p:spPr>
      </p:sp>
      <p:sp>
        <p:nvSpPr>
          <p:cNvPr id="8" name="Shape 6"/>
          <p:cNvSpPr/>
          <p:nvPr/>
        </p:nvSpPr>
        <p:spPr>
          <a:xfrm>
            <a:off x="548640" y="3291840"/>
            <a:ext cx="3429000" cy="548640"/>
          </a:xfrm>
          <a:prstGeom prst="roundRect">
            <a:avLst>
              <a:gd name="adj" fmla="val 20000"/>
            </a:avLst>
          </a:prstGeom>
          <a:solidFill>
            <a:srgbClr val="1FB6A6"/>
          </a:solidFill>
          <a:ln/>
        </p:spPr>
      </p:sp>
      <p:sp>
        <p:nvSpPr>
          <p:cNvPr id="9" name="Text 7"/>
          <p:cNvSpPr/>
          <p:nvPr/>
        </p:nvSpPr>
        <p:spPr>
          <a:xfrm>
            <a:off x="548640" y="3291840"/>
            <a:ext cx="342900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STAGE 1</a:t>
            </a:r>
            <a:endParaRPr lang="en-US" sz="1600" dirty="0"/>
          </a:p>
        </p:txBody>
      </p:sp>
      <p:sp>
        <p:nvSpPr>
          <p:cNvPr id="10" name="Text 8"/>
          <p:cNvSpPr/>
          <p:nvPr/>
        </p:nvSpPr>
        <p:spPr>
          <a:xfrm>
            <a:off x="777240" y="4023360"/>
            <a:ext cx="2971800" cy="640080"/>
          </a:xfrm>
          <a:prstGeom prst="rect">
            <a:avLst/>
          </a:prstGeom>
          <a:noFill/>
          <a:ln/>
        </p:spPr>
        <p:txBody>
          <a:bodyPr wrap="square" lIns="0" tIns="0" rIns="0" bIns="0" rtlCol="0" anchor="t"/>
          <a:lstStyle/>
          <a:p>
            <a:pPr indent="0" marL="0">
              <a:buNone/>
            </a:pPr>
            <a:r>
              <a:rPr lang="en-US" sz="1600" b="1" dirty="0">
                <a:solidFill>
                  <a:srgbClr val="1B2A44"/>
                </a:solidFill>
                <a:latin typeface="Calibri" pitchFamily="34" charset="0"/>
                <a:ea typeface="Calibri" pitchFamily="34" charset="-122"/>
                <a:cs typeface="Calibri" pitchFamily="34" charset="-120"/>
              </a:rPr>
              <a:t>Grid worlds</a:t>
            </a:r>
            <a:endParaRPr lang="en-US" sz="1600" dirty="0"/>
          </a:p>
        </p:txBody>
      </p:sp>
      <p:sp>
        <p:nvSpPr>
          <p:cNvPr id="11" name="Text 9"/>
          <p:cNvSpPr/>
          <p:nvPr/>
        </p:nvSpPr>
        <p:spPr>
          <a:xfrm>
            <a:off x="777240" y="4709160"/>
            <a:ext cx="2971800" cy="731520"/>
          </a:xfrm>
          <a:prstGeom prst="rect">
            <a:avLst/>
          </a:prstGeom>
          <a:noFill/>
          <a:ln/>
        </p:spPr>
        <p:txBody>
          <a:bodyPr wrap="square" lIns="0" tIns="0" rIns="0" bIns="0" rtlCol="0" anchor="t"/>
          <a:lstStyle/>
          <a:p>
            <a:pPr indent="0" marL="0">
              <a:buNone/>
            </a:pPr>
            <a:r>
              <a:rPr lang="en-US" sz="1300" i="1" dirty="0">
                <a:solidFill>
                  <a:srgbClr val="5E7088"/>
                </a:solidFill>
                <a:latin typeface="Calibri" pitchFamily="34" charset="0"/>
                <a:ea typeface="Calibri" pitchFamily="34" charset="-122"/>
                <a:cs typeface="Calibri" pitchFamily="34" charset="-120"/>
              </a:rPr>
              <a:t>Is θ task-dependent?</a:t>
            </a:r>
            <a:endParaRPr lang="en-US" sz="1300" dirty="0"/>
          </a:p>
        </p:txBody>
      </p:sp>
      <p:sp>
        <p:nvSpPr>
          <p:cNvPr id="12" name="Text 10"/>
          <p:cNvSpPr/>
          <p:nvPr/>
        </p:nvSpPr>
        <p:spPr>
          <a:xfrm>
            <a:off x="3950208" y="4114800"/>
            <a:ext cx="411480" cy="548640"/>
          </a:xfrm>
          <a:prstGeom prst="rect">
            <a:avLst/>
          </a:prstGeom>
          <a:noFill/>
          <a:ln/>
        </p:spPr>
        <p:txBody>
          <a:bodyPr wrap="square" lIns="0" tIns="0" rIns="0" bIns="0" rtlCol="0" anchor="ctr"/>
          <a:lstStyle/>
          <a:p>
            <a:pPr algn="ctr" indent="0" marL="0">
              <a:buNone/>
            </a:pPr>
            <a:r>
              <a:rPr lang="en-US" sz="2600" b="1" dirty="0">
                <a:solidFill>
                  <a:srgbClr val="5E7088"/>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4343400" y="3291840"/>
            <a:ext cx="3429000" cy="2286000"/>
          </a:xfrm>
          <a:prstGeom prst="roundRect">
            <a:avLst>
              <a:gd name="adj" fmla="val 4800"/>
            </a:avLst>
          </a:prstGeom>
          <a:solidFill>
            <a:srgbClr val="FFFFFF"/>
          </a:solidFill>
          <a:ln w="25400">
            <a:solidFill>
              <a:srgbClr val="12294A"/>
            </a:solidFill>
            <a:prstDash val="solid"/>
          </a:ln>
        </p:spPr>
      </p:sp>
      <p:sp>
        <p:nvSpPr>
          <p:cNvPr id="14" name="Shape 12"/>
          <p:cNvSpPr/>
          <p:nvPr/>
        </p:nvSpPr>
        <p:spPr>
          <a:xfrm>
            <a:off x="4343400" y="3291840"/>
            <a:ext cx="3429000" cy="548640"/>
          </a:xfrm>
          <a:prstGeom prst="roundRect">
            <a:avLst>
              <a:gd name="adj" fmla="val 20000"/>
            </a:avLst>
          </a:prstGeom>
          <a:solidFill>
            <a:srgbClr val="12294A"/>
          </a:solidFill>
          <a:ln/>
        </p:spPr>
      </p:sp>
      <p:sp>
        <p:nvSpPr>
          <p:cNvPr id="15" name="Text 13"/>
          <p:cNvSpPr/>
          <p:nvPr/>
        </p:nvSpPr>
        <p:spPr>
          <a:xfrm>
            <a:off x="4343400" y="3291840"/>
            <a:ext cx="342900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STAGE 2</a:t>
            </a:r>
            <a:endParaRPr lang="en-US" sz="1600" dirty="0"/>
          </a:p>
        </p:txBody>
      </p:sp>
      <p:sp>
        <p:nvSpPr>
          <p:cNvPr id="16" name="Text 14"/>
          <p:cNvSpPr/>
          <p:nvPr/>
        </p:nvSpPr>
        <p:spPr>
          <a:xfrm>
            <a:off x="4572000" y="4023360"/>
            <a:ext cx="2971800" cy="640080"/>
          </a:xfrm>
          <a:prstGeom prst="rect">
            <a:avLst/>
          </a:prstGeom>
          <a:noFill/>
          <a:ln/>
        </p:spPr>
        <p:txBody>
          <a:bodyPr wrap="square" lIns="0" tIns="0" rIns="0" bIns="0" rtlCol="0" anchor="t"/>
          <a:lstStyle/>
          <a:p>
            <a:pPr indent="0" marL="0">
              <a:buNone/>
            </a:pPr>
            <a:r>
              <a:rPr lang="en-US" sz="1600" b="1" dirty="0">
                <a:solidFill>
                  <a:srgbClr val="1B2A44"/>
                </a:solidFill>
                <a:latin typeface="Calibri" pitchFamily="34" charset="0"/>
                <a:ea typeface="Calibri" pitchFamily="34" charset="-122"/>
                <a:cs typeface="Calibri" pitchFamily="34" charset="-120"/>
              </a:rPr>
              <a:t>12 systems × 4 envs</a:t>
            </a:r>
            <a:endParaRPr lang="en-US" sz="1600" dirty="0"/>
          </a:p>
        </p:txBody>
      </p:sp>
      <p:sp>
        <p:nvSpPr>
          <p:cNvPr id="17" name="Text 15"/>
          <p:cNvSpPr/>
          <p:nvPr/>
        </p:nvSpPr>
        <p:spPr>
          <a:xfrm>
            <a:off x="4572000" y="4709160"/>
            <a:ext cx="2971800" cy="731520"/>
          </a:xfrm>
          <a:prstGeom prst="rect">
            <a:avLst/>
          </a:prstGeom>
          <a:noFill/>
          <a:ln/>
        </p:spPr>
        <p:txBody>
          <a:bodyPr wrap="square" lIns="0" tIns="0" rIns="0" bIns="0" rtlCol="0" anchor="t"/>
          <a:lstStyle/>
          <a:p>
            <a:pPr indent="0" marL="0">
              <a:buNone/>
            </a:pPr>
            <a:r>
              <a:rPr lang="en-US" sz="1300" i="1" dirty="0">
                <a:solidFill>
                  <a:srgbClr val="5E7088"/>
                </a:solidFill>
                <a:latin typeface="Calibri" pitchFamily="34" charset="0"/>
                <a:ea typeface="Calibri" pitchFamily="34" charset="-122"/>
                <a:cs typeface="Calibri" pitchFamily="34" charset="-120"/>
              </a:rPr>
              <a:t>Is it competitive? What does each θ do?</a:t>
            </a:r>
            <a:endParaRPr lang="en-US" sz="1300" dirty="0"/>
          </a:p>
        </p:txBody>
      </p:sp>
      <p:sp>
        <p:nvSpPr>
          <p:cNvPr id="18" name="Text 16"/>
          <p:cNvSpPr/>
          <p:nvPr/>
        </p:nvSpPr>
        <p:spPr>
          <a:xfrm>
            <a:off x="7744968" y="4114800"/>
            <a:ext cx="411480" cy="548640"/>
          </a:xfrm>
          <a:prstGeom prst="rect">
            <a:avLst/>
          </a:prstGeom>
          <a:noFill/>
          <a:ln/>
        </p:spPr>
        <p:txBody>
          <a:bodyPr wrap="square" lIns="0" tIns="0" rIns="0" bIns="0" rtlCol="0" anchor="ctr"/>
          <a:lstStyle/>
          <a:p>
            <a:pPr algn="ctr" indent="0" marL="0">
              <a:buNone/>
            </a:pPr>
            <a:r>
              <a:rPr lang="en-US" sz="2600" b="1" dirty="0">
                <a:solidFill>
                  <a:srgbClr val="5E7088"/>
                </a:solidFill>
                <a:latin typeface="Calibri" pitchFamily="34" charset="0"/>
                <a:ea typeface="Calibri" pitchFamily="34" charset="-122"/>
                <a:cs typeface="Calibri" pitchFamily="34" charset="-120"/>
              </a:rPr>
              <a:t>→</a:t>
            </a:r>
            <a:endParaRPr lang="en-US" sz="2600" dirty="0"/>
          </a:p>
        </p:txBody>
      </p:sp>
      <p:sp>
        <p:nvSpPr>
          <p:cNvPr id="19" name="Shape 17"/>
          <p:cNvSpPr/>
          <p:nvPr/>
        </p:nvSpPr>
        <p:spPr>
          <a:xfrm>
            <a:off x="8138160" y="3291840"/>
            <a:ext cx="3429000" cy="2286000"/>
          </a:xfrm>
          <a:prstGeom prst="roundRect">
            <a:avLst>
              <a:gd name="adj" fmla="val 4800"/>
            </a:avLst>
          </a:prstGeom>
          <a:solidFill>
            <a:srgbClr val="FFFFFF"/>
          </a:solidFill>
          <a:ln w="25400">
            <a:solidFill>
              <a:srgbClr val="E6A23C"/>
            </a:solidFill>
            <a:prstDash val="solid"/>
          </a:ln>
        </p:spPr>
      </p:sp>
      <p:sp>
        <p:nvSpPr>
          <p:cNvPr id="20" name="Shape 18"/>
          <p:cNvSpPr/>
          <p:nvPr/>
        </p:nvSpPr>
        <p:spPr>
          <a:xfrm>
            <a:off x="8138160" y="3291840"/>
            <a:ext cx="3429000" cy="548640"/>
          </a:xfrm>
          <a:prstGeom prst="roundRect">
            <a:avLst>
              <a:gd name="adj" fmla="val 20000"/>
            </a:avLst>
          </a:prstGeom>
          <a:solidFill>
            <a:srgbClr val="E6A23C"/>
          </a:solidFill>
          <a:ln/>
        </p:spPr>
      </p:sp>
      <p:sp>
        <p:nvSpPr>
          <p:cNvPr id="21" name="Text 19"/>
          <p:cNvSpPr/>
          <p:nvPr/>
        </p:nvSpPr>
        <p:spPr>
          <a:xfrm>
            <a:off x="8138160" y="3291840"/>
            <a:ext cx="342900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STAGE 3</a:t>
            </a:r>
            <a:endParaRPr lang="en-US" sz="1600" dirty="0"/>
          </a:p>
        </p:txBody>
      </p:sp>
      <p:sp>
        <p:nvSpPr>
          <p:cNvPr id="22" name="Text 20"/>
          <p:cNvSpPr/>
          <p:nvPr/>
        </p:nvSpPr>
        <p:spPr>
          <a:xfrm>
            <a:off x="8366760" y="4023360"/>
            <a:ext cx="2971800" cy="640080"/>
          </a:xfrm>
          <a:prstGeom prst="rect">
            <a:avLst/>
          </a:prstGeom>
          <a:noFill/>
          <a:ln/>
        </p:spPr>
        <p:txBody>
          <a:bodyPr wrap="square" lIns="0" tIns="0" rIns="0" bIns="0" rtlCol="0" anchor="t"/>
          <a:lstStyle/>
          <a:p>
            <a:pPr indent="0" marL="0">
              <a:buNone/>
            </a:pPr>
            <a:r>
              <a:rPr lang="en-US" sz="1600" b="1" dirty="0">
                <a:solidFill>
                  <a:srgbClr val="1B2A44"/>
                </a:solidFill>
                <a:latin typeface="Calibri" pitchFamily="34" charset="0"/>
                <a:ea typeface="Calibri" pitchFamily="34" charset="-122"/>
                <a:cs typeface="Calibri" pitchFamily="34" charset="-120"/>
              </a:rPr>
              <a:t>6 real LLM benchmarks</a:t>
            </a:r>
            <a:endParaRPr lang="en-US" sz="1600" dirty="0"/>
          </a:p>
        </p:txBody>
      </p:sp>
      <p:sp>
        <p:nvSpPr>
          <p:cNvPr id="23" name="Text 21"/>
          <p:cNvSpPr/>
          <p:nvPr/>
        </p:nvSpPr>
        <p:spPr>
          <a:xfrm>
            <a:off x="8366760" y="4709160"/>
            <a:ext cx="2971800" cy="731520"/>
          </a:xfrm>
          <a:prstGeom prst="rect">
            <a:avLst/>
          </a:prstGeom>
          <a:noFill/>
          <a:ln/>
        </p:spPr>
        <p:txBody>
          <a:bodyPr wrap="square" lIns="0" tIns="0" rIns="0" bIns="0" rtlCol="0" anchor="t"/>
          <a:lstStyle/>
          <a:p>
            <a:pPr indent="0" marL="0">
              <a:buNone/>
            </a:pPr>
            <a:r>
              <a:rPr lang="en-US" sz="1300" i="1" dirty="0">
                <a:solidFill>
                  <a:srgbClr val="5E7088"/>
                </a:solidFill>
                <a:latin typeface="Calibri" pitchFamily="34" charset="0"/>
                <a:ea typeface="Calibri" pitchFamily="34" charset="-122"/>
                <a:cs typeface="Calibri" pitchFamily="34" charset="-120"/>
              </a:rPr>
              <a:t>Does it work on real corpus QA?</a:t>
            </a:r>
            <a:endParaRPr lang="en-US" sz="1300" dirty="0"/>
          </a:p>
        </p:txBody>
      </p:sp>
      <p:sp>
        <p:nvSpPr>
          <p:cNvPr id="24" name="Text 22"/>
          <p:cNvSpPr/>
          <p:nvPr/>
        </p:nvSpPr>
        <p:spPr>
          <a:xfrm>
            <a:off x="457200" y="6446520"/>
            <a:ext cx="9601200" cy="274320"/>
          </a:xfrm>
          <a:prstGeom prst="rect">
            <a:avLst/>
          </a:prstGeom>
          <a:noFill/>
          <a:ln/>
        </p:spPr>
        <p:txBody>
          <a:bodyPr wrap="square" lIns="0" tIns="0" rIns="0" bIns="0" rtlCol="0" anchor="ctr"/>
          <a:lstStyle/>
          <a:p>
            <a:pPr algn="l" indent="0" marL="0">
              <a:buNone/>
            </a:pPr>
            <a:r>
              <a:rPr lang="en-US" sz="900" dirty="0">
                <a:solidFill>
                  <a:srgbClr val="5E7088"/>
                </a:solidFill>
                <a:latin typeface="Calibri" pitchFamily="34" charset="0"/>
                <a:ea typeface="Calibri" pitchFamily="34" charset="-122"/>
                <a:cs typeface="Calibri" pitchFamily="34" charset="-120"/>
              </a:rPr>
              <a:t>Learnable Task-Adaptive Memory for LLM Agents  ·  S. Uifalean  ·  Bocconi MSc AI</a:t>
            </a:r>
            <a:endParaRPr lang="en-US" sz="900" dirty="0"/>
          </a:p>
        </p:txBody>
      </p:sp>
      <p:sp>
        <p:nvSpPr>
          <p:cNvPr id="25" name="Text 23"/>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E708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B6A6"/>
                </a:solidFill>
                <a:latin typeface="Calibri" pitchFamily="34" charset="0"/>
                <a:ea typeface="Calibri" pitchFamily="34" charset="-122"/>
                <a:cs typeface="Calibri" pitchFamily="34" charset="-120"/>
              </a:rPr>
              <a:t>STAGE 1 — GRID WORLDS</a:t>
            </a:r>
            <a:endParaRPr lang="en-US" sz="1200" dirty="0"/>
          </a:p>
        </p:txBody>
      </p:sp>
      <p:sp>
        <p:nvSpPr>
          <p:cNvPr id="3" name="Text 1"/>
          <p:cNvSpPr/>
          <p:nvPr/>
        </p:nvSpPr>
        <p:spPr>
          <a:xfrm>
            <a:off x="530352" y="658368"/>
            <a:ext cx="11064240" cy="822960"/>
          </a:xfrm>
          <a:prstGeom prst="rect">
            <a:avLst/>
          </a:prstGeom>
          <a:noFill/>
          <a:ln/>
        </p:spPr>
        <p:txBody>
          <a:bodyPr wrap="square" lIns="0" tIns="0" rIns="0" bIns="0" rtlCol="0" anchor="ctr"/>
          <a:lstStyle/>
          <a:p>
            <a:pPr indent="0" marL="0">
              <a:buNone/>
            </a:pPr>
            <a:r>
              <a:rPr lang="en-US" sz="3000" b="1" dirty="0">
                <a:solidFill>
                  <a:srgbClr val="1B2A44"/>
                </a:solidFill>
                <a:latin typeface="Cambria" pitchFamily="34" charset="0"/>
                <a:ea typeface="Cambria" pitchFamily="34" charset="-122"/>
                <a:cs typeface="Cambria" pitchFamily="34" charset="-120"/>
              </a:rPr>
              <a:t>The optimizer recovers a different θ for every task</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7315200" cy="914400"/>
        </p:xfrm>
        <a:graphic>
          <a:graphicData uri="http://schemas.openxmlformats.org/drawingml/2006/table">
            <a:tbl>
              <a:tblPr/>
              <a:tblGrid>
                <a:gridCol w="2103120"/>
                <a:gridCol w="3931920"/>
                <a:gridCol w="128016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Environment</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1229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Learned θ (store, entity, temporal)</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1229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Baseline → Learned</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12294A"/>
                    </a:solidFill>
                  </a:tcPr>
                </a:tc>
              </a:tr>
              <a:tr h="566928">
                <a:tc>
                  <a:txBody>
                    <a:bodyPr/>
                    <a:lstStyle/>
                    <a:p>
                      <a:pPr indent="0" marL="0">
                        <a:buNone/>
                      </a:pPr>
                      <a:r>
                        <a:rPr lang="en-US" sz="1300" dirty="0">
                          <a:solidFill>
                            <a:srgbClr val="1B2A44"/>
                          </a:solidFill>
                          <a:latin typeface="Calibri" pitchFamily="34" charset="0"/>
                          <a:ea typeface="Calibri" pitchFamily="34" charset="-122"/>
                          <a:cs typeface="Calibri" pitchFamily="34" charset="-120"/>
                        </a:rPr>
                        <a:t>Key-Door</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300" dirty="0">
                          <a:solidFill>
                            <a:srgbClr val="1B2A44"/>
                          </a:solidFill>
                          <a:latin typeface="Calibri" pitchFamily="34" charset="0"/>
                          <a:ea typeface="Calibri" pitchFamily="34" charset="-122"/>
                          <a:cs typeface="Calibri" pitchFamily="34" charset="-120"/>
                        </a:rPr>
                        <a:t>(0.12,  0.00,  0.82)   — discard, keep order</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44"/>
                          </a:solidFill>
                          <a:latin typeface="Calibri" pitchFamily="34" charset="0"/>
                          <a:ea typeface="Calibri" pitchFamily="34" charset="-122"/>
                          <a:cs typeface="Calibri" pitchFamily="34" charset="-120"/>
                        </a:rPr>
                        <a:t>17.5% → 30%</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B2A44"/>
                          </a:solidFill>
                          <a:latin typeface="Calibri" pitchFamily="34" charset="0"/>
                          <a:ea typeface="Calibri" pitchFamily="34" charset="-122"/>
                          <a:cs typeface="Calibri" pitchFamily="34" charset="-120"/>
                        </a:rPr>
                        <a:t>Goal-Room</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300" dirty="0">
                          <a:solidFill>
                            <a:srgbClr val="1B2A44"/>
                          </a:solidFill>
                          <a:latin typeface="Calibri" pitchFamily="34" charset="0"/>
                          <a:ea typeface="Calibri" pitchFamily="34" charset="-122"/>
                          <a:cs typeface="Calibri" pitchFamily="34" charset="-120"/>
                        </a:rPr>
                        <a:t>(1.00,  0.22,  1.00)   — store everything</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44"/>
                          </a:solidFill>
                          <a:latin typeface="Calibri" pitchFamily="34" charset="0"/>
                          <a:ea typeface="Calibri" pitchFamily="34" charset="-122"/>
                          <a:cs typeface="Calibri" pitchFamily="34" charset="-120"/>
                        </a:rPr>
                        <a:t>70% → 80%</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B2A44"/>
                          </a:solidFill>
                          <a:latin typeface="Calibri" pitchFamily="34" charset="0"/>
                          <a:ea typeface="Calibri" pitchFamily="34" charset="-122"/>
                          <a:cs typeface="Calibri" pitchFamily="34" charset="-120"/>
                        </a:rPr>
                        <a:t>MultiHopKeyDoor</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300" b="1" dirty="0">
                          <a:solidFill>
                            <a:srgbClr val="1B2A44"/>
                          </a:solidFill>
                          <a:latin typeface="Calibri" pitchFamily="34" charset="0"/>
                          <a:ea typeface="Calibri" pitchFamily="34" charset="-122"/>
                          <a:cs typeface="Calibri" pitchFamily="34" charset="-120"/>
                        </a:rPr>
                        <a:t>(1.00,  0.49,  0.84)</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6A23C"/>
                          </a:solidFill>
                          <a:latin typeface="Calibri" pitchFamily="34" charset="0"/>
                          <a:ea typeface="Calibri" pitchFamily="34" charset="-122"/>
                          <a:cs typeface="Calibri" pitchFamily="34" charset="-120"/>
                        </a:rPr>
                        <a:t>2.5% → 27.5%</a:t>
                      </a:r>
                      <a:endParaRPr lang="en-US" sz="1300" dirty="0">
                        <a:latin typeface="Calibri" charset="0"/>
                        <a:ea typeface="Calibri" charset="0"/>
                        <a:cs typeface="Calibri" charset="0"/>
                      </a:endParaRPr>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bl>
          </a:graphicData>
        </a:graphic>
      </p:graphicFrame>
      <p:sp>
        <p:nvSpPr>
          <p:cNvPr id="5" name="Shape 2"/>
          <p:cNvSpPr/>
          <p:nvPr/>
        </p:nvSpPr>
        <p:spPr>
          <a:xfrm>
            <a:off x="8229600" y="1828800"/>
            <a:ext cx="3383280" cy="2331720"/>
          </a:xfrm>
          <a:prstGeom prst="roundRect">
            <a:avLst>
              <a:gd name="adj" fmla="val 5490"/>
            </a:avLst>
          </a:prstGeom>
          <a:solidFill>
            <a:srgbClr val="12294A"/>
          </a:solidFill>
          <a:ln/>
        </p:spPr>
      </p:sp>
      <p:sp>
        <p:nvSpPr>
          <p:cNvPr id="6" name="Text 3"/>
          <p:cNvSpPr/>
          <p:nvPr/>
        </p:nvSpPr>
        <p:spPr>
          <a:xfrm>
            <a:off x="8229600" y="2148840"/>
            <a:ext cx="3383280" cy="822960"/>
          </a:xfrm>
          <a:prstGeom prst="rect">
            <a:avLst/>
          </a:prstGeom>
          <a:noFill/>
          <a:ln/>
        </p:spPr>
        <p:txBody>
          <a:bodyPr wrap="square" lIns="0" tIns="0" rIns="0" bIns="0" rtlCol="0" anchor="ctr"/>
          <a:lstStyle/>
          <a:p>
            <a:pPr algn="ctr" indent="0" marL="0">
              <a:buNone/>
            </a:pPr>
            <a:r>
              <a:rPr lang="en-US" sz="3000" b="1" dirty="0">
                <a:solidFill>
                  <a:srgbClr val="1FB6A6"/>
                </a:solidFill>
                <a:latin typeface="Cambria" pitchFamily="34" charset="0"/>
                <a:ea typeface="Cambria" pitchFamily="34" charset="-122"/>
                <a:cs typeface="Cambria" pitchFamily="34" charset="-120"/>
              </a:rPr>
              <a:t>2.5% → 27.5%</a:t>
            </a:r>
            <a:endParaRPr lang="en-US" sz="3000" dirty="0"/>
          </a:p>
        </p:txBody>
      </p:sp>
      <p:sp>
        <p:nvSpPr>
          <p:cNvPr id="7" name="Text 4"/>
          <p:cNvSpPr/>
          <p:nvPr/>
        </p:nvSpPr>
        <p:spPr>
          <a:xfrm>
            <a:off x="8412480" y="3063240"/>
            <a:ext cx="3017520" cy="822960"/>
          </a:xfrm>
          <a:prstGeom prst="rect">
            <a:avLst/>
          </a:prstGeom>
          <a:noFill/>
          <a:ln/>
        </p:spPr>
        <p:txBody>
          <a:bodyPr wrap="square" lIns="0" tIns="0" rIns="0" bIns="0" rtlCol="0" anchor="t"/>
          <a:lstStyle/>
          <a:p>
            <a:pPr algn="ctr" indent="0" marL="0">
              <a:buNone/>
            </a:pPr>
            <a:r>
              <a:rPr lang="en-US" sz="1300" i="1" dirty="0">
                <a:solidFill>
                  <a:srgbClr val="CADCFC"/>
                </a:solidFill>
                <a:latin typeface="Calibri" pitchFamily="34" charset="0"/>
                <a:ea typeface="Calibri" pitchFamily="34" charset="-122"/>
                <a:cs typeface="Calibri" pitchFamily="34" charset="-120"/>
              </a:rPr>
              <a:t>hardest task, learned vs. fixed memory  (+25 points)</a:t>
            </a:r>
            <a:endParaRPr lang="en-US" sz="1300" dirty="0"/>
          </a:p>
        </p:txBody>
      </p:sp>
      <p:sp>
        <p:nvSpPr>
          <p:cNvPr id="8" name="Text 5"/>
          <p:cNvSpPr/>
          <p:nvPr/>
        </p:nvSpPr>
        <p:spPr>
          <a:xfrm>
            <a:off x="548640" y="4663440"/>
            <a:ext cx="11064240" cy="1097280"/>
          </a:xfrm>
          <a:prstGeom prst="rect">
            <a:avLst/>
          </a:prstGeom>
          <a:noFill/>
          <a:ln/>
        </p:spPr>
        <p:txBody>
          <a:bodyPr wrap="square" lIns="0" tIns="0" rIns="0" bIns="0" rtlCol="0" anchor="t"/>
          <a:lstStyle/>
          <a:p>
            <a:pPr indent="0" marL="0">
              <a:buNone/>
            </a:pPr>
            <a:r>
              <a:rPr lang="en-US" sz="1500" dirty="0">
                <a:solidFill>
                  <a:srgbClr val="1B2A44"/>
                </a:solidFill>
                <a:latin typeface="Calibri" pitchFamily="34" charset="0"/>
                <a:ea typeface="Calibri" pitchFamily="34" charset="-122"/>
                <a:cs typeface="Calibri" pitchFamily="34" charset="-120"/>
              </a:rPr>
              <a:t>The headline is the difference between the vectors: Key-Door discards most events but preserves temporal order; Goal-Room stores everything. The optimal memory structure is genuinely task-dependent — the first, cleanest evidence for RQ2. (Single-seed proof of concept.)</a:t>
            </a:r>
            <a:endParaRPr lang="en-US" sz="1500" dirty="0"/>
          </a:p>
        </p:txBody>
      </p:sp>
      <p:sp>
        <p:nvSpPr>
          <p:cNvPr id="9" name="Text 6"/>
          <p:cNvSpPr/>
          <p:nvPr/>
        </p:nvSpPr>
        <p:spPr>
          <a:xfrm>
            <a:off x="457200" y="6446520"/>
            <a:ext cx="9601200" cy="274320"/>
          </a:xfrm>
          <a:prstGeom prst="rect">
            <a:avLst/>
          </a:prstGeom>
          <a:noFill/>
          <a:ln/>
        </p:spPr>
        <p:txBody>
          <a:bodyPr wrap="square" lIns="0" tIns="0" rIns="0" bIns="0" rtlCol="0" anchor="ctr"/>
          <a:lstStyle/>
          <a:p>
            <a:pPr algn="l" indent="0" marL="0">
              <a:buNone/>
            </a:pPr>
            <a:r>
              <a:rPr lang="en-US" sz="900" dirty="0">
                <a:solidFill>
                  <a:srgbClr val="5E7088"/>
                </a:solidFill>
                <a:latin typeface="Calibri" pitchFamily="34" charset="0"/>
                <a:ea typeface="Calibri" pitchFamily="34" charset="-122"/>
                <a:cs typeface="Calibri" pitchFamily="34" charset="-120"/>
              </a:rPr>
              <a:t>Learnable Task-Adaptive Memory for LLM Agents  ·  S. Uifalean  ·  Bocconi MSc AI</a:t>
            </a:r>
            <a:endParaRPr lang="en-US" sz="900" dirty="0"/>
          </a:p>
        </p:txBody>
      </p:sp>
      <p:sp>
        <p:nvSpPr>
          <p:cNvPr id="10" name="Text 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E708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B6A6"/>
                </a:solidFill>
                <a:latin typeface="Calibri" pitchFamily="34" charset="0"/>
                <a:ea typeface="Calibri" pitchFamily="34" charset="-122"/>
                <a:cs typeface="Calibri" pitchFamily="34" charset="-120"/>
              </a:rPr>
              <a:t>STAGE 2 — BENCHMARK, ABLATION, TRANSFER</a:t>
            </a:r>
            <a:endParaRPr lang="en-US" sz="1200" dirty="0"/>
          </a:p>
        </p:txBody>
      </p:sp>
      <p:sp>
        <p:nvSpPr>
          <p:cNvPr id="3" name="Text 1"/>
          <p:cNvSpPr/>
          <p:nvPr/>
        </p:nvSpPr>
        <p:spPr>
          <a:xfrm>
            <a:off x="530352" y="658368"/>
            <a:ext cx="11064240" cy="822960"/>
          </a:xfrm>
          <a:prstGeom prst="rect">
            <a:avLst/>
          </a:prstGeom>
          <a:noFill/>
          <a:ln/>
        </p:spPr>
        <p:txBody>
          <a:bodyPr wrap="square" lIns="0" tIns="0" rIns="0" bIns="0" rtlCol="0" anchor="ctr"/>
          <a:lstStyle/>
          <a:p>
            <a:pPr indent="0" marL="0">
              <a:buNone/>
            </a:pPr>
            <a:r>
              <a:rPr lang="en-US" sz="3000" b="1" dirty="0">
                <a:solidFill>
                  <a:srgbClr val="1B2A44"/>
                </a:solidFill>
                <a:latin typeface="Cambria" pitchFamily="34" charset="0"/>
                <a:ea typeface="Cambria" pitchFamily="34" charset="-122"/>
                <a:cs typeface="Cambria" pitchFamily="34" charset="-120"/>
              </a:rPr>
              <a:t>Competitive — and we can say exactly why</a:t>
            </a:r>
            <a:endParaRPr lang="en-US" sz="3000" dirty="0"/>
          </a:p>
        </p:txBody>
      </p:sp>
      <p:sp>
        <p:nvSpPr>
          <p:cNvPr id="4" name="Shape 2"/>
          <p:cNvSpPr/>
          <p:nvPr/>
        </p:nvSpPr>
        <p:spPr>
          <a:xfrm>
            <a:off x="548640" y="1828800"/>
            <a:ext cx="3566160" cy="2651760"/>
          </a:xfrm>
          <a:prstGeom prst="roundRect">
            <a:avLst>
              <a:gd name="adj" fmla="val 4138"/>
            </a:avLst>
          </a:prstGeom>
          <a:solidFill>
            <a:srgbClr val="F2F6FB"/>
          </a:solidFill>
          <a:ln w="12700">
            <a:solidFill>
              <a:srgbClr val="DCE5EF"/>
            </a:solidFill>
            <a:prstDash val="solid"/>
          </a:ln>
        </p:spPr>
      </p:sp>
      <p:sp>
        <p:nvSpPr>
          <p:cNvPr id="5" name="Text 3"/>
          <p:cNvSpPr/>
          <p:nvPr/>
        </p:nvSpPr>
        <p:spPr>
          <a:xfrm>
            <a:off x="777240" y="2011680"/>
            <a:ext cx="3108960" cy="320040"/>
          </a:xfrm>
          <a:prstGeom prst="rect">
            <a:avLst/>
          </a:prstGeom>
          <a:noFill/>
          <a:ln/>
        </p:spPr>
        <p:txBody>
          <a:bodyPr wrap="square" lIns="0" tIns="0" rIns="0" bIns="0" rtlCol="0" anchor="ctr"/>
          <a:lstStyle/>
          <a:p>
            <a:pPr indent="0" marL="0">
              <a:buNone/>
            </a:pPr>
            <a:r>
              <a:rPr lang="en-US" sz="1200" b="1" spc="100" kern="0" dirty="0">
                <a:solidFill>
                  <a:srgbClr val="1FB6A6"/>
                </a:solidFill>
                <a:latin typeface="Calibri" pitchFamily="34" charset="0"/>
                <a:ea typeface="Calibri" pitchFamily="34" charset="-122"/>
                <a:cs typeface="Calibri" pitchFamily="34" charset="-120"/>
              </a:rPr>
              <a:t>TOP CLUSTER</a:t>
            </a:r>
            <a:endParaRPr lang="en-US" sz="1200" dirty="0"/>
          </a:p>
        </p:txBody>
      </p:sp>
      <p:sp>
        <p:nvSpPr>
          <p:cNvPr id="6" name="Text 4"/>
          <p:cNvSpPr/>
          <p:nvPr/>
        </p:nvSpPr>
        <p:spPr>
          <a:xfrm>
            <a:off x="777240" y="2377440"/>
            <a:ext cx="3154680" cy="640080"/>
          </a:xfrm>
          <a:prstGeom prst="rect">
            <a:avLst/>
          </a:prstGeom>
          <a:noFill/>
          <a:ln/>
        </p:spPr>
        <p:txBody>
          <a:bodyPr wrap="square" lIns="0" tIns="0" rIns="0" bIns="0" rtlCol="0" anchor="t"/>
          <a:lstStyle/>
          <a:p>
            <a:pPr indent="0" marL="0">
              <a:buNone/>
            </a:pPr>
            <a:r>
              <a:rPr lang="en-US" sz="2100" b="1" dirty="0">
                <a:solidFill>
                  <a:srgbClr val="1B2A44"/>
                </a:solidFill>
                <a:latin typeface="Cambria" pitchFamily="34" charset="0"/>
                <a:ea typeface="Cambria" pitchFamily="34" charset="-122"/>
                <a:cs typeface="Cambria" pitchFamily="34" charset="-120"/>
              </a:rPr>
              <a:t>0.178 vs 0.173</a:t>
            </a:r>
            <a:endParaRPr lang="en-US" sz="2100" dirty="0"/>
          </a:p>
        </p:txBody>
      </p:sp>
      <p:sp>
        <p:nvSpPr>
          <p:cNvPr id="7" name="Text 5"/>
          <p:cNvSpPr/>
          <p:nvPr/>
        </p:nvSpPr>
        <p:spPr>
          <a:xfrm>
            <a:off x="777240" y="3108960"/>
            <a:ext cx="3154680" cy="1234440"/>
          </a:xfrm>
          <a:prstGeom prst="rect">
            <a:avLst/>
          </a:prstGeom>
          <a:noFill/>
          <a:ln/>
        </p:spPr>
        <p:txBody>
          <a:bodyPr wrap="square" lIns="0" tIns="0" rIns="0" bIns="0" rtlCol="0" anchor="t"/>
          <a:lstStyle/>
          <a:p>
            <a:pPr indent="0" marL="0">
              <a:buNone/>
            </a:pPr>
            <a:r>
              <a:rPr lang="en-US" sz="1300" dirty="0">
                <a:solidFill>
                  <a:srgbClr val="5E7088"/>
                </a:solidFill>
                <a:latin typeface="Calibri" pitchFamily="34" charset="0"/>
                <a:ea typeface="Calibri" pitchFamily="34" charset="-122"/>
                <a:cs typeface="Calibri" pitchFamily="34" charset="-120"/>
              </a:rPr>
              <a:t>a statistical tie with the strongest baseline — competitive, not uniquely best</a:t>
            </a:r>
            <a:endParaRPr lang="en-US" sz="1300" dirty="0"/>
          </a:p>
        </p:txBody>
      </p:sp>
      <p:sp>
        <p:nvSpPr>
          <p:cNvPr id="8" name="Shape 6"/>
          <p:cNvSpPr/>
          <p:nvPr/>
        </p:nvSpPr>
        <p:spPr>
          <a:xfrm>
            <a:off x="4343400" y="1828800"/>
            <a:ext cx="3566160" cy="2651760"/>
          </a:xfrm>
          <a:prstGeom prst="roundRect">
            <a:avLst>
              <a:gd name="adj" fmla="val 4138"/>
            </a:avLst>
          </a:prstGeom>
          <a:solidFill>
            <a:srgbClr val="F2F6FB"/>
          </a:solidFill>
          <a:ln w="12700">
            <a:solidFill>
              <a:srgbClr val="DCE5EF"/>
            </a:solidFill>
            <a:prstDash val="solid"/>
          </a:ln>
        </p:spPr>
      </p:sp>
      <p:sp>
        <p:nvSpPr>
          <p:cNvPr id="9" name="Text 7"/>
          <p:cNvSpPr/>
          <p:nvPr/>
        </p:nvSpPr>
        <p:spPr>
          <a:xfrm>
            <a:off x="4572000" y="2011680"/>
            <a:ext cx="3108960" cy="320040"/>
          </a:xfrm>
          <a:prstGeom prst="rect">
            <a:avLst/>
          </a:prstGeom>
          <a:noFill/>
          <a:ln/>
        </p:spPr>
        <p:txBody>
          <a:bodyPr wrap="square" lIns="0" tIns="0" rIns="0" bIns="0" rtlCol="0" anchor="ctr"/>
          <a:lstStyle/>
          <a:p>
            <a:pPr indent="0" marL="0">
              <a:buNone/>
            </a:pPr>
            <a:r>
              <a:rPr lang="en-US" sz="1200" b="1" spc="100" kern="0" dirty="0">
                <a:solidFill>
                  <a:srgbClr val="1FB6A6"/>
                </a:solidFill>
                <a:latin typeface="Calibri" pitchFamily="34" charset="0"/>
                <a:ea typeface="Calibri" pitchFamily="34" charset="-122"/>
                <a:cs typeface="Calibri" pitchFamily="34" charset="-120"/>
              </a:rPr>
              <a:t>LOAD-BEARING</a:t>
            </a:r>
            <a:endParaRPr lang="en-US" sz="1200" dirty="0"/>
          </a:p>
        </p:txBody>
      </p:sp>
      <p:sp>
        <p:nvSpPr>
          <p:cNvPr id="10" name="Text 8"/>
          <p:cNvSpPr/>
          <p:nvPr/>
        </p:nvSpPr>
        <p:spPr>
          <a:xfrm>
            <a:off x="4572000" y="2377440"/>
            <a:ext cx="3154680" cy="640080"/>
          </a:xfrm>
          <a:prstGeom prst="rect">
            <a:avLst/>
          </a:prstGeom>
          <a:noFill/>
          <a:ln/>
        </p:spPr>
        <p:txBody>
          <a:bodyPr wrap="square" lIns="0" tIns="0" rIns="0" bIns="0" rtlCol="0" anchor="t"/>
          <a:lstStyle/>
          <a:p>
            <a:pPr indent="0" marL="0">
              <a:buNone/>
            </a:pPr>
            <a:r>
              <a:rPr lang="en-US" sz="2100" b="1" dirty="0">
                <a:solidFill>
                  <a:srgbClr val="1B2A44"/>
                </a:solidFill>
                <a:latin typeface="Cambria" pitchFamily="34" charset="0"/>
                <a:ea typeface="Cambria" pitchFamily="34" charset="-122"/>
                <a:cs typeface="Cambria" pitchFamily="34" charset="-120"/>
              </a:rPr>
              <a:t>θ_novel</a:t>
            </a:r>
            <a:endParaRPr lang="en-US" sz="2100" dirty="0"/>
          </a:p>
        </p:txBody>
      </p:sp>
      <p:sp>
        <p:nvSpPr>
          <p:cNvPr id="11" name="Text 9"/>
          <p:cNvSpPr/>
          <p:nvPr/>
        </p:nvSpPr>
        <p:spPr>
          <a:xfrm>
            <a:off x="4572000" y="3108960"/>
            <a:ext cx="3154680" cy="1234440"/>
          </a:xfrm>
          <a:prstGeom prst="rect">
            <a:avLst/>
          </a:prstGeom>
          <a:noFill/>
          <a:ln/>
        </p:spPr>
        <p:txBody>
          <a:bodyPr wrap="square" lIns="0" tIns="0" rIns="0" bIns="0" rtlCol="0" anchor="t"/>
          <a:lstStyle/>
          <a:p>
            <a:pPr indent="0" marL="0">
              <a:buNone/>
            </a:pPr>
            <a:r>
              <a:rPr lang="en-US" sz="1300" dirty="0">
                <a:solidFill>
                  <a:srgbClr val="5E7088"/>
                </a:solidFill>
                <a:latin typeface="Calibri" pitchFamily="34" charset="0"/>
                <a:ea typeface="Calibri" pitchFamily="34" charset="-122"/>
                <a:cs typeface="Calibri" pitchFamily="34" charset="-120"/>
              </a:rPr>
              <a:t>zeroing it collapses reward to 0 — it gates the whole storage pipeline</a:t>
            </a:r>
            <a:endParaRPr lang="en-US" sz="1300" dirty="0"/>
          </a:p>
        </p:txBody>
      </p:sp>
      <p:sp>
        <p:nvSpPr>
          <p:cNvPr id="12" name="Shape 10"/>
          <p:cNvSpPr/>
          <p:nvPr/>
        </p:nvSpPr>
        <p:spPr>
          <a:xfrm>
            <a:off x="8138160" y="1828800"/>
            <a:ext cx="3566160" cy="2651760"/>
          </a:xfrm>
          <a:prstGeom prst="roundRect">
            <a:avLst>
              <a:gd name="adj" fmla="val 4138"/>
            </a:avLst>
          </a:prstGeom>
          <a:solidFill>
            <a:srgbClr val="F2F6FB"/>
          </a:solidFill>
          <a:ln w="12700">
            <a:solidFill>
              <a:srgbClr val="DCE5EF"/>
            </a:solidFill>
            <a:prstDash val="solid"/>
          </a:ln>
        </p:spPr>
      </p:sp>
      <p:sp>
        <p:nvSpPr>
          <p:cNvPr id="13" name="Text 11"/>
          <p:cNvSpPr/>
          <p:nvPr/>
        </p:nvSpPr>
        <p:spPr>
          <a:xfrm>
            <a:off x="8366760" y="2011680"/>
            <a:ext cx="3108960" cy="320040"/>
          </a:xfrm>
          <a:prstGeom prst="rect">
            <a:avLst/>
          </a:prstGeom>
          <a:noFill/>
          <a:ln/>
        </p:spPr>
        <p:txBody>
          <a:bodyPr wrap="square" lIns="0" tIns="0" rIns="0" bIns="0" rtlCol="0" anchor="ctr"/>
          <a:lstStyle/>
          <a:p>
            <a:pPr indent="0" marL="0">
              <a:buNone/>
            </a:pPr>
            <a:r>
              <a:rPr lang="en-US" sz="1200" b="1" spc="100" kern="0" dirty="0">
                <a:solidFill>
                  <a:srgbClr val="1FB6A6"/>
                </a:solidFill>
                <a:latin typeface="Calibri" pitchFamily="34" charset="0"/>
                <a:ea typeface="Calibri" pitchFamily="34" charset="-122"/>
                <a:cs typeface="Calibri" pitchFamily="34" charset="-120"/>
              </a:rPr>
              <a:t>HONEST NEGATIVE</a:t>
            </a:r>
            <a:endParaRPr lang="en-US" sz="1200" dirty="0"/>
          </a:p>
        </p:txBody>
      </p:sp>
      <p:sp>
        <p:nvSpPr>
          <p:cNvPr id="14" name="Text 12"/>
          <p:cNvSpPr/>
          <p:nvPr/>
        </p:nvSpPr>
        <p:spPr>
          <a:xfrm>
            <a:off x="8366760" y="2377440"/>
            <a:ext cx="3154680" cy="640080"/>
          </a:xfrm>
          <a:prstGeom prst="rect">
            <a:avLst/>
          </a:prstGeom>
          <a:noFill/>
          <a:ln/>
        </p:spPr>
        <p:txBody>
          <a:bodyPr wrap="square" lIns="0" tIns="0" rIns="0" bIns="0" rtlCol="0" anchor="t"/>
          <a:lstStyle/>
          <a:p>
            <a:pPr indent="0" marL="0">
              <a:buNone/>
            </a:pPr>
            <a:r>
              <a:rPr lang="en-US" sz="2100" b="1" dirty="0">
                <a:solidFill>
                  <a:srgbClr val="1B2A44"/>
                </a:solidFill>
                <a:latin typeface="Cambria" pitchFamily="34" charset="0"/>
                <a:ea typeface="Cambria" pitchFamily="34" charset="-122"/>
                <a:cs typeface="Cambria" pitchFamily="34" charset="-120"/>
              </a:rPr>
              <a:t>inert at retrieval</a:t>
            </a:r>
            <a:endParaRPr lang="en-US" sz="2100" dirty="0"/>
          </a:p>
        </p:txBody>
      </p:sp>
      <p:sp>
        <p:nvSpPr>
          <p:cNvPr id="15" name="Text 13"/>
          <p:cNvSpPr/>
          <p:nvPr/>
        </p:nvSpPr>
        <p:spPr>
          <a:xfrm>
            <a:off x="8366760" y="3108960"/>
            <a:ext cx="3154680" cy="1234440"/>
          </a:xfrm>
          <a:prstGeom prst="rect">
            <a:avLst/>
          </a:prstGeom>
          <a:noFill/>
          <a:ln/>
        </p:spPr>
        <p:txBody>
          <a:bodyPr wrap="square" lIns="0" tIns="0" rIns="0" bIns="0" rtlCol="0" anchor="t"/>
          <a:lstStyle/>
          <a:p>
            <a:pPr indent="0" marL="0">
              <a:buNone/>
            </a:pPr>
            <a:r>
              <a:rPr lang="en-US" sz="1300" dirty="0">
                <a:solidFill>
                  <a:srgbClr val="5E7088"/>
                </a:solidFill>
                <a:latin typeface="Calibri" pitchFamily="34" charset="0"/>
                <a:ea typeface="Calibri" pitchFamily="34" charset="-122"/>
                <a:cs typeface="Calibri" pitchFamily="34" charset="-120"/>
              </a:rPr>
              <a:t>the w_graph weight carries no measurable retrieval load on our benchmarks — the graph still scaffolds storage &amp; abstraction</a:t>
            </a:r>
            <a:endParaRPr lang="en-US" sz="1300" dirty="0"/>
          </a:p>
        </p:txBody>
      </p:sp>
      <p:sp>
        <p:nvSpPr>
          <p:cNvPr id="16" name="Shape 14"/>
          <p:cNvSpPr/>
          <p:nvPr/>
        </p:nvSpPr>
        <p:spPr>
          <a:xfrm>
            <a:off x="548640" y="4709160"/>
            <a:ext cx="11064240" cy="1051560"/>
          </a:xfrm>
          <a:prstGeom prst="roundRect">
            <a:avLst>
              <a:gd name="adj" fmla="val 8696"/>
            </a:avLst>
          </a:prstGeom>
          <a:solidFill>
            <a:srgbClr val="12294A"/>
          </a:solidFill>
          <a:ln/>
        </p:spPr>
      </p:sp>
      <p:sp>
        <p:nvSpPr>
          <p:cNvPr id="17" name="Text 15"/>
          <p:cNvSpPr/>
          <p:nvPr/>
        </p:nvSpPr>
        <p:spPr>
          <a:xfrm>
            <a:off x="822960" y="4937760"/>
            <a:ext cx="10515600" cy="640080"/>
          </a:xfrm>
          <a:prstGeom prst="rect">
            <a:avLst/>
          </a:prstGeom>
          <a:noFill/>
          <a:ln/>
        </p:spPr>
        <p:txBody>
          <a:bodyPr wrap="square" lIns="0" tIns="0" rIns="0" bIns="0" rtlCol="0" anchor="ctr"/>
          <a:lstStyle/>
          <a:p>
            <a:pPr indent="0" marL="0">
              <a:buNone/>
            </a:pPr>
            <a:r>
              <a:rPr lang="en-US" sz="1450" b="1" dirty="0">
                <a:solidFill>
                  <a:srgbClr val="1FB6A6"/>
                </a:solidFill>
                <a:latin typeface="Calibri" pitchFamily="34" charset="0"/>
                <a:ea typeface="Calibri" pitchFamily="34" charset="-122"/>
                <a:cs typeface="Calibri" pitchFamily="34" charset="-120"/>
              </a:rPr>
              <a:t>Also:  </a:t>
            </a:r>
            <a:pPr indent="0" marL="0">
              <a:buNone/>
            </a:pPr>
            <a:r>
              <a:rPr lang="en-US" sz="1450" dirty="0">
                <a:solidFill>
                  <a:srgbClr val="FFFFFF"/>
                </a:solidFill>
                <a:latin typeface="Calibri" pitchFamily="34" charset="0"/>
                <a:ea typeface="Calibri" pitchFamily="34" charset="-122"/>
                <a:cs typeface="Calibri" pitchFamily="34" charset="-120"/>
              </a:rPr>
              <a:t>a ~2,000-parameter neural controller, given the same search budget, </a:t>
            </a:r>
            <a:pPr indent="0" marL="0">
              <a:buNone/>
            </a:pPr>
            <a:r>
              <a:rPr lang="en-US" sz="1450" b="1" dirty="0">
                <a:solidFill>
                  <a:srgbClr val="FFFFFF"/>
                </a:solidFill>
                <a:latin typeface="Calibri" pitchFamily="34" charset="0"/>
                <a:ea typeface="Calibri" pitchFamily="34" charset="-122"/>
                <a:cs typeface="Calibri" pitchFamily="34" charset="-120"/>
              </a:rPr>
              <a:t>matches but does not beat</a:t>
            </a:r>
            <a:pPr indent="0" marL="0">
              <a:buNone/>
            </a:pPr>
            <a:r>
              <a:rPr lang="en-US" sz="1450" dirty="0">
                <a:solidFill>
                  <a:srgbClr val="CADCFC"/>
                </a:solidFill>
                <a:latin typeface="Calibri" pitchFamily="34" charset="0"/>
                <a:ea typeface="Calibri" pitchFamily="34" charset="-122"/>
                <a:cs typeface="Calibri" pitchFamily="34" charset="-120"/>
              </a:rPr>
              <a:t> the ten scalars — so a small interpretable θ is a strong, cheap baseline.</a:t>
            </a:r>
            <a:endParaRPr lang="en-US" sz="1450" dirty="0"/>
          </a:p>
        </p:txBody>
      </p:sp>
      <p:sp>
        <p:nvSpPr>
          <p:cNvPr id="18" name="Text 16"/>
          <p:cNvSpPr/>
          <p:nvPr/>
        </p:nvSpPr>
        <p:spPr>
          <a:xfrm>
            <a:off x="457200" y="6446520"/>
            <a:ext cx="9601200" cy="274320"/>
          </a:xfrm>
          <a:prstGeom prst="rect">
            <a:avLst/>
          </a:prstGeom>
          <a:noFill/>
          <a:ln/>
        </p:spPr>
        <p:txBody>
          <a:bodyPr wrap="square" lIns="0" tIns="0" rIns="0" bIns="0" rtlCol="0" anchor="ctr"/>
          <a:lstStyle/>
          <a:p>
            <a:pPr algn="l" indent="0" marL="0">
              <a:buNone/>
            </a:pPr>
            <a:r>
              <a:rPr lang="en-US" sz="900" dirty="0">
                <a:solidFill>
                  <a:srgbClr val="5E7088"/>
                </a:solidFill>
                <a:latin typeface="Calibri" pitchFamily="34" charset="0"/>
                <a:ea typeface="Calibri" pitchFamily="34" charset="-122"/>
                <a:cs typeface="Calibri" pitchFamily="34" charset="-120"/>
              </a:rPr>
              <a:t>Learnable Task-Adaptive Memory for LLM Agents  ·  S. Uifalean  ·  Bocconi MSc AI</a:t>
            </a:r>
            <a:endParaRPr lang="en-US" sz="900" dirty="0"/>
          </a:p>
        </p:txBody>
      </p:sp>
      <p:sp>
        <p:nvSpPr>
          <p:cNvPr id="19" name="Text 17"/>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E708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B6A6"/>
                </a:solidFill>
                <a:latin typeface="Calibri" pitchFamily="34" charset="0"/>
                <a:ea typeface="Calibri" pitchFamily="34" charset="-122"/>
                <a:cs typeface="Calibri" pitchFamily="34" charset="-120"/>
              </a:rPr>
              <a:t>STAGE 3 — SETUP</a:t>
            </a:r>
            <a:endParaRPr lang="en-US" sz="1200" dirty="0"/>
          </a:p>
        </p:txBody>
      </p:sp>
      <p:sp>
        <p:nvSpPr>
          <p:cNvPr id="3" name="Text 1"/>
          <p:cNvSpPr/>
          <p:nvPr/>
        </p:nvSpPr>
        <p:spPr>
          <a:xfrm>
            <a:off x="530352" y="658368"/>
            <a:ext cx="11064240" cy="822960"/>
          </a:xfrm>
          <a:prstGeom prst="rect">
            <a:avLst/>
          </a:prstGeom>
          <a:noFill/>
          <a:ln/>
        </p:spPr>
        <p:txBody>
          <a:bodyPr wrap="square" lIns="0" tIns="0" rIns="0" bIns="0" rtlCol="0" anchor="ctr"/>
          <a:lstStyle/>
          <a:p>
            <a:pPr indent="0" marL="0">
              <a:buNone/>
            </a:pPr>
            <a:r>
              <a:rPr lang="en-US" sz="3000" b="1" dirty="0">
                <a:solidFill>
                  <a:srgbClr val="1B2A44"/>
                </a:solidFill>
                <a:latin typeface="Cambria" pitchFamily="34" charset="0"/>
                <a:ea typeface="Cambria" pitchFamily="34" charset="-122"/>
                <a:cs typeface="Cambria" pitchFamily="34" charset="-120"/>
              </a:rPr>
              <a:t>Real LLMs, corpus-cumulative QA, cross-vendor judge</a:t>
            </a:r>
            <a:endParaRPr lang="en-US" sz="3000" dirty="0"/>
          </a:p>
        </p:txBody>
      </p:sp>
      <p:sp>
        <p:nvSpPr>
          <p:cNvPr id="4" name="Shape 2"/>
          <p:cNvSpPr/>
          <p:nvPr/>
        </p:nvSpPr>
        <p:spPr>
          <a:xfrm>
            <a:off x="548640" y="1783080"/>
            <a:ext cx="3566160" cy="1371600"/>
          </a:xfrm>
          <a:prstGeom prst="roundRect">
            <a:avLst>
              <a:gd name="adj" fmla="val 8000"/>
            </a:avLst>
          </a:prstGeom>
          <a:solidFill>
            <a:srgbClr val="F2F6FB"/>
          </a:solidFill>
          <a:ln w="12700">
            <a:solidFill>
              <a:srgbClr val="DCE5EF"/>
            </a:solidFill>
            <a:prstDash val="solid"/>
          </a:ln>
        </p:spPr>
      </p:sp>
      <p:sp>
        <p:nvSpPr>
          <p:cNvPr id="5" name="Text 3"/>
          <p:cNvSpPr/>
          <p:nvPr/>
        </p:nvSpPr>
        <p:spPr>
          <a:xfrm>
            <a:off x="777240" y="1938528"/>
            <a:ext cx="3108960" cy="274320"/>
          </a:xfrm>
          <a:prstGeom prst="rect">
            <a:avLst/>
          </a:prstGeom>
          <a:noFill/>
          <a:ln/>
        </p:spPr>
        <p:txBody>
          <a:bodyPr wrap="square" lIns="0" tIns="0" rIns="0" bIns="0" rtlCol="0" anchor="ctr"/>
          <a:lstStyle/>
          <a:p>
            <a:pPr indent="0" marL="0">
              <a:buNone/>
            </a:pPr>
            <a:r>
              <a:rPr lang="en-US" sz="1150" b="1" spc="100" kern="0" dirty="0">
                <a:solidFill>
                  <a:srgbClr val="1FB6A6"/>
                </a:solidFill>
                <a:latin typeface="Calibri" pitchFamily="34" charset="0"/>
                <a:ea typeface="Calibri" pitchFamily="34" charset="-122"/>
                <a:cs typeface="Calibri" pitchFamily="34" charset="-120"/>
              </a:rPr>
              <a:t>ANSWERER</a:t>
            </a:r>
            <a:endParaRPr lang="en-US" sz="1150" dirty="0"/>
          </a:p>
        </p:txBody>
      </p:sp>
      <p:sp>
        <p:nvSpPr>
          <p:cNvPr id="6" name="Text 4"/>
          <p:cNvSpPr/>
          <p:nvPr/>
        </p:nvSpPr>
        <p:spPr>
          <a:xfrm>
            <a:off x="777240" y="2240280"/>
            <a:ext cx="3154680" cy="457200"/>
          </a:xfrm>
          <a:prstGeom prst="rect">
            <a:avLst/>
          </a:prstGeom>
          <a:noFill/>
          <a:ln/>
        </p:spPr>
        <p:txBody>
          <a:bodyPr wrap="square" lIns="0" tIns="0" rIns="0" bIns="0" rtlCol="0" anchor="ctr"/>
          <a:lstStyle/>
          <a:p>
            <a:pPr indent="0" marL="0">
              <a:buNone/>
            </a:pPr>
            <a:r>
              <a:rPr lang="en-US" sz="1800" b="1" dirty="0">
                <a:solidFill>
                  <a:srgbClr val="1B2A44"/>
                </a:solidFill>
                <a:latin typeface="Cambria" pitchFamily="34" charset="0"/>
                <a:ea typeface="Cambria" pitchFamily="34" charset="-122"/>
                <a:cs typeface="Cambria" pitchFamily="34" charset="-120"/>
              </a:rPr>
              <a:t>gpt-4o-mini</a:t>
            </a:r>
            <a:endParaRPr lang="en-US" sz="1800" dirty="0"/>
          </a:p>
        </p:txBody>
      </p:sp>
      <p:sp>
        <p:nvSpPr>
          <p:cNvPr id="7" name="Text 5"/>
          <p:cNvSpPr/>
          <p:nvPr/>
        </p:nvSpPr>
        <p:spPr>
          <a:xfrm>
            <a:off x="777240" y="2724912"/>
            <a:ext cx="3154680" cy="320040"/>
          </a:xfrm>
          <a:prstGeom prst="rect">
            <a:avLst/>
          </a:prstGeom>
          <a:noFill/>
          <a:ln/>
        </p:spPr>
        <p:txBody>
          <a:bodyPr wrap="square" lIns="0" tIns="0" rIns="0" bIns="0" rtlCol="0" anchor="ctr"/>
          <a:lstStyle/>
          <a:p>
            <a:pPr indent="0" marL="0">
              <a:buNone/>
            </a:pPr>
            <a:r>
              <a:rPr lang="en-US" sz="1200" i="1" dirty="0">
                <a:solidFill>
                  <a:srgbClr val="5E7088"/>
                </a:solidFill>
                <a:latin typeface="Calibri" pitchFamily="34" charset="0"/>
                <a:ea typeface="Calibri" pitchFamily="34" charset="-122"/>
                <a:cs typeface="Calibri" pitchFamily="34" charset="-120"/>
              </a:rPr>
              <a:t>temperature 0</a:t>
            </a:r>
            <a:endParaRPr lang="en-US" sz="1200" dirty="0"/>
          </a:p>
        </p:txBody>
      </p:sp>
      <p:sp>
        <p:nvSpPr>
          <p:cNvPr id="8" name="Shape 6"/>
          <p:cNvSpPr/>
          <p:nvPr/>
        </p:nvSpPr>
        <p:spPr>
          <a:xfrm>
            <a:off x="4343400" y="1783080"/>
            <a:ext cx="3566160" cy="1371600"/>
          </a:xfrm>
          <a:prstGeom prst="roundRect">
            <a:avLst>
              <a:gd name="adj" fmla="val 8000"/>
            </a:avLst>
          </a:prstGeom>
          <a:solidFill>
            <a:srgbClr val="F2F6FB"/>
          </a:solidFill>
          <a:ln w="12700">
            <a:solidFill>
              <a:srgbClr val="DCE5EF"/>
            </a:solidFill>
            <a:prstDash val="solid"/>
          </a:ln>
        </p:spPr>
      </p:sp>
      <p:sp>
        <p:nvSpPr>
          <p:cNvPr id="9" name="Text 7"/>
          <p:cNvSpPr/>
          <p:nvPr/>
        </p:nvSpPr>
        <p:spPr>
          <a:xfrm>
            <a:off x="4572000" y="1938528"/>
            <a:ext cx="3108960" cy="274320"/>
          </a:xfrm>
          <a:prstGeom prst="rect">
            <a:avLst/>
          </a:prstGeom>
          <a:noFill/>
          <a:ln/>
        </p:spPr>
        <p:txBody>
          <a:bodyPr wrap="square" lIns="0" tIns="0" rIns="0" bIns="0" rtlCol="0" anchor="ctr"/>
          <a:lstStyle/>
          <a:p>
            <a:pPr indent="0" marL="0">
              <a:buNone/>
            </a:pPr>
            <a:r>
              <a:rPr lang="en-US" sz="1150" b="1" spc="100" kern="0" dirty="0">
                <a:solidFill>
                  <a:srgbClr val="1FB6A6"/>
                </a:solidFill>
                <a:latin typeface="Calibri" pitchFamily="34" charset="0"/>
                <a:ea typeface="Calibri" pitchFamily="34" charset="-122"/>
                <a:cs typeface="Calibri" pitchFamily="34" charset="-120"/>
              </a:rPr>
              <a:t>ENCODER</a:t>
            </a:r>
            <a:endParaRPr lang="en-US" sz="1150" dirty="0"/>
          </a:p>
        </p:txBody>
      </p:sp>
      <p:sp>
        <p:nvSpPr>
          <p:cNvPr id="10" name="Text 8"/>
          <p:cNvSpPr/>
          <p:nvPr/>
        </p:nvSpPr>
        <p:spPr>
          <a:xfrm>
            <a:off x="4572000" y="2240280"/>
            <a:ext cx="3154680" cy="457200"/>
          </a:xfrm>
          <a:prstGeom prst="rect">
            <a:avLst/>
          </a:prstGeom>
          <a:noFill/>
          <a:ln/>
        </p:spPr>
        <p:txBody>
          <a:bodyPr wrap="square" lIns="0" tIns="0" rIns="0" bIns="0" rtlCol="0" anchor="ctr"/>
          <a:lstStyle/>
          <a:p>
            <a:pPr indent="0" marL="0">
              <a:buNone/>
            </a:pPr>
            <a:r>
              <a:rPr lang="en-US" sz="1800" b="1" dirty="0">
                <a:solidFill>
                  <a:srgbClr val="1B2A44"/>
                </a:solidFill>
                <a:latin typeface="Cambria" pitchFamily="34" charset="0"/>
                <a:ea typeface="Cambria" pitchFamily="34" charset="-122"/>
                <a:cs typeface="Cambria" pitchFamily="34" charset="-120"/>
              </a:rPr>
              <a:t>MiniLM</a:t>
            </a:r>
            <a:endParaRPr lang="en-US" sz="1800" dirty="0"/>
          </a:p>
        </p:txBody>
      </p:sp>
      <p:sp>
        <p:nvSpPr>
          <p:cNvPr id="11" name="Text 9"/>
          <p:cNvSpPr/>
          <p:nvPr/>
        </p:nvSpPr>
        <p:spPr>
          <a:xfrm>
            <a:off x="4572000" y="2724912"/>
            <a:ext cx="3154680" cy="320040"/>
          </a:xfrm>
          <a:prstGeom prst="rect">
            <a:avLst/>
          </a:prstGeom>
          <a:noFill/>
          <a:ln/>
        </p:spPr>
        <p:txBody>
          <a:bodyPr wrap="square" lIns="0" tIns="0" rIns="0" bIns="0" rtlCol="0" anchor="ctr"/>
          <a:lstStyle/>
          <a:p>
            <a:pPr indent="0" marL="0">
              <a:buNone/>
            </a:pPr>
            <a:r>
              <a:rPr lang="en-US" sz="1200" i="1" dirty="0">
                <a:solidFill>
                  <a:srgbClr val="5E7088"/>
                </a:solidFill>
                <a:latin typeface="Calibri" pitchFamily="34" charset="0"/>
                <a:ea typeface="Calibri" pitchFamily="34" charset="-122"/>
                <a:cs typeface="Calibri" pitchFamily="34" charset="-120"/>
              </a:rPr>
              <a:t>all-MiniLM-L6-v2</a:t>
            </a:r>
            <a:endParaRPr lang="en-US" sz="1200" dirty="0"/>
          </a:p>
        </p:txBody>
      </p:sp>
      <p:sp>
        <p:nvSpPr>
          <p:cNvPr id="12" name="Shape 10"/>
          <p:cNvSpPr/>
          <p:nvPr/>
        </p:nvSpPr>
        <p:spPr>
          <a:xfrm>
            <a:off x="8138160" y="1783080"/>
            <a:ext cx="3566160" cy="1371600"/>
          </a:xfrm>
          <a:prstGeom prst="roundRect">
            <a:avLst>
              <a:gd name="adj" fmla="val 8000"/>
            </a:avLst>
          </a:prstGeom>
          <a:solidFill>
            <a:srgbClr val="F2F6FB"/>
          </a:solidFill>
          <a:ln w="12700">
            <a:solidFill>
              <a:srgbClr val="DCE5EF"/>
            </a:solidFill>
            <a:prstDash val="solid"/>
          </a:ln>
        </p:spPr>
      </p:sp>
      <p:sp>
        <p:nvSpPr>
          <p:cNvPr id="13" name="Text 11"/>
          <p:cNvSpPr/>
          <p:nvPr/>
        </p:nvSpPr>
        <p:spPr>
          <a:xfrm>
            <a:off x="8366760" y="1938528"/>
            <a:ext cx="3108960" cy="274320"/>
          </a:xfrm>
          <a:prstGeom prst="rect">
            <a:avLst/>
          </a:prstGeom>
          <a:noFill/>
          <a:ln/>
        </p:spPr>
        <p:txBody>
          <a:bodyPr wrap="square" lIns="0" tIns="0" rIns="0" bIns="0" rtlCol="0" anchor="ctr"/>
          <a:lstStyle/>
          <a:p>
            <a:pPr indent="0" marL="0">
              <a:buNone/>
            </a:pPr>
            <a:r>
              <a:rPr lang="en-US" sz="1150" b="1" spc="100" kern="0" dirty="0">
                <a:solidFill>
                  <a:srgbClr val="1FB6A6"/>
                </a:solidFill>
                <a:latin typeface="Calibri" pitchFamily="34" charset="0"/>
                <a:ea typeface="Calibri" pitchFamily="34" charset="-122"/>
                <a:cs typeface="Calibri" pitchFamily="34" charset="-120"/>
              </a:rPr>
              <a:t>JUDGE</a:t>
            </a:r>
            <a:endParaRPr lang="en-US" sz="1150" dirty="0"/>
          </a:p>
        </p:txBody>
      </p:sp>
      <p:sp>
        <p:nvSpPr>
          <p:cNvPr id="14" name="Text 12"/>
          <p:cNvSpPr/>
          <p:nvPr/>
        </p:nvSpPr>
        <p:spPr>
          <a:xfrm>
            <a:off x="8366760" y="2240280"/>
            <a:ext cx="3154680" cy="457200"/>
          </a:xfrm>
          <a:prstGeom prst="rect">
            <a:avLst/>
          </a:prstGeom>
          <a:noFill/>
          <a:ln/>
        </p:spPr>
        <p:txBody>
          <a:bodyPr wrap="square" lIns="0" tIns="0" rIns="0" bIns="0" rtlCol="0" anchor="ctr"/>
          <a:lstStyle/>
          <a:p>
            <a:pPr indent="0" marL="0">
              <a:buNone/>
            </a:pPr>
            <a:r>
              <a:rPr lang="en-US" sz="1800" b="1" dirty="0">
                <a:solidFill>
                  <a:srgbClr val="1B2A44"/>
                </a:solidFill>
                <a:latin typeface="Cambria" pitchFamily="34" charset="0"/>
                <a:ea typeface="Cambria" pitchFamily="34" charset="-122"/>
                <a:cs typeface="Cambria" pitchFamily="34" charset="-120"/>
              </a:rPr>
              <a:t>Claude, 1-by-1</a:t>
            </a:r>
            <a:endParaRPr lang="en-US" sz="1800" dirty="0"/>
          </a:p>
        </p:txBody>
      </p:sp>
      <p:sp>
        <p:nvSpPr>
          <p:cNvPr id="15" name="Text 13"/>
          <p:cNvSpPr/>
          <p:nvPr/>
        </p:nvSpPr>
        <p:spPr>
          <a:xfrm>
            <a:off x="8366760" y="2724912"/>
            <a:ext cx="3154680" cy="320040"/>
          </a:xfrm>
          <a:prstGeom prst="rect">
            <a:avLst/>
          </a:prstGeom>
          <a:noFill/>
          <a:ln/>
        </p:spPr>
        <p:txBody>
          <a:bodyPr wrap="square" lIns="0" tIns="0" rIns="0" bIns="0" rtlCol="0" anchor="ctr"/>
          <a:lstStyle/>
          <a:p>
            <a:pPr indent="0" marL="0">
              <a:buNone/>
            </a:pPr>
            <a:r>
              <a:rPr lang="en-US" sz="1200" i="1" dirty="0">
                <a:solidFill>
                  <a:srgbClr val="5E7088"/>
                </a:solidFill>
                <a:latin typeface="Calibri" pitchFamily="34" charset="0"/>
                <a:ea typeface="Calibri" pitchFamily="34" charset="-122"/>
                <a:cs typeface="Calibri" pitchFamily="34" charset="-120"/>
              </a:rPr>
              <a:t>cross-vendor, 5-point rubric</a:t>
            </a:r>
            <a:endParaRPr lang="en-US" sz="1200" dirty="0"/>
          </a:p>
        </p:txBody>
      </p:sp>
      <p:sp>
        <p:nvSpPr>
          <p:cNvPr id="16" name="Text 14"/>
          <p:cNvSpPr/>
          <p:nvPr/>
        </p:nvSpPr>
        <p:spPr>
          <a:xfrm>
            <a:off x="548640" y="3383280"/>
            <a:ext cx="11064240" cy="457200"/>
          </a:xfrm>
          <a:prstGeom prst="rect">
            <a:avLst/>
          </a:prstGeom>
          <a:noFill/>
          <a:ln/>
        </p:spPr>
        <p:txBody>
          <a:bodyPr wrap="square" lIns="0" tIns="0" rIns="0" bIns="0" rtlCol="0" anchor="ctr"/>
          <a:lstStyle/>
          <a:p>
            <a:pPr indent="0" marL="0">
              <a:buNone/>
            </a:pPr>
            <a:r>
              <a:rPr lang="en-US" sz="1450" dirty="0">
                <a:solidFill>
                  <a:srgbClr val="1B2A44"/>
                </a:solidFill>
                <a:latin typeface="Calibri" pitchFamily="34" charset="0"/>
                <a:ea typeface="Calibri" pitchFamily="34" charset="-122"/>
                <a:cs typeface="Calibri" pitchFamily="34" charset="-120"/>
              </a:rPr>
              <a:t>θ is re-tuned per corpus on recall@8; questions are answered end-of-corpus. Six benchmarks, pre-partitioned into three groups:</a:t>
            </a:r>
            <a:endParaRPr lang="en-US" sz="1450" dirty="0"/>
          </a:p>
        </p:txBody>
      </p:sp>
      <p:sp>
        <p:nvSpPr>
          <p:cNvPr id="17" name="Shape 15"/>
          <p:cNvSpPr/>
          <p:nvPr/>
        </p:nvSpPr>
        <p:spPr>
          <a:xfrm>
            <a:off x="548640" y="3977640"/>
            <a:ext cx="3566160" cy="1691640"/>
          </a:xfrm>
          <a:prstGeom prst="roundRect">
            <a:avLst>
              <a:gd name="adj" fmla="val 6486"/>
            </a:avLst>
          </a:prstGeom>
          <a:solidFill>
            <a:srgbClr val="FFFFFF"/>
          </a:solidFill>
          <a:ln w="25400">
            <a:solidFill>
              <a:srgbClr val="1FB6A6"/>
            </a:solidFill>
            <a:prstDash val="solid"/>
          </a:ln>
        </p:spPr>
      </p:sp>
      <p:sp>
        <p:nvSpPr>
          <p:cNvPr id="18" name="Text 16"/>
          <p:cNvSpPr/>
          <p:nvPr/>
        </p:nvSpPr>
        <p:spPr>
          <a:xfrm>
            <a:off x="777240" y="4160520"/>
            <a:ext cx="3154680" cy="320040"/>
          </a:xfrm>
          <a:prstGeom prst="rect">
            <a:avLst/>
          </a:prstGeom>
          <a:noFill/>
          <a:ln/>
        </p:spPr>
        <p:txBody>
          <a:bodyPr wrap="square" lIns="0" tIns="0" rIns="0" bIns="0" rtlCol="0" anchor="ctr"/>
          <a:lstStyle/>
          <a:p>
            <a:pPr indent="0" marL="0">
              <a:buNone/>
            </a:pPr>
            <a:r>
              <a:rPr lang="en-US" sz="1250" b="1" spc="100" kern="0" dirty="0">
                <a:solidFill>
                  <a:srgbClr val="1FB6A6"/>
                </a:solidFill>
                <a:latin typeface="Calibri" pitchFamily="34" charset="0"/>
                <a:ea typeface="Calibri" pitchFamily="34" charset="-122"/>
                <a:cs typeface="Calibri" pitchFamily="34" charset="-120"/>
              </a:rPr>
              <a:t>CONFIRMATORY</a:t>
            </a:r>
            <a:endParaRPr lang="en-US" sz="1250" dirty="0"/>
          </a:p>
        </p:txBody>
      </p:sp>
      <p:sp>
        <p:nvSpPr>
          <p:cNvPr id="19" name="Text 17"/>
          <p:cNvSpPr/>
          <p:nvPr/>
        </p:nvSpPr>
        <p:spPr>
          <a:xfrm>
            <a:off x="777240" y="4526280"/>
            <a:ext cx="3154680" cy="685800"/>
          </a:xfrm>
          <a:prstGeom prst="rect">
            <a:avLst/>
          </a:prstGeom>
          <a:noFill/>
          <a:ln/>
        </p:spPr>
        <p:txBody>
          <a:bodyPr wrap="square" lIns="0" tIns="0" rIns="0" bIns="0" rtlCol="0" anchor="t"/>
          <a:lstStyle/>
          <a:p>
            <a:pPr indent="0" marL="0">
              <a:buNone/>
            </a:pPr>
            <a:r>
              <a:rPr lang="en-US" sz="1450" b="1" dirty="0">
                <a:solidFill>
                  <a:srgbClr val="1B2A44"/>
                </a:solidFill>
                <a:latin typeface="Calibri" pitchFamily="34" charset="0"/>
                <a:ea typeface="Calibri" pitchFamily="34" charset="-122"/>
                <a:cs typeface="Calibri" pitchFamily="34" charset="-120"/>
              </a:rPr>
              <a:t>FinanceBench · CUAD · QASPER</a:t>
            </a:r>
            <a:endParaRPr lang="en-US" sz="1450" dirty="0"/>
          </a:p>
        </p:txBody>
      </p:sp>
      <p:sp>
        <p:nvSpPr>
          <p:cNvPr id="20" name="Text 18"/>
          <p:cNvSpPr/>
          <p:nvPr/>
        </p:nvSpPr>
        <p:spPr>
          <a:xfrm>
            <a:off x="777240" y="5257800"/>
            <a:ext cx="3154680" cy="320040"/>
          </a:xfrm>
          <a:prstGeom prst="rect">
            <a:avLst/>
          </a:prstGeom>
          <a:noFill/>
          <a:ln/>
        </p:spPr>
        <p:txBody>
          <a:bodyPr wrap="square" lIns="0" tIns="0" rIns="0" bIns="0" rtlCol="0" anchor="ctr"/>
          <a:lstStyle/>
          <a:p>
            <a:pPr indent="0" marL="0">
              <a:buNone/>
            </a:pPr>
            <a:r>
              <a:rPr lang="en-US" sz="1200" i="1" dirty="0">
                <a:solidFill>
                  <a:srgbClr val="5E7088"/>
                </a:solidFill>
                <a:latin typeface="Calibri" pitchFamily="34" charset="0"/>
                <a:ea typeface="Calibri" pitchFamily="34" charset="-122"/>
                <a:cs typeface="Calibri" pitchFamily="34" charset="-120"/>
              </a:rPr>
              <a:t>lift predicted</a:t>
            </a:r>
            <a:endParaRPr lang="en-US" sz="1200" dirty="0"/>
          </a:p>
        </p:txBody>
      </p:sp>
      <p:sp>
        <p:nvSpPr>
          <p:cNvPr id="21" name="Shape 19"/>
          <p:cNvSpPr/>
          <p:nvPr/>
        </p:nvSpPr>
        <p:spPr>
          <a:xfrm>
            <a:off x="4343400" y="3977640"/>
            <a:ext cx="3566160" cy="1691640"/>
          </a:xfrm>
          <a:prstGeom prst="roundRect">
            <a:avLst>
              <a:gd name="adj" fmla="val 6486"/>
            </a:avLst>
          </a:prstGeom>
          <a:solidFill>
            <a:srgbClr val="FFFFFF"/>
          </a:solidFill>
          <a:ln w="25400">
            <a:solidFill>
              <a:srgbClr val="12294A"/>
            </a:solidFill>
            <a:prstDash val="solid"/>
          </a:ln>
        </p:spPr>
      </p:sp>
      <p:sp>
        <p:nvSpPr>
          <p:cNvPr id="22" name="Text 20"/>
          <p:cNvSpPr/>
          <p:nvPr/>
        </p:nvSpPr>
        <p:spPr>
          <a:xfrm>
            <a:off x="4572000" y="4160520"/>
            <a:ext cx="3154680" cy="320040"/>
          </a:xfrm>
          <a:prstGeom prst="rect">
            <a:avLst/>
          </a:prstGeom>
          <a:noFill/>
          <a:ln/>
        </p:spPr>
        <p:txBody>
          <a:bodyPr wrap="square" lIns="0" tIns="0" rIns="0" bIns="0" rtlCol="0" anchor="ctr"/>
          <a:lstStyle/>
          <a:p>
            <a:pPr indent="0" marL="0">
              <a:buNone/>
            </a:pPr>
            <a:r>
              <a:rPr lang="en-US" sz="1250" b="1" spc="100" kern="0" dirty="0">
                <a:solidFill>
                  <a:srgbClr val="12294A"/>
                </a:solidFill>
                <a:latin typeface="Calibri" pitchFamily="34" charset="0"/>
                <a:ea typeface="Calibri" pitchFamily="34" charset="-122"/>
                <a:cs typeface="Calibri" pitchFamily="34" charset="-120"/>
              </a:rPr>
              <a:t>CONTROLS</a:t>
            </a:r>
            <a:endParaRPr lang="en-US" sz="1250" dirty="0"/>
          </a:p>
        </p:txBody>
      </p:sp>
      <p:sp>
        <p:nvSpPr>
          <p:cNvPr id="23" name="Text 21"/>
          <p:cNvSpPr/>
          <p:nvPr/>
        </p:nvSpPr>
        <p:spPr>
          <a:xfrm>
            <a:off x="4572000" y="4526280"/>
            <a:ext cx="3154680" cy="685800"/>
          </a:xfrm>
          <a:prstGeom prst="rect">
            <a:avLst/>
          </a:prstGeom>
          <a:noFill/>
          <a:ln/>
        </p:spPr>
        <p:txBody>
          <a:bodyPr wrap="square" lIns="0" tIns="0" rIns="0" bIns="0" rtlCol="0" anchor="t"/>
          <a:lstStyle/>
          <a:p>
            <a:pPr indent="0" marL="0">
              <a:buNone/>
            </a:pPr>
            <a:r>
              <a:rPr lang="en-US" sz="1450" b="1" dirty="0">
                <a:solidFill>
                  <a:srgbClr val="1B2A44"/>
                </a:solidFill>
                <a:latin typeface="Calibri" pitchFamily="34" charset="0"/>
                <a:ea typeface="Calibri" pitchFamily="34" charset="-122"/>
                <a:cs typeface="Calibri" pitchFamily="34" charset="-120"/>
              </a:rPr>
              <a:t>HotpotQA · LongMemEval</a:t>
            </a:r>
            <a:endParaRPr lang="en-US" sz="1450" dirty="0"/>
          </a:p>
        </p:txBody>
      </p:sp>
      <p:sp>
        <p:nvSpPr>
          <p:cNvPr id="24" name="Text 22"/>
          <p:cNvSpPr/>
          <p:nvPr/>
        </p:nvSpPr>
        <p:spPr>
          <a:xfrm>
            <a:off x="4572000" y="5257800"/>
            <a:ext cx="3154680" cy="320040"/>
          </a:xfrm>
          <a:prstGeom prst="rect">
            <a:avLst/>
          </a:prstGeom>
          <a:noFill/>
          <a:ln/>
        </p:spPr>
        <p:txBody>
          <a:bodyPr wrap="square" lIns="0" tIns="0" rIns="0" bIns="0" rtlCol="0" anchor="ctr"/>
          <a:lstStyle/>
          <a:p>
            <a:pPr indent="0" marL="0">
              <a:buNone/>
            </a:pPr>
            <a:r>
              <a:rPr lang="en-US" sz="1200" i="1" dirty="0">
                <a:solidFill>
                  <a:srgbClr val="5E7088"/>
                </a:solidFill>
                <a:latin typeface="Calibri" pitchFamily="34" charset="0"/>
                <a:ea typeface="Calibri" pitchFamily="34" charset="-122"/>
                <a:cs typeface="Calibri" pitchFamily="34" charset="-120"/>
              </a:rPr>
              <a:t>pre-registered, no lift predicted</a:t>
            </a:r>
            <a:endParaRPr lang="en-US" sz="1200" dirty="0"/>
          </a:p>
        </p:txBody>
      </p:sp>
      <p:sp>
        <p:nvSpPr>
          <p:cNvPr id="25" name="Shape 23"/>
          <p:cNvSpPr/>
          <p:nvPr/>
        </p:nvSpPr>
        <p:spPr>
          <a:xfrm>
            <a:off x="8138160" y="3977640"/>
            <a:ext cx="3566160" cy="1691640"/>
          </a:xfrm>
          <a:prstGeom prst="roundRect">
            <a:avLst>
              <a:gd name="adj" fmla="val 6486"/>
            </a:avLst>
          </a:prstGeom>
          <a:solidFill>
            <a:srgbClr val="FFFFFF"/>
          </a:solidFill>
          <a:ln w="25400">
            <a:solidFill>
              <a:srgbClr val="5E7088"/>
            </a:solidFill>
            <a:prstDash val="solid"/>
          </a:ln>
        </p:spPr>
      </p:sp>
      <p:sp>
        <p:nvSpPr>
          <p:cNvPr id="26" name="Text 24"/>
          <p:cNvSpPr/>
          <p:nvPr/>
        </p:nvSpPr>
        <p:spPr>
          <a:xfrm>
            <a:off x="8366760" y="4160520"/>
            <a:ext cx="3154680" cy="320040"/>
          </a:xfrm>
          <a:prstGeom prst="rect">
            <a:avLst/>
          </a:prstGeom>
          <a:noFill/>
          <a:ln/>
        </p:spPr>
        <p:txBody>
          <a:bodyPr wrap="square" lIns="0" tIns="0" rIns="0" bIns="0" rtlCol="0" anchor="ctr"/>
          <a:lstStyle/>
          <a:p>
            <a:pPr indent="0" marL="0">
              <a:buNone/>
            </a:pPr>
            <a:r>
              <a:rPr lang="en-US" sz="1250" b="1" spc="100" kern="0" dirty="0">
                <a:solidFill>
                  <a:srgbClr val="5E7088"/>
                </a:solidFill>
                <a:latin typeface="Calibri" pitchFamily="34" charset="0"/>
                <a:ea typeface="Calibri" pitchFamily="34" charset="-122"/>
                <a:cs typeface="Calibri" pitchFamily="34" charset="-120"/>
              </a:rPr>
              <a:t>UNDEFINED</a:t>
            </a:r>
            <a:endParaRPr lang="en-US" sz="1250" dirty="0"/>
          </a:p>
        </p:txBody>
      </p:sp>
      <p:sp>
        <p:nvSpPr>
          <p:cNvPr id="27" name="Text 25"/>
          <p:cNvSpPr/>
          <p:nvPr/>
        </p:nvSpPr>
        <p:spPr>
          <a:xfrm>
            <a:off x="8366760" y="4526280"/>
            <a:ext cx="3154680" cy="685800"/>
          </a:xfrm>
          <a:prstGeom prst="rect">
            <a:avLst/>
          </a:prstGeom>
          <a:noFill/>
          <a:ln/>
        </p:spPr>
        <p:txBody>
          <a:bodyPr wrap="square" lIns="0" tIns="0" rIns="0" bIns="0" rtlCol="0" anchor="t"/>
          <a:lstStyle/>
          <a:p>
            <a:pPr indent="0" marL="0">
              <a:buNone/>
            </a:pPr>
            <a:r>
              <a:rPr lang="en-US" sz="1450" b="1" dirty="0">
                <a:solidFill>
                  <a:srgbClr val="1B2A44"/>
                </a:solidFill>
                <a:latin typeface="Calibri" pitchFamily="34" charset="0"/>
                <a:ea typeface="Calibri" pitchFamily="34" charset="-122"/>
                <a:cs typeface="Calibri" pitchFamily="34" charset="-120"/>
              </a:rPr>
              <a:t>NarrativeQA</a:t>
            </a:r>
            <a:endParaRPr lang="en-US" sz="1450" dirty="0"/>
          </a:p>
        </p:txBody>
      </p:sp>
      <p:sp>
        <p:nvSpPr>
          <p:cNvPr id="28" name="Text 26"/>
          <p:cNvSpPr/>
          <p:nvPr/>
        </p:nvSpPr>
        <p:spPr>
          <a:xfrm>
            <a:off x="8366760" y="5257800"/>
            <a:ext cx="3154680" cy="320040"/>
          </a:xfrm>
          <a:prstGeom prst="rect">
            <a:avLst/>
          </a:prstGeom>
          <a:noFill/>
          <a:ln/>
        </p:spPr>
        <p:txBody>
          <a:bodyPr wrap="square" lIns="0" tIns="0" rIns="0" bIns="0" rtlCol="0" anchor="ctr"/>
          <a:lstStyle/>
          <a:p>
            <a:pPr indent="0" marL="0">
              <a:buNone/>
            </a:pPr>
            <a:r>
              <a:rPr lang="en-US" sz="1200" i="1" dirty="0">
                <a:solidFill>
                  <a:srgbClr val="5E7088"/>
                </a:solidFill>
                <a:latin typeface="Calibri" pitchFamily="34" charset="0"/>
                <a:ea typeface="Calibri" pitchFamily="34" charset="-122"/>
                <a:cs typeface="Calibri" pitchFamily="34" charset="-120"/>
              </a:rPr>
              <a:t>no gold → objective undefined</a:t>
            </a:r>
            <a:endParaRPr lang="en-US" sz="1200" dirty="0"/>
          </a:p>
        </p:txBody>
      </p:sp>
      <p:sp>
        <p:nvSpPr>
          <p:cNvPr id="29" name="Text 27"/>
          <p:cNvSpPr/>
          <p:nvPr/>
        </p:nvSpPr>
        <p:spPr>
          <a:xfrm>
            <a:off x="457200" y="6446520"/>
            <a:ext cx="9601200" cy="274320"/>
          </a:xfrm>
          <a:prstGeom prst="rect">
            <a:avLst/>
          </a:prstGeom>
          <a:noFill/>
          <a:ln/>
        </p:spPr>
        <p:txBody>
          <a:bodyPr wrap="square" lIns="0" tIns="0" rIns="0" bIns="0" rtlCol="0" anchor="ctr"/>
          <a:lstStyle/>
          <a:p>
            <a:pPr algn="l" indent="0" marL="0">
              <a:buNone/>
            </a:pPr>
            <a:r>
              <a:rPr lang="en-US" sz="900" dirty="0">
                <a:solidFill>
                  <a:srgbClr val="5E7088"/>
                </a:solidFill>
                <a:latin typeface="Calibri" pitchFamily="34" charset="0"/>
                <a:ea typeface="Calibri" pitchFamily="34" charset="-122"/>
                <a:cs typeface="Calibri" pitchFamily="34" charset="-120"/>
              </a:rPr>
              <a:t>Learnable Task-Adaptive Memory for LLM Agents  ·  S. Uifalean  ·  Bocconi MSc AI</a:t>
            </a:r>
            <a:endParaRPr lang="en-US" sz="900" dirty="0"/>
          </a:p>
        </p:txBody>
      </p:sp>
      <p:sp>
        <p:nvSpPr>
          <p:cNvPr id="30" name="Text 28"/>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E708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B6A6"/>
                </a:solidFill>
                <a:latin typeface="Calibri" pitchFamily="34" charset="0"/>
                <a:ea typeface="Calibri" pitchFamily="34" charset="-122"/>
                <a:cs typeface="Calibri" pitchFamily="34" charset="-120"/>
              </a:rPr>
              <a:t>STAGE 3 — RESULTS</a:t>
            </a:r>
            <a:endParaRPr lang="en-US" sz="1200" dirty="0"/>
          </a:p>
        </p:txBody>
      </p:sp>
      <p:sp>
        <p:nvSpPr>
          <p:cNvPr id="3" name="Text 1"/>
          <p:cNvSpPr/>
          <p:nvPr/>
        </p:nvSpPr>
        <p:spPr>
          <a:xfrm>
            <a:off x="530352" y="658368"/>
            <a:ext cx="11064240" cy="822960"/>
          </a:xfrm>
          <a:prstGeom prst="rect">
            <a:avLst/>
          </a:prstGeom>
          <a:noFill/>
          <a:ln/>
        </p:spPr>
        <p:txBody>
          <a:bodyPr wrap="square" lIns="0" tIns="0" rIns="0" bIns="0" rtlCol="0" anchor="ctr"/>
          <a:lstStyle/>
          <a:p>
            <a:pPr indent="0" marL="0">
              <a:buNone/>
            </a:pPr>
            <a:r>
              <a:rPr lang="en-US" sz="3000" b="1" dirty="0">
                <a:solidFill>
                  <a:srgbClr val="1B2A44"/>
                </a:solidFill>
                <a:latin typeface="Cambria" pitchFamily="34" charset="0"/>
                <a:ea typeface="Cambria" pitchFamily="34" charset="-122"/>
                <a:cs typeface="Cambria" pitchFamily="34" charset="-120"/>
              </a:rPr>
              <a:t>Corpus tuning lifts end-of-corpus accuracy</a:t>
            </a:r>
            <a:endParaRPr lang="en-US" sz="3000" dirty="0"/>
          </a:p>
        </p:txBody>
      </p:sp>
      <p:graphicFrame>
        <p:nvGraphicFramePr>
          <p:cNvPr id="4" name="Chart 0" descr=""/>
          <p:cNvGraphicFramePr/>
          <p:nvPr/>
        </p:nvGraphicFramePr>
        <p:xfrm>
          <a:off x="548640" y="1783080"/>
          <a:ext cx="676656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5897880"/>
            <a:ext cx="6766560" cy="274320"/>
          </a:xfrm>
          <a:prstGeom prst="rect">
            <a:avLst/>
          </a:prstGeom>
          <a:noFill/>
          <a:ln/>
        </p:spPr>
        <p:txBody>
          <a:bodyPr wrap="square" lIns="0" tIns="0" rIns="0" bIns="0" rtlCol="0" anchor="ctr"/>
          <a:lstStyle/>
          <a:p>
            <a:pPr algn="ctr" indent="0" marL="0">
              <a:buNone/>
            </a:pPr>
            <a:r>
              <a:rPr lang="en-US" sz="1100" i="1" dirty="0">
                <a:solidFill>
                  <a:srgbClr val="5E7088"/>
                </a:solidFill>
                <a:latin typeface="Calibri" pitchFamily="34" charset="0"/>
                <a:ea typeface="Calibri" pitchFamily="34" charset="-122"/>
                <a:cs typeface="Calibri" pitchFamily="34" charset="-120"/>
              </a:rPr>
              <a:t>judged accuracy (batch, end-of-corpus)</a:t>
            </a:r>
            <a:endParaRPr lang="en-US" sz="1100" dirty="0"/>
          </a:p>
        </p:txBody>
      </p:sp>
      <p:sp>
        <p:nvSpPr>
          <p:cNvPr id="6" name="Shape 3"/>
          <p:cNvSpPr/>
          <p:nvPr/>
        </p:nvSpPr>
        <p:spPr>
          <a:xfrm>
            <a:off x="7635240" y="1783080"/>
            <a:ext cx="3977640" cy="1417320"/>
          </a:xfrm>
          <a:prstGeom prst="roundRect">
            <a:avLst>
              <a:gd name="adj" fmla="val 7742"/>
            </a:avLst>
          </a:prstGeom>
          <a:solidFill>
            <a:srgbClr val="12294A"/>
          </a:solidFill>
          <a:ln/>
        </p:spPr>
      </p:sp>
      <p:sp>
        <p:nvSpPr>
          <p:cNvPr id="7" name="Text 4"/>
          <p:cNvSpPr/>
          <p:nvPr/>
        </p:nvSpPr>
        <p:spPr>
          <a:xfrm>
            <a:off x="7635240" y="1920240"/>
            <a:ext cx="3977640" cy="640080"/>
          </a:xfrm>
          <a:prstGeom prst="rect">
            <a:avLst/>
          </a:prstGeom>
          <a:noFill/>
          <a:ln/>
        </p:spPr>
        <p:txBody>
          <a:bodyPr wrap="square" lIns="0" tIns="0" rIns="0" bIns="0" rtlCol="0" anchor="ctr"/>
          <a:lstStyle/>
          <a:p>
            <a:pPr algn="ctr" indent="0" marL="0">
              <a:buNone/>
            </a:pPr>
            <a:r>
              <a:rPr lang="en-US" sz="3000" b="1" dirty="0">
                <a:solidFill>
                  <a:srgbClr val="1FB6A6"/>
                </a:solidFill>
                <a:latin typeface="Cambria" pitchFamily="34" charset="0"/>
                <a:ea typeface="Cambria" pitchFamily="34" charset="-122"/>
                <a:cs typeface="Cambria" pitchFamily="34" charset="-120"/>
              </a:rPr>
              <a:t>2 of 3</a:t>
            </a:r>
            <a:endParaRPr lang="en-US" sz="3000" dirty="0"/>
          </a:p>
        </p:txBody>
      </p:sp>
      <p:sp>
        <p:nvSpPr>
          <p:cNvPr id="8" name="Text 5"/>
          <p:cNvSpPr/>
          <p:nvPr/>
        </p:nvSpPr>
        <p:spPr>
          <a:xfrm>
            <a:off x="7863840" y="2560320"/>
            <a:ext cx="3520440" cy="594360"/>
          </a:xfrm>
          <a:prstGeom prst="rect">
            <a:avLst/>
          </a:prstGeom>
          <a:noFill/>
          <a:ln/>
        </p:spPr>
        <p:txBody>
          <a:bodyPr wrap="square" lIns="0" tIns="0" rIns="0" bIns="0" rtlCol="0" anchor="t"/>
          <a:lstStyle/>
          <a:p>
            <a:pPr algn="ctr" indent="0" marL="0">
              <a:buNone/>
            </a:pPr>
            <a:r>
              <a:rPr lang="en-US" sz="1250" dirty="0">
                <a:solidFill>
                  <a:srgbClr val="CADCFC"/>
                </a:solidFill>
                <a:latin typeface="Calibri" pitchFamily="34" charset="0"/>
                <a:ea typeface="Calibri" pitchFamily="34" charset="-122"/>
                <a:cs typeface="Calibri" pitchFamily="34" charset="-120"/>
              </a:rPr>
              <a:t>domain-coherent benchmarks survive held-out testing (FinanceBench, CUAD); QASPER does not.</a:t>
            </a:r>
            <a:endParaRPr lang="en-US" sz="1250" dirty="0"/>
          </a:p>
        </p:txBody>
      </p:sp>
      <p:sp>
        <p:nvSpPr>
          <p:cNvPr id="9" name="Shape 6"/>
          <p:cNvSpPr/>
          <p:nvPr/>
        </p:nvSpPr>
        <p:spPr>
          <a:xfrm>
            <a:off x="7635240" y="3383280"/>
            <a:ext cx="3977640" cy="2514600"/>
          </a:xfrm>
          <a:prstGeom prst="roundRect">
            <a:avLst>
              <a:gd name="adj" fmla="val 4364"/>
            </a:avLst>
          </a:prstGeom>
          <a:solidFill>
            <a:srgbClr val="F2F6FB"/>
          </a:solidFill>
          <a:ln w="12700">
            <a:solidFill>
              <a:srgbClr val="DCE5EF"/>
            </a:solidFill>
            <a:prstDash val="solid"/>
          </a:ln>
        </p:spPr>
      </p:sp>
      <p:sp>
        <p:nvSpPr>
          <p:cNvPr id="10" name="Text 7"/>
          <p:cNvSpPr/>
          <p:nvPr/>
        </p:nvSpPr>
        <p:spPr>
          <a:xfrm>
            <a:off x="7863840" y="3566160"/>
            <a:ext cx="3520440" cy="320040"/>
          </a:xfrm>
          <a:prstGeom prst="rect">
            <a:avLst/>
          </a:prstGeom>
          <a:noFill/>
          <a:ln/>
        </p:spPr>
        <p:txBody>
          <a:bodyPr wrap="square" lIns="0" tIns="0" rIns="0" bIns="0" rtlCol="0" anchor="ctr"/>
          <a:lstStyle/>
          <a:p>
            <a:pPr indent="0" marL="0">
              <a:buNone/>
            </a:pPr>
            <a:r>
              <a:rPr lang="en-US" sz="1500" b="1" dirty="0">
                <a:solidFill>
                  <a:srgbClr val="1B2A44"/>
                </a:solidFill>
                <a:latin typeface="Cambria" pitchFamily="34" charset="0"/>
                <a:ea typeface="Cambria" pitchFamily="34" charset="-122"/>
                <a:cs typeface="Cambria" pitchFamily="34" charset="-120"/>
              </a:rPr>
              <a:t>The mechanism</a:t>
            </a:r>
            <a:endParaRPr lang="en-US" sz="1500" dirty="0"/>
          </a:p>
        </p:txBody>
      </p:sp>
      <p:sp>
        <p:nvSpPr>
          <p:cNvPr id="11" name="Text 8"/>
          <p:cNvSpPr/>
          <p:nvPr/>
        </p:nvSpPr>
        <p:spPr>
          <a:xfrm>
            <a:off x="7863840" y="3977640"/>
            <a:ext cx="3520440" cy="822960"/>
          </a:xfrm>
          <a:prstGeom prst="rect">
            <a:avLst/>
          </a:prstGeom>
          <a:noFill/>
          <a:ln/>
        </p:spPr>
        <p:txBody>
          <a:bodyPr wrap="square" lIns="0" tIns="0" rIns="0" bIns="0" rtlCol="0" anchor="ctr"/>
          <a:lstStyle/>
          <a:p>
            <a:pPr indent="0" marL="0">
              <a:spcAft>
                <a:spcPts val="600"/>
              </a:spcAft>
              <a:buNone/>
            </a:pPr>
            <a:r>
              <a:rPr lang="en-US" sz="1350" b="1" dirty="0">
                <a:solidFill>
                  <a:srgbClr val="1B2A44"/>
                </a:solidFill>
                <a:latin typeface="Consolas" pitchFamily="34" charset="0"/>
                <a:ea typeface="Consolas" pitchFamily="34" charset="-122"/>
                <a:cs typeface="Consolas" pitchFamily="34" charset="-120"/>
              </a:rPr>
              <a:t>w_recency</a:t>
            </a:r>
            <a:pPr indent="0" marL="0">
              <a:spcAft>
                <a:spcPts val="1000"/>
              </a:spcAft>
              <a:buNone/>
            </a:pPr>
            <a:r>
              <a:rPr lang="en-US" sz="1350" b="1" dirty="0">
                <a:solidFill>
                  <a:srgbClr val="1FB6A6"/>
                </a:solidFill>
                <a:latin typeface="Calibri" pitchFamily="34" charset="0"/>
                <a:ea typeface="Calibri" pitchFamily="34" charset="-122"/>
                <a:cs typeface="Calibri" pitchFamily="34" charset="-120"/>
              </a:rPr>
              <a:t>  3.78 → 0.003</a:t>
            </a:r>
            <a:endParaRPr lang="en-US" sz="1350" dirty="0"/>
          </a:p>
          <a:p>
            <a:pPr indent="0" marL="0">
              <a:spcAft>
                <a:spcPts val="600"/>
              </a:spcAft>
              <a:buNone/>
            </a:pPr>
            <a:r>
              <a:rPr lang="en-US" sz="1350" b="1" dirty="0">
                <a:solidFill>
                  <a:srgbClr val="1B2A44"/>
                </a:solidFill>
                <a:latin typeface="Consolas" pitchFamily="34" charset="0"/>
                <a:ea typeface="Consolas" pitchFamily="34" charset="-122"/>
                <a:cs typeface="Consolas" pitchFamily="34" charset="-120"/>
              </a:rPr>
              <a:t>w_embed</a:t>
            </a:r>
            <a:pPr indent="0" marL="0">
              <a:spcAft>
                <a:spcPts val="600"/>
              </a:spcAft>
              <a:buNone/>
            </a:pPr>
            <a:r>
              <a:rPr lang="en-US" sz="1350" b="1" dirty="0">
                <a:solidFill>
                  <a:srgbClr val="1FB6A6"/>
                </a:solidFill>
                <a:latin typeface="Calibri" pitchFamily="34" charset="0"/>
                <a:ea typeface="Calibri" pitchFamily="34" charset="-122"/>
                <a:cs typeface="Calibri" pitchFamily="34" charset="-120"/>
              </a:rPr>
              <a:t>     1.08 → 2.63</a:t>
            </a:r>
            <a:endParaRPr lang="en-US" sz="1350" dirty="0"/>
          </a:p>
        </p:txBody>
      </p:sp>
      <p:sp>
        <p:nvSpPr>
          <p:cNvPr id="12" name="Text 9"/>
          <p:cNvSpPr/>
          <p:nvPr/>
        </p:nvSpPr>
        <p:spPr>
          <a:xfrm>
            <a:off x="7863840" y="4846320"/>
            <a:ext cx="3520440" cy="960120"/>
          </a:xfrm>
          <a:prstGeom prst="rect">
            <a:avLst/>
          </a:prstGeom>
          <a:noFill/>
          <a:ln/>
        </p:spPr>
        <p:txBody>
          <a:bodyPr wrap="square" lIns="0" tIns="0" rIns="0" bIns="0" rtlCol="0" anchor="t"/>
          <a:lstStyle/>
          <a:p>
            <a:pPr indent="0" marL="0">
              <a:buNone/>
            </a:pPr>
            <a:r>
              <a:rPr lang="en-US" sz="1250" i="1" dirty="0">
                <a:solidFill>
                  <a:srgbClr val="5E7088"/>
                </a:solidFill>
                <a:latin typeface="Calibri" pitchFamily="34" charset="0"/>
                <a:ea typeface="Calibri" pitchFamily="34" charset="-122"/>
                <a:cs typeface="Calibri" pitchFamily="34" charset="-120"/>
              </a:rPr>
              <a:t>Tuning down-weights recency and up-weights meaning — it retrieves by semantic match, exactly what an end-of-corpus question needs.</a:t>
            </a:r>
            <a:endParaRPr lang="en-US" sz="1250" dirty="0"/>
          </a:p>
        </p:txBody>
      </p:sp>
      <p:sp>
        <p:nvSpPr>
          <p:cNvPr id="13" name="Text 10"/>
          <p:cNvSpPr/>
          <p:nvPr/>
        </p:nvSpPr>
        <p:spPr>
          <a:xfrm>
            <a:off x="457200" y="6446520"/>
            <a:ext cx="9601200" cy="274320"/>
          </a:xfrm>
          <a:prstGeom prst="rect">
            <a:avLst/>
          </a:prstGeom>
          <a:noFill/>
          <a:ln/>
        </p:spPr>
        <p:txBody>
          <a:bodyPr wrap="square" lIns="0" tIns="0" rIns="0" bIns="0" rtlCol="0" anchor="ctr"/>
          <a:lstStyle/>
          <a:p>
            <a:pPr algn="l" indent="0" marL="0">
              <a:buNone/>
            </a:pPr>
            <a:r>
              <a:rPr lang="en-US" sz="900" dirty="0">
                <a:solidFill>
                  <a:srgbClr val="5E7088"/>
                </a:solidFill>
                <a:latin typeface="Calibri" pitchFamily="34" charset="0"/>
                <a:ea typeface="Calibri" pitchFamily="34" charset="-122"/>
                <a:cs typeface="Calibri" pitchFamily="34" charset="-120"/>
              </a:rPr>
              <a:t>Learnable Task-Adaptive Memory for LLM Agents  ·  S. Uifalean  ·  Bocconi MSc AI</a:t>
            </a:r>
            <a:endParaRPr lang="en-US" sz="900" dirty="0"/>
          </a:p>
        </p:txBody>
      </p:sp>
      <p:sp>
        <p:nvSpPr>
          <p:cNvPr id="14" name="Text 11"/>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E708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1FB6A6"/>
                </a:solidFill>
                <a:latin typeface="Calibri" pitchFamily="34" charset="0"/>
                <a:ea typeface="Calibri" pitchFamily="34" charset="-122"/>
                <a:cs typeface="Calibri" pitchFamily="34" charset="-120"/>
              </a:rPr>
              <a:t>THE SELF-AUDIT</a:t>
            </a:r>
            <a:endParaRPr lang="en-US" sz="1200" dirty="0"/>
          </a:p>
        </p:txBody>
      </p:sp>
      <p:sp>
        <p:nvSpPr>
          <p:cNvPr id="3" name="Text 1"/>
          <p:cNvSpPr/>
          <p:nvPr/>
        </p:nvSpPr>
        <p:spPr>
          <a:xfrm>
            <a:off x="530352" y="658368"/>
            <a:ext cx="11064240" cy="822960"/>
          </a:xfrm>
          <a:prstGeom prst="rect">
            <a:avLst/>
          </a:prstGeom>
          <a:noFill/>
          <a:ln/>
        </p:spPr>
        <p:txBody>
          <a:bodyPr wrap="square" lIns="0" tIns="0" rIns="0" bIns="0" rtlCol="0" anchor="ctr"/>
          <a:lstStyle/>
          <a:p>
            <a:pPr indent="0" marL="0">
              <a:buNone/>
            </a:pPr>
            <a:r>
              <a:rPr lang="en-US" sz="3000" b="1" dirty="0">
                <a:solidFill>
                  <a:srgbClr val="1B2A44"/>
                </a:solidFill>
                <a:latin typeface="Cambria" pitchFamily="34" charset="0"/>
                <a:ea typeface="Cambria" pitchFamily="34" charset="-122"/>
                <a:cs typeface="Cambria" pitchFamily="34" charset="-120"/>
              </a:rPr>
              <a:t>Measured honestly, the win is efficiency — not raw accuracy</a:t>
            </a:r>
            <a:endParaRPr lang="en-US" sz="3000" dirty="0"/>
          </a:p>
        </p:txBody>
      </p:sp>
      <p:sp>
        <p:nvSpPr>
          <p:cNvPr id="4" name="Text 2"/>
          <p:cNvSpPr/>
          <p:nvPr/>
        </p:nvSpPr>
        <p:spPr>
          <a:xfrm>
            <a:off x="548640" y="1737360"/>
            <a:ext cx="11064240" cy="777240"/>
          </a:xfrm>
          <a:prstGeom prst="rect">
            <a:avLst/>
          </a:prstGeom>
          <a:noFill/>
          <a:ln/>
        </p:spPr>
        <p:txBody>
          <a:bodyPr wrap="square" lIns="0" tIns="0" rIns="0" bIns="0" rtlCol="0" anchor="ctr"/>
          <a:lstStyle/>
          <a:p>
            <a:pPr indent="0" marL="0">
              <a:buNone/>
            </a:pPr>
            <a:r>
              <a:rPr lang="en-US" sz="1600" dirty="0">
                <a:solidFill>
                  <a:srgbClr val="1B2A44"/>
                </a:solidFill>
                <a:latin typeface="Calibri" pitchFamily="34" charset="0"/>
                <a:ea typeface="Calibri" pitchFamily="34" charset="-122"/>
                <a:cs typeface="Calibri" pitchFamily="34" charset="-120"/>
              </a:rPr>
              <a:t>Our own audit corrected a headline: a full-context </a:t>
            </a:r>
            <a:pPr indent="0" marL="0">
              <a:buNone/>
            </a:pPr>
            <a:r>
              <a:rPr lang="en-US" sz="1600" b="1" dirty="0">
                <a:solidFill>
                  <a:srgbClr val="1B2A44"/>
                </a:solidFill>
                <a:latin typeface="Calibri" pitchFamily="34" charset="0"/>
                <a:ea typeface="Calibri" pitchFamily="34" charset="-122"/>
                <a:cs typeface="Calibri" pitchFamily="34" charset="-120"/>
              </a:rPr>
              <a:t>“dump-all”</a:t>
            </a:r>
            <a:pPr indent="0" marL="0">
              <a:buNone/>
            </a:pPr>
            <a:r>
              <a:rPr lang="en-US" sz="1600" dirty="0">
                <a:solidFill>
                  <a:srgbClr val="1B2A44"/>
                </a:solidFill>
                <a:latin typeface="Calibri" pitchFamily="34" charset="0"/>
                <a:ea typeface="Calibri" pitchFamily="34" charset="-122"/>
                <a:cs typeface="Calibri" pitchFamily="34" charset="-120"/>
              </a:rPr>
              <a:t> baseline is </a:t>
            </a:r>
            <a:pPr indent="0" marL="0">
              <a:buNone/>
            </a:pPr>
            <a:r>
              <a:rPr lang="en-US" sz="1600" b="1" dirty="0">
                <a:solidFill>
                  <a:srgbClr val="1B2A44"/>
                </a:solidFill>
                <a:latin typeface="Calibri" pitchFamily="34" charset="0"/>
                <a:ea typeface="Calibri" pitchFamily="34" charset="-122"/>
                <a:cs typeface="Calibri" pitchFamily="34" charset="-120"/>
              </a:rPr>
              <a:t>statistically tied</a:t>
            </a:r>
            <a:pPr indent="0" marL="0">
              <a:buNone/>
            </a:pPr>
            <a:r>
              <a:rPr lang="en-US" sz="1600" dirty="0">
                <a:solidFill>
                  <a:srgbClr val="1B2A44"/>
                </a:solidFill>
                <a:latin typeface="Calibri" pitchFamily="34" charset="0"/>
                <a:ea typeface="Calibri" pitchFamily="34" charset="-122"/>
                <a:cs typeface="Calibri" pitchFamily="34" charset="-120"/>
              </a:rPr>
              <a:t> with selective memory on accuracy. So the case for learned memory at corpus scale is efficiency and scalability.</a:t>
            </a:r>
            <a:endParaRPr lang="en-US" sz="1600" dirty="0"/>
          </a:p>
        </p:txBody>
      </p:sp>
      <p:sp>
        <p:nvSpPr>
          <p:cNvPr id="5" name="Shape 3"/>
          <p:cNvSpPr/>
          <p:nvPr/>
        </p:nvSpPr>
        <p:spPr>
          <a:xfrm>
            <a:off x="548640" y="2743200"/>
            <a:ext cx="3566160" cy="2697480"/>
          </a:xfrm>
          <a:prstGeom prst="roundRect">
            <a:avLst>
              <a:gd name="adj" fmla="val 4746"/>
            </a:avLst>
          </a:prstGeom>
          <a:solidFill>
            <a:srgbClr val="F2F6FB"/>
          </a:solidFill>
          <a:ln w="12700">
            <a:solidFill>
              <a:srgbClr val="DCE5EF"/>
            </a:solidFill>
            <a:prstDash val="solid"/>
          </a:ln>
        </p:spPr>
      </p:sp>
      <p:sp>
        <p:nvSpPr>
          <p:cNvPr id="6" name="Text 4"/>
          <p:cNvSpPr/>
          <p:nvPr/>
        </p:nvSpPr>
        <p:spPr>
          <a:xfrm>
            <a:off x="731520" y="3063240"/>
            <a:ext cx="3200400" cy="868680"/>
          </a:xfrm>
          <a:prstGeom prst="rect">
            <a:avLst/>
          </a:prstGeom>
          <a:noFill/>
          <a:ln/>
        </p:spPr>
        <p:txBody>
          <a:bodyPr wrap="square" lIns="0" tIns="0" rIns="0" bIns="0" rtlCol="0" anchor="ctr"/>
          <a:lstStyle/>
          <a:p>
            <a:pPr algn="ctr" indent="0" marL="0">
              <a:buNone/>
            </a:pPr>
            <a:r>
              <a:rPr lang="en-US" sz="4000" b="1" dirty="0">
                <a:solidFill>
                  <a:srgbClr val="1FB6A6"/>
                </a:solidFill>
                <a:latin typeface="Cambria" pitchFamily="34" charset="0"/>
                <a:ea typeface="Cambria" pitchFamily="34" charset="-122"/>
                <a:cs typeface="Cambria" pitchFamily="34" charset="-120"/>
              </a:rPr>
              <a:t>≈ 18×</a:t>
            </a:r>
            <a:endParaRPr lang="en-US" sz="4000" dirty="0"/>
          </a:p>
        </p:txBody>
      </p:sp>
      <p:sp>
        <p:nvSpPr>
          <p:cNvPr id="7" name="Text 5"/>
          <p:cNvSpPr/>
          <p:nvPr/>
        </p:nvSpPr>
        <p:spPr>
          <a:xfrm>
            <a:off x="731520" y="3977640"/>
            <a:ext cx="3200400" cy="365760"/>
          </a:xfrm>
          <a:prstGeom prst="rect">
            <a:avLst/>
          </a:prstGeom>
          <a:noFill/>
          <a:ln/>
        </p:spPr>
        <p:txBody>
          <a:bodyPr wrap="square" lIns="0" tIns="0" rIns="0" bIns="0" rtlCol="0" anchor="ctr"/>
          <a:lstStyle/>
          <a:p>
            <a:pPr algn="ctr" indent="0" marL="0">
              <a:buNone/>
            </a:pPr>
            <a:r>
              <a:rPr lang="en-US" sz="1500" b="1" dirty="0">
                <a:solidFill>
                  <a:srgbClr val="1B2A44"/>
                </a:solidFill>
                <a:latin typeface="Calibri" pitchFamily="34" charset="0"/>
                <a:ea typeface="Calibri" pitchFamily="34" charset="-122"/>
                <a:cs typeface="Calibri" pitchFamily="34" charset="-120"/>
              </a:rPr>
              <a:t>cheaper</a:t>
            </a:r>
            <a:endParaRPr lang="en-US" sz="1500" dirty="0"/>
          </a:p>
        </p:txBody>
      </p:sp>
      <p:sp>
        <p:nvSpPr>
          <p:cNvPr id="8" name="Text 6"/>
          <p:cNvSpPr/>
          <p:nvPr/>
        </p:nvSpPr>
        <p:spPr>
          <a:xfrm>
            <a:off x="868680" y="4389120"/>
            <a:ext cx="2926080" cy="914400"/>
          </a:xfrm>
          <a:prstGeom prst="rect">
            <a:avLst/>
          </a:prstGeom>
          <a:noFill/>
          <a:ln/>
        </p:spPr>
        <p:txBody>
          <a:bodyPr wrap="square" lIns="0" tIns="0" rIns="0" bIns="0" rtlCol="0" anchor="t"/>
          <a:lstStyle/>
          <a:p>
            <a:pPr algn="ctr" indent="0" marL="0">
              <a:buNone/>
            </a:pPr>
            <a:r>
              <a:rPr lang="en-US" sz="1250" dirty="0">
                <a:solidFill>
                  <a:srgbClr val="5E7088"/>
                </a:solidFill>
                <a:latin typeface="Calibri" pitchFamily="34" charset="0"/>
                <a:ea typeface="Calibri" pitchFamily="34" charset="-122"/>
                <a:cs typeface="Calibri" pitchFamily="34" charset="-120"/>
              </a:rPr>
              <a:t>same accuracy on FinanceBench, a fraction of the token cost</a:t>
            </a:r>
            <a:endParaRPr lang="en-US" sz="1250" dirty="0"/>
          </a:p>
        </p:txBody>
      </p:sp>
      <p:sp>
        <p:nvSpPr>
          <p:cNvPr id="9" name="Shape 7"/>
          <p:cNvSpPr/>
          <p:nvPr/>
        </p:nvSpPr>
        <p:spPr>
          <a:xfrm>
            <a:off x="4343400" y="2743200"/>
            <a:ext cx="3566160" cy="2697480"/>
          </a:xfrm>
          <a:prstGeom prst="roundRect">
            <a:avLst>
              <a:gd name="adj" fmla="val 4746"/>
            </a:avLst>
          </a:prstGeom>
          <a:solidFill>
            <a:srgbClr val="F2F6FB"/>
          </a:solidFill>
          <a:ln w="12700">
            <a:solidFill>
              <a:srgbClr val="DCE5EF"/>
            </a:solidFill>
            <a:prstDash val="solid"/>
          </a:ln>
        </p:spPr>
      </p:sp>
      <p:sp>
        <p:nvSpPr>
          <p:cNvPr id="10" name="Text 8"/>
          <p:cNvSpPr/>
          <p:nvPr/>
        </p:nvSpPr>
        <p:spPr>
          <a:xfrm>
            <a:off x="4526280" y="3063240"/>
            <a:ext cx="3200400" cy="868680"/>
          </a:xfrm>
          <a:prstGeom prst="rect">
            <a:avLst/>
          </a:prstGeom>
          <a:noFill/>
          <a:ln/>
        </p:spPr>
        <p:txBody>
          <a:bodyPr wrap="square" lIns="0" tIns="0" rIns="0" bIns="0" rtlCol="0" anchor="ctr"/>
          <a:lstStyle/>
          <a:p>
            <a:pPr algn="ctr" indent="0" marL="0">
              <a:buNone/>
            </a:pPr>
            <a:r>
              <a:rPr lang="en-US" sz="4000" b="1" dirty="0">
                <a:solidFill>
                  <a:srgbClr val="C0504D"/>
                </a:solidFill>
                <a:latin typeface="Cambria" pitchFamily="34" charset="0"/>
                <a:ea typeface="Cambria" pitchFamily="34" charset="-122"/>
                <a:cs typeface="Cambria" pitchFamily="34" charset="-120"/>
              </a:rPr>
              <a:t>N ≈ 11</a:t>
            </a:r>
            <a:endParaRPr lang="en-US" sz="4000" dirty="0"/>
          </a:p>
        </p:txBody>
      </p:sp>
      <p:sp>
        <p:nvSpPr>
          <p:cNvPr id="11" name="Text 9"/>
          <p:cNvSpPr/>
          <p:nvPr/>
        </p:nvSpPr>
        <p:spPr>
          <a:xfrm>
            <a:off x="4526280" y="3977640"/>
            <a:ext cx="3200400" cy="365760"/>
          </a:xfrm>
          <a:prstGeom prst="rect">
            <a:avLst/>
          </a:prstGeom>
          <a:noFill/>
          <a:ln/>
        </p:spPr>
        <p:txBody>
          <a:bodyPr wrap="square" lIns="0" tIns="0" rIns="0" bIns="0" rtlCol="0" anchor="ctr"/>
          <a:lstStyle/>
          <a:p>
            <a:pPr algn="ctr" indent="0" marL="0">
              <a:buNone/>
            </a:pPr>
            <a:r>
              <a:rPr lang="en-US" sz="1500" b="1" dirty="0">
                <a:solidFill>
                  <a:srgbClr val="1B2A44"/>
                </a:solidFill>
                <a:latin typeface="Calibri" pitchFamily="34" charset="0"/>
                <a:ea typeface="Calibri" pitchFamily="34" charset="-122"/>
                <a:cs typeface="Calibri" pitchFamily="34" charset="-120"/>
              </a:rPr>
              <a:t>dump-all breaks</a:t>
            </a:r>
            <a:endParaRPr lang="en-US" sz="1500" dirty="0"/>
          </a:p>
        </p:txBody>
      </p:sp>
      <p:sp>
        <p:nvSpPr>
          <p:cNvPr id="12" name="Text 10"/>
          <p:cNvSpPr/>
          <p:nvPr/>
        </p:nvSpPr>
        <p:spPr>
          <a:xfrm>
            <a:off x="4663440" y="4389120"/>
            <a:ext cx="2926080" cy="914400"/>
          </a:xfrm>
          <a:prstGeom prst="rect">
            <a:avLst/>
          </a:prstGeom>
          <a:noFill/>
          <a:ln/>
        </p:spPr>
        <p:txBody>
          <a:bodyPr wrap="square" lIns="0" tIns="0" rIns="0" bIns="0" rtlCol="0" anchor="t"/>
          <a:lstStyle/>
          <a:p>
            <a:pPr algn="ctr" indent="0" marL="0">
              <a:buNone/>
            </a:pPr>
            <a:r>
              <a:rPr lang="en-US" sz="1250" dirty="0">
                <a:solidFill>
                  <a:srgbClr val="5E7088"/>
                </a:solidFill>
                <a:latin typeface="Calibri" pitchFamily="34" charset="0"/>
                <a:ea typeface="Calibri" pitchFamily="34" charset="-122"/>
                <a:cs typeface="Calibri" pitchFamily="34" charset="-120"/>
              </a:rPr>
              <a:t>full-context overflows the 128K window at ~11 CUAD contracts</a:t>
            </a:r>
            <a:endParaRPr lang="en-US" sz="1250" dirty="0"/>
          </a:p>
        </p:txBody>
      </p:sp>
      <p:sp>
        <p:nvSpPr>
          <p:cNvPr id="13" name="Shape 11"/>
          <p:cNvSpPr/>
          <p:nvPr/>
        </p:nvSpPr>
        <p:spPr>
          <a:xfrm>
            <a:off x="8138160" y="2743200"/>
            <a:ext cx="3566160" cy="2697480"/>
          </a:xfrm>
          <a:prstGeom prst="roundRect">
            <a:avLst>
              <a:gd name="adj" fmla="val 4746"/>
            </a:avLst>
          </a:prstGeom>
          <a:solidFill>
            <a:srgbClr val="12294A"/>
          </a:solidFill>
          <a:ln w="12700">
            <a:solidFill>
              <a:srgbClr val="12294A"/>
            </a:solidFill>
            <a:prstDash val="solid"/>
          </a:ln>
        </p:spPr>
      </p:sp>
      <p:sp>
        <p:nvSpPr>
          <p:cNvPr id="14" name="Text 12"/>
          <p:cNvSpPr/>
          <p:nvPr/>
        </p:nvSpPr>
        <p:spPr>
          <a:xfrm>
            <a:off x="8321040" y="3063240"/>
            <a:ext cx="3200400" cy="868680"/>
          </a:xfrm>
          <a:prstGeom prst="rect">
            <a:avLst/>
          </a:prstGeom>
          <a:noFill/>
          <a:ln/>
        </p:spPr>
        <p:txBody>
          <a:bodyPr wrap="square" lIns="0" tIns="0" rIns="0" bIns="0" rtlCol="0" anchor="ctr"/>
          <a:lstStyle/>
          <a:p>
            <a:pPr algn="ctr" indent="0" marL="0">
              <a:buNone/>
            </a:pPr>
            <a:r>
              <a:rPr lang="en-US" sz="4000" b="1" dirty="0">
                <a:solidFill>
                  <a:srgbClr val="1FB6A6"/>
                </a:solidFill>
                <a:latin typeface="Cambria" pitchFamily="34" charset="0"/>
                <a:ea typeface="Cambria" pitchFamily="34" charset="-122"/>
                <a:cs typeface="Cambria" pitchFamily="34" charset="-120"/>
              </a:rPr>
              <a:t>704</a:t>
            </a:r>
            <a:endParaRPr lang="en-US" sz="4000" dirty="0"/>
          </a:p>
        </p:txBody>
      </p:sp>
      <p:sp>
        <p:nvSpPr>
          <p:cNvPr id="15" name="Text 13"/>
          <p:cNvSpPr/>
          <p:nvPr/>
        </p:nvSpPr>
        <p:spPr>
          <a:xfrm>
            <a:off x="8321040" y="3977640"/>
            <a:ext cx="32004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tokens, flat</a:t>
            </a:r>
            <a:endParaRPr lang="en-US" sz="1500" dirty="0"/>
          </a:p>
        </p:txBody>
      </p:sp>
      <p:sp>
        <p:nvSpPr>
          <p:cNvPr id="16" name="Text 14"/>
          <p:cNvSpPr/>
          <p:nvPr/>
        </p:nvSpPr>
        <p:spPr>
          <a:xfrm>
            <a:off x="8458200" y="4389120"/>
            <a:ext cx="2926080" cy="914400"/>
          </a:xfrm>
          <a:prstGeom prst="rect">
            <a:avLst/>
          </a:prstGeom>
          <a:noFill/>
          <a:ln/>
        </p:spPr>
        <p:txBody>
          <a:bodyPr wrap="square" lIns="0" tIns="0" rIns="0" bIns="0" rtlCol="0" anchor="t"/>
          <a:lstStyle/>
          <a:p>
            <a:pPr algn="ctr" indent="0" marL="0">
              <a:buNone/>
            </a:pPr>
            <a:r>
              <a:rPr lang="en-US" sz="1250" dirty="0">
                <a:solidFill>
                  <a:srgbClr val="CADCFC"/>
                </a:solidFill>
                <a:latin typeface="Calibri" pitchFamily="34" charset="0"/>
                <a:ea typeface="Calibri" pitchFamily="34" charset="-122"/>
                <a:cs typeface="Calibri" pitchFamily="34" charset="-120"/>
              </a:rPr>
              <a:t>selective retrieval stays constant no matter how big the corpus grows</a:t>
            </a:r>
            <a:endParaRPr lang="en-US" sz="1250" dirty="0"/>
          </a:p>
        </p:txBody>
      </p:sp>
      <p:sp>
        <p:nvSpPr>
          <p:cNvPr id="17" name="Text 15"/>
          <p:cNvSpPr/>
          <p:nvPr/>
        </p:nvSpPr>
        <p:spPr>
          <a:xfrm>
            <a:off x="457200" y="6446520"/>
            <a:ext cx="9601200" cy="274320"/>
          </a:xfrm>
          <a:prstGeom prst="rect">
            <a:avLst/>
          </a:prstGeom>
          <a:noFill/>
          <a:ln/>
        </p:spPr>
        <p:txBody>
          <a:bodyPr wrap="square" lIns="0" tIns="0" rIns="0" bIns="0" rtlCol="0" anchor="ctr"/>
          <a:lstStyle/>
          <a:p>
            <a:pPr algn="l" indent="0" marL="0">
              <a:buNone/>
            </a:pPr>
            <a:r>
              <a:rPr lang="en-US" sz="900" dirty="0">
                <a:solidFill>
                  <a:srgbClr val="5E7088"/>
                </a:solidFill>
                <a:latin typeface="Calibri" pitchFamily="34" charset="0"/>
                <a:ea typeface="Calibri" pitchFamily="34" charset="-122"/>
                <a:cs typeface="Calibri" pitchFamily="34" charset="-120"/>
              </a:rPr>
              <a:t>Learnable Task-Adaptive Memory for LLM Agents  ·  S. Uifalean  ·  Bocconi MSc AI</a:t>
            </a:r>
            <a:endParaRPr lang="en-US" sz="900" dirty="0"/>
          </a:p>
        </p:txBody>
      </p:sp>
      <p:sp>
        <p:nvSpPr>
          <p:cNvPr id="18" name="Text 16"/>
          <p:cNvSpPr/>
          <p:nvPr/>
        </p:nvSpPr>
        <p:spPr>
          <a:xfrm>
            <a:off x="11247120" y="6446520"/>
            <a:ext cx="457200" cy="274320"/>
          </a:xfrm>
          <a:prstGeom prst="rect">
            <a:avLst/>
          </a:prstGeom>
          <a:noFill/>
          <a:ln/>
        </p:spPr>
        <p:txBody>
          <a:bodyPr wrap="square" lIns="0" tIns="0" rIns="0" bIns="0" rtlCol="0" anchor="ctr"/>
          <a:lstStyle/>
          <a:p>
            <a:pPr algn="r" indent="0" marL="0">
              <a:buNone/>
            </a:pPr>
            <a:r>
              <a:rPr lang="en-US" sz="900" dirty="0">
                <a:solidFill>
                  <a:srgbClr val="5E708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94A"/>
        </a:solidFill>
      </p:bgPr>
    </p:bg>
    <p:spTree>
      <p:nvGrpSpPr>
        <p:cNvPr id="1" name=""/>
        <p:cNvGrpSpPr/>
        <p:nvPr/>
      </p:nvGrpSpPr>
      <p:grpSpPr>
        <a:xfrm>
          <a:off x="0" y="0"/>
          <a:ext cx="0" cy="0"/>
          <a:chOff x="0" y="0"/>
          <a:chExt cx="0" cy="0"/>
        </a:xfrm>
      </p:grpSpPr>
      <p:sp>
        <p:nvSpPr>
          <p:cNvPr id="2" name="Shape 0"/>
          <p:cNvSpPr/>
          <p:nvPr/>
        </p:nvSpPr>
        <p:spPr>
          <a:xfrm>
            <a:off x="0" y="0"/>
            <a:ext cx="12161520" cy="128016"/>
          </a:xfrm>
          <a:prstGeom prst="rect">
            <a:avLst/>
          </a:prstGeom>
          <a:solidFill>
            <a:srgbClr val="1FB6A6"/>
          </a:solidFill>
          <a:ln/>
        </p:spPr>
      </p:sp>
      <p:sp>
        <p:nvSpPr>
          <p:cNvPr id="3" name="Text 1"/>
          <p:cNvSpPr/>
          <p:nvPr/>
        </p:nvSpPr>
        <p:spPr>
          <a:xfrm>
            <a:off x="822960" y="640080"/>
            <a:ext cx="10058400" cy="365760"/>
          </a:xfrm>
          <a:prstGeom prst="rect">
            <a:avLst/>
          </a:prstGeom>
          <a:noFill/>
          <a:ln/>
        </p:spPr>
        <p:txBody>
          <a:bodyPr wrap="square" lIns="0" tIns="0" rIns="0" bIns="0" rtlCol="0" anchor="ctr"/>
          <a:lstStyle/>
          <a:p>
            <a:pPr indent="0" marL="0">
              <a:buNone/>
            </a:pPr>
            <a:r>
              <a:rPr lang="en-US" sz="1400" b="1" spc="200" kern="0" dirty="0">
                <a:solidFill>
                  <a:srgbClr val="1FB6A6"/>
                </a:solidFill>
                <a:latin typeface="Calibri" pitchFamily="34" charset="0"/>
                <a:ea typeface="Calibri" pitchFamily="34" charset="-122"/>
                <a:cs typeface="Calibri" pitchFamily="34" charset="-120"/>
              </a:rPr>
              <a:t>BACK TO THE RESEARCH QUESTIONS</a:t>
            </a:r>
            <a:endParaRPr lang="en-US" sz="1400" dirty="0"/>
          </a:p>
        </p:txBody>
      </p:sp>
      <p:sp>
        <p:nvSpPr>
          <p:cNvPr id="4" name="Text 2"/>
          <p:cNvSpPr/>
          <p:nvPr/>
        </p:nvSpPr>
        <p:spPr>
          <a:xfrm>
            <a:off x="822960" y="1371600"/>
            <a:ext cx="1097280" cy="457200"/>
          </a:xfrm>
          <a:prstGeom prst="rect">
            <a:avLst/>
          </a:prstGeom>
          <a:noFill/>
          <a:ln/>
        </p:spPr>
        <p:txBody>
          <a:bodyPr wrap="square" lIns="0" tIns="0" rIns="0" bIns="0" rtlCol="0" anchor="ctr"/>
          <a:lstStyle/>
          <a:p>
            <a:pPr indent="0" marL="0">
              <a:buNone/>
            </a:pPr>
            <a:r>
              <a:rPr lang="en-US" sz="2000" b="1" dirty="0">
                <a:solidFill>
                  <a:srgbClr val="1FB6A6"/>
                </a:solidFill>
                <a:latin typeface="Cambria" pitchFamily="34" charset="0"/>
                <a:ea typeface="Cambria" pitchFamily="34" charset="-122"/>
                <a:cs typeface="Cambria" pitchFamily="34" charset="-120"/>
              </a:rPr>
              <a:t>RQ1</a:t>
            </a:r>
            <a:endParaRPr lang="en-US" sz="2000" dirty="0"/>
          </a:p>
        </p:txBody>
      </p:sp>
      <p:sp>
        <p:nvSpPr>
          <p:cNvPr id="5" name="Text 3"/>
          <p:cNvSpPr/>
          <p:nvPr/>
        </p:nvSpPr>
        <p:spPr>
          <a:xfrm>
            <a:off x="1920240" y="1371600"/>
            <a:ext cx="9418320" cy="365760"/>
          </a:xfrm>
          <a:prstGeom prst="rect">
            <a:avLst/>
          </a:prstGeom>
          <a:noFill/>
          <a:ln/>
        </p:spPr>
        <p:txBody>
          <a:bodyPr wrap="square" lIns="0" tIns="0" rIns="0" bIns="0" rtlCol="0" anchor="ctr"/>
          <a:lstStyle/>
          <a:p>
            <a:pPr indent="0" marL="0">
              <a:buNone/>
            </a:pPr>
            <a:r>
              <a:rPr lang="en-US" sz="1500" i="1" dirty="0">
                <a:solidFill>
                  <a:srgbClr val="AFC3E0"/>
                </a:solidFill>
                <a:latin typeface="Calibri" pitchFamily="34" charset="0"/>
                <a:ea typeface="Calibri" pitchFamily="34" charset="-122"/>
                <a:cs typeface="Calibri" pitchFamily="34" charset="-120"/>
              </a:rPr>
              <a:t>Can memory construction be learned?</a:t>
            </a:r>
            <a:endParaRPr lang="en-US" sz="1500" dirty="0"/>
          </a:p>
        </p:txBody>
      </p:sp>
      <p:sp>
        <p:nvSpPr>
          <p:cNvPr id="6" name="Text 4"/>
          <p:cNvSpPr/>
          <p:nvPr/>
        </p:nvSpPr>
        <p:spPr>
          <a:xfrm>
            <a:off x="1920240" y="1755648"/>
            <a:ext cx="9418320" cy="685800"/>
          </a:xfrm>
          <a:prstGeom prst="rect">
            <a:avLst/>
          </a:prstGeom>
          <a:noFill/>
          <a:ln/>
        </p:spPr>
        <p:txBody>
          <a:bodyPr wrap="square" lIns="0" tIns="0" rIns="0" bIns="0" rtlCol="0" anchor="t"/>
          <a:lstStyle/>
          <a:p>
            <a:pPr indent="0" marL="0">
              <a:buNone/>
            </a:pPr>
            <a:r>
              <a:rPr lang="en-US" sz="1650" b="1" dirty="0">
                <a:solidFill>
                  <a:srgbClr val="FFFFFF"/>
                </a:solidFill>
                <a:latin typeface="Calibri" pitchFamily="34" charset="0"/>
                <a:ea typeface="Calibri" pitchFamily="34" charset="-122"/>
                <a:cs typeface="Calibri" pitchFamily="34" charset="-120"/>
              </a:rPr>
              <a:t>Yes — what to store and how to retrieve are captured by a single vector θ, optimized by black-box search over the LLM.</a:t>
            </a:r>
            <a:endParaRPr lang="en-US" sz="1650" dirty="0"/>
          </a:p>
        </p:txBody>
      </p:sp>
      <p:sp>
        <p:nvSpPr>
          <p:cNvPr id="7" name="Text 5"/>
          <p:cNvSpPr/>
          <p:nvPr/>
        </p:nvSpPr>
        <p:spPr>
          <a:xfrm>
            <a:off x="822960" y="2880360"/>
            <a:ext cx="1097280" cy="457200"/>
          </a:xfrm>
          <a:prstGeom prst="rect">
            <a:avLst/>
          </a:prstGeom>
          <a:noFill/>
          <a:ln/>
        </p:spPr>
        <p:txBody>
          <a:bodyPr wrap="square" lIns="0" tIns="0" rIns="0" bIns="0" rtlCol="0" anchor="ctr"/>
          <a:lstStyle/>
          <a:p>
            <a:pPr indent="0" marL="0">
              <a:buNone/>
            </a:pPr>
            <a:r>
              <a:rPr lang="en-US" sz="2000" b="1" dirty="0">
                <a:solidFill>
                  <a:srgbClr val="1FB6A6"/>
                </a:solidFill>
                <a:latin typeface="Cambria" pitchFamily="34" charset="0"/>
                <a:ea typeface="Cambria" pitchFamily="34" charset="-122"/>
                <a:cs typeface="Cambria" pitchFamily="34" charset="-120"/>
              </a:rPr>
              <a:t>RQ2</a:t>
            </a:r>
            <a:endParaRPr lang="en-US" sz="2000" dirty="0"/>
          </a:p>
        </p:txBody>
      </p:sp>
      <p:sp>
        <p:nvSpPr>
          <p:cNvPr id="8" name="Text 6"/>
          <p:cNvSpPr/>
          <p:nvPr/>
        </p:nvSpPr>
        <p:spPr>
          <a:xfrm>
            <a:off x="1920240" y="2880360"/>
            <a:ext cx="9418320" cy="365760"/>
          </a:xfrm>
          <a:prstGeom prst="rect">
            <a:avLst/>
          </a:prstGeom>
          <a:noFill/>
          <a:ln/>
        </p:spPr>
        <p:txBody>
          <a:bodyPr wrap="square" lIns="0" tIns="0" rIns="0" bIns="0" rtlCol="0" anchor="ctr"/>
          <a:lstStyle/>
          <a:p>
            <a:pPr indent="0" marL="0">
              <a:buNone/>
            </a:pPr>
            <a:r>
              <a:rPr lang="en-US" sz="1500" i="1" dirty="0">
                <a:solidFill>
                  <a:srgbClr val="AFC3E0"/>
                </a:solidFill>
                <a:latin typeface="Calibri" pitchFamily="34" charset="0"/>
                <a:ea typeface="Calibri" pitchFamily="34" charset="-122"/>
                <a:cs typeface="Calibri" pitchFamily="34" charset="-120"/>
              </a:rPr>
              <a:t>Is the learned optimum task-dependent?</a:t>
            </a:r>
            <a:endParaRPr lang="en-US" sz="1500" dirty="0"/>
          </a:p>
        </p:txBody>
      </p:sp>
      <p:sp>
        <p:nvSpPr>
          <p:cNvPr id="9" name="Text 7"/>
          <p:cNvSpPr/>
          <p:nvPr/>
        </p:nvSpPr>
        <p:spPr>
          <a:xfrm>
            <a:off x="1920240" y="3264408"/>
            <a:ext cx="9418320" cy="685800"/>
          </a:xfrm>
          <a:prstGeom prst="rect">
            <a:avLst/>
          </a:prstGeom>
          <a:noFill/>
          <a:ln/>
        </p:spPr>
        <p:txBody>
          <a:bodyPr wrap="square" lIns="0" tIns="0" rIns="0" bIns="0" rtlCol="0" anchor="t"/>
          <a:lstStyle/>
          <a:p>
            <a:pPr indent="0" marL="0">
              <a:buNone/>
            </a:pPr>
            <a:r>
              <a:rPr lang="en-US" sz="1650" b="1" dirty="0">
                <a:solidFill>
                  <a:srgbClr val="FFFFFF"/>
                </a:solidFill>
                <a:latin typeface="Calibri" pitchFamily="34" charset="0"/>
                <a:ea typeface="Calibri" pitchFamily="34" charset="-122"/>
                <a:cs typeface="Calibri" pitchFamily="34" charset="-120"/>
              </a:rPr>
              <a:t>Yes — the optimizer recovers different θ per task; it transfers within a task family but not across families.</a:t>
            </a:r>
            <a:endParaRPr lang="en-US" sz="1650" dirty="0"/>
          </a:p>
        </p:txBody>
      </p:sp>
      <p:sp>
        <p:nvSpPr>
          <p:cNvPr id="10" name="Shape 8"/>
          <p:cNvSpPr/>
          <p:nvPr/>
        </p:nvSpPr>
        <p:spPr>
          <a:xfrm>
            <a:off x="822960" y="4343400"/>
            <a:ext cx="10515600" cy="1051560"/>
          </a:xfrm>
          <a:prstGeom prst="roundRect">
            <a:avLst>
              <a:gd name="adj" fmla="val 8696"/>
            </a:avLst>
          </a:prstGeom>
          <a:solidFill>
            <a:srgbClr val="0B1830"/>
          </a:solidFill>
          <a:ln/>
        </p:spPr>
      </p:sp>
      <p:sp>
        <p:nvSpPr>
          <p:cNvPr id="11" name="Text 9"/>
          <p:cNvSpPr/>
          <p:nvPr/>
        </p:nvSpPr>
        <p:spPr>
          <a:xfrm>
            <a:off x="1097280" y="4526280"/>
            <a:ext cx="9966960" cy="731520"/>
          </a:xfrm>
          <a:prstGeom prst="rect">
            <a:avLst/>
          </a:prstGeom>
          <a:noFill/>
          <a:ln/>
        </p:spPr>
        <p:txBody>
          <a:bodyPr wrap="square" lIns="0" tIns="0" rIns="0" bIns="0" rtlCol="0" anchor="ctr"/>
          <a:lstStyle/>
          <a:p>
            <a:pPr indent="0" marL="0">
              <a:buNone/>
            </a:pPr>
            <a:r>
              <a:rPr lang="en-US" sz="1450" b="1" dirty="0">
                <a:solidFill>
                  <a:srgbClr val="1FB6A6"/>
                </a:solidFill>
                <a:latin typeface="Calibri" pitchFamily="34" charset="0"/>
                <a:ea typeface="Calibri" pitchFamily="34" charset="-122"/>
                <a:cs typeface="Calibri" pitchFamily="34" charset="-120"/>
              </a:rPr>
              <a:t>And measured carefully:  </a:t>
            </a:r>
            <a:pPr indent="0" marL="0">
              <a:buNone/>
            </a:pPr>
            <a:r>
              <a:rPr lang="en-US" sz="1450" dirty="0">
                <a:solidFill>
                  <a:srgbClr val="FFFFFF"/>
                </a:solidFill>
                <a:latin typeface="Calibri" pitchFamily="34" charset="0"/>
                <a:ea typeface="Calibri" pitchFamily="34" charset="-122"/>
                <a:cs typeface="Calibri" pitchFamily="34" charset="-120"/>
              </a:rPr>
              <a:t>at corpus scale a learned memory buys efficiency and graceful scaling, not a free accuracy gain — a modest but honest step toward agents that adapt the structure of their own memory.</a:t>
            </a:r>
            <a:endParaRPr lang="en-US" sz="1450" dirty="0"/>
          </a:p>
        </p:txBody>
      </p:sp>
      <p:sp>
        <p:nvSpPr>
          <p:cNvPr id="12" name="Text 10"/>
          <p:cNvSpPr/>
          <p:nvPr/>
        </p:nvSpPr>
        <p:spPr>
          <a:xfrm>
            <a:off x="822960" y="5623560"/>
            <a:ext cx="105156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Thank you — questions welcome.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Learnable, Task-Adaptive Structured Memory for LLM Agents</dc:title>
  <dc:subject>PptxGenJS Presentation</dc:subject>
  <dc:creator>Stefan Uifalean</dc:creator>
  <cp:lastModifiedBy>Stefan Uifalean</cp:lastModifiedBy>
  <cp:revision>1</cp:revision>
  <dcterms:created xsi:type="dcterms:W3CDTF">2026-07-14T21:16:16Z</dcterms:created>
  <dcterms:modified xsi:type="dcterms:W3CDTF">2026-07-14T21:16:16Z</dcterms:modified>
</cp:coreProperties>
</file>