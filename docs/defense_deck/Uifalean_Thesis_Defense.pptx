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canonical</c:v>
                </c:pt>
              </c:strCache>
            </c:strRef>
          </c:tx>
          <c:spPr>
            <a:solidFill>
              <a:srgbClr val="7C8FA8"/>
            </a:solidFill>
            <a:effectLst/>
          </c:spPr>
          <c:invertIfNegative val="0"/>
          <c:dLbls>
            <c:numFmt formatCode="0.00" sourceLinked="0"/>
            <c:txPr>
              <a:bodyPr/>
              <a:lstStyle/>
              <a:p>
                <a:pPr>
                  <a:defRPr b="0" i="0" strike="noStrike" sz="2800" u="none">
                    <a:solidFill>
                      <a:srgbClr val="F2F6F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FinanceBench</c:v>
                  </c:pt>
                  <c:pt idx="1">
                    <c:v>CUAD</c:v>
                  </c:pt>
                  <c:pt idx="2">
                    <c:v>QASPER</c:v>
                  </c:pt>
                </c:lvl>
              </c:multiLvlStrCache>
            </c:multiLvlStrRef>
          </c:cat>
          <c:val>
            <c:numRef>
              <c:f>Sheet1!$B$2:$B$4</c:f>
              <c:numCache>
                <c:formatCode>General</c:formatCode>
                <c:ptCount val="3"/>
                <c:pt idx="0">
                  <c:v>0.243</c:v>
                </c:pt>
                <c:pt idx="1">
                  <c:v>0.028</c:v>
                </c:pt>
                <c:pt idx="2">
                  <c:v>0.25</c:v>
                </c:pt>
              </c:numCache>
            </c:numRef>
          </c:val>
        </c:ser>
        <c:ser>
          <c:idx val="1"/>
          <c:order val="1"/>
          <c:tx>
            <c:strRef>
              <c:f>Sheet1!$C$1</c:f>
              <c:strCache>
                <c:ptCount val="1"/>
                <c:pt idx="0">
                  <c:v>corpus-tuned</c:v>
                </c:pt>
              </c:strCache>
            </c:strRef>
          </c:tx>
          <c:spPr>
            <a:solidFill>
              <a:srgbClr val="1FB6A6"/>
            </a:solidFill>
            <a:effectLst/>
          </c:spPr>
          <c:invertIfNegative val="0"/>
          <c:dLbls>
            <c:numFmt formatCode="0.00" sourceLinked="0"/>
            <c:txPr>
              <a:bodyPr/>
              <a:lstStyle/>
              <a:p>
                <a:pPr>
                  <a:defRPr b="0" i="0" strike="noStrike" sz="2800" u="none">
                    <a:solidFill>
                      <a:srgbClr val="F2F6F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FinanceBench</c:v>
                  </c:pt>
                  <c:pt idx="1">
                    <c:v>CUAD</c:v>
                  </c:pt>
                  <c:pt idx="2">
                    <c:v>QASPER</c:v>
                  </c:pt>
                </c:lvl>
              </c:multiLvlStrCache>
            </c:multiLvlStrRef>
          </c:cat>
          <c:val>
            <c:numRef>
              <c:f>Sheet1!$C$2:$C$4</c:f>
              <c:numCache>
                <c:formatCode>General</c:formatCode>
                <c:ptCount val="3"/>
                <c:pt idx="0">
                  <c:v>0.645</c:v>
                </c:pt>
                <c:pt idx="1">
                  <c:v>0.172</c:v>
                </c:pt>
                <c:pt idx="2">
                  <c:v>0.415</c:v>
                </c:pt>
              </c:numCache>
            </c:numRef>
          </c:val>
        </c:ser>
        <c:dLbls>
          <c:numFmt formatCode="0.00" sourceLinked="0"/>
          <c:txPr>
            <a:bodyPr/>
            <a:lstStyle/>
            <a:p>
              <a:pPr>
                <a:defRPr b="0" i="0" strike="noStrike" sz="2800" u="none">
                  <a:solidFill>
                    <a:srgbClr val="F2F6F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1E3050"/>
            </a:solidFill>
            <a:prstDash val="solid"/>
            <a:round/>
          </a:ln>
        </c:spPr>
        <c:txPr>
          <a:bodyPr/>
          <a:lstStyle/>
          <a:p>
            <a:pPr>
              <a:defRPr sz="3000" b="0" i="0" u="none" strike="noStrike">
                <a:solidFill>
                  <a:srgbClr val="F2F6FB"/>
                </a:solidFill>
                <a:latin typeface="Calibri"/>
              </a:defRPr>
            </a:pPr>
            <a:endParaRPr lang="en-US"/>
          </a:p>
        </c:txPr>
        <c:crossAx val="2094734552"/>
        <c:crosses val="autoZero"/>
        <c:auto val="1"/>
        <c:lblAlgn val="ctr"/>
        <c:noMultiLvlLbl val="1"/>
      </c:catAx>
      <c:valAx>
        <c:axId val="2094734552"/>
        <c:scaling>
          <c:orientation val="minMax"/>
          <c:max val="0.78"/>
          <c:min val="0"/>
        </c:scaling>
        <c:delete val="1"/>
        <c:axPos val="l"/>
        <c:numFmt formatCode="General" sourceLinked="0"/>
        <c:majorTickMark val="out"/>
        <c:minorTickMark val="none"/>
        <c:tickLblPos val="nextTo"/>
        <c:spPr>
          <a:ln w="12700" cap="flat">
            <a:solidFill>
              <a:srgbClr val="0C1A2E"/>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C1A2E"/>
        </a:solidFill>
        <a:ln>
          <a:noFill/>
        </a:ln>
        <a:effectLst/>
      </c:spPr>
    </c:plotArea>
    <c:plotVisOnly val="1"/>
    <c:dispBlanksAs val="span"/>
  </c:chart>
  <c:spPr>
    <a:solidFill>
      <a:srgbClr val="0C1A2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thesis asks whether an agent can learn how to build its own memory — instead of us hand-designing it and freezing it — and whether the best memory differs from task to task. Ten minutes: I'll show you the problem, the two questions, how we did it, what we found, and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problem, concretely. An agent ingests five hundred legal contracts, one clause at a time. You ask it about contract number three. A standard memory scores retrieval by RECENCY — so it hands back clauses from contract five hundred, the most recent thing it saw, and gets the answer wrong. It has SEEN the right evidence. The memory rule that helps a fresh document actively hurts an end-of-corpus question. The rule should depend on the task — but today it's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gives two research questions. One: can an agent LEARN how to construct its own memory — what to store, which concepts to track, how to score retrieval? Two: is that learned optimum task-dependent — does the best memory genuinely differ from one task to another? Spoiler: the answer to both is yes, but the second one is the interesting one, and the honest version of the first is narrower than you'd expect. I'll come back to both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make memory construction itself a learnable object. A single vector — theta, ten numbers — governs the whole pipeline. Four numbers decide what gets STORED. Three decide how entities are ABSTRACTED into a memory graph. Three decide how a candidate is scored at RETRIEVAL. That's it. And crucially we optimize theta ONLY — never the agent's policy, never the language model's weights. So this is not a new LLM and not a new RL agent. It's a small, interpretable knob on top of a frozen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retrieval actually work? Every item in memory gets a score, and the agent keeps the top eight. The score is three signals added up. MEANING: does this item mean the same as the question — embedding similarity, zero to one. FRESHNESS: how recently did I see it. LINK: is it connected to the question in the entity graph — on or off. Three of theta's ten numbers are simply how loudly each signal votes. In the contract example, the freshness vote was set too loud, so the newest document always won. Learning theta is learning how loud to set each vote. One honest note: the LINK vote turned out to carry no measurable weight on our corpora — the graph earns its place at storage time, not retrieval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learn theta? Black-box search — an evolution strategy, then CMA-ES. Two reasons it's derivative-free: the storage decision is discrete, and the objective is recall-at-eight of the gold evidence, which uses no language model at all. That matters twice: tuning is cheap, and it cannot be biased by the judge that later scores the answers. We tested in three stages of rising realism: small grid worlds, then a twelve-system benchmark, then six real LLM benchmarks with a GPT-4o-mini answerer and a cross-vendor Claude judge scoring every answer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grid worlds. The headline is not this number — it's that the recovered VECTORS differ. Key-Door learns to discard most events but keep temporal order. Goal-Room learns to store everything. Different tasks, genuinely different optimal memory. That's the cleanest evidence for research question two. On the hardest task, the learned rule lifts success from two and a half percent to twenty-seven and a half. It's a single-seed proof of concept and I say so in the thesis. Stage two scaled this to twelve memory systems on four environments: we reach the top cluster — a statistical TIE with the strongest baseline, not a number one, and I report it as a tie. Ablation tells us why it works: the novelty parameter is load-bearing; zero it and reward collapses. And the graph-traversal weight is inert at retrieval — an honest negative I keep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real LLMs over real corpora. Questions are asked at the END of the corpus — the hard case from slide two. Re-tuning theta per corpus lifts judged accuracy on all three domain-coherent benchmarks. FinanceBench goes from 0.24 to 0.65. On a held-out split, two of the three survive multiple-comparison correction — FinanceBench and CUAD do, QASPER does not, and I report that as non-significant. The mechanism is consistent across all of them: tuning drives the recency weight to nearly zero and pushes the embedding weight up. The memory stops chasing the newest document and starts retrieving by meaning — exactly what an end-of-corpus question needs. And the tuning objective is validated: retrieval recall predicts the judge's score at rho 0.69.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part I'm proudest of, because our own audit forced it. We tested a 'dump everything into the prompt' baseline. Once we fixed a truncation bug, that baseline is statistically TIED with selective memory on accuracy. So I do NOT claim learned memory is more accurate at corpus scale. The honest claim is efficiency and scalability: it matches that accuracy at roughly eighteen times lower token cost, and — structurally — full-context can't even run past about eleven CUAD contracts before it overflows the context window, while selective retrieval holds its prompt flat at around seven hundred tokens. Beyond a few documents, retrieving the right things stops being an optimization and becomes a necessity.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the two questions. One: yes — what to store and how to retrieve are captured by a single ten-number vector, optimized by black-box search over a frozen LLM. Two: yes — the optimizer recovers a different theta for every task, and it transfers within a task family but not across families. And measured carefully, at corpus scale the win is efficiency and graceful scaling rather than free accuracy. A modest, but honest, step toward agents that adapt not just their actions but the structure of their own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1737360"/>
            <a:ext cx="10607040" cy="1828800"/>
          </a:xfrm>
          <a:prstGeom prst="rect">
            <a:avLst/>
          </a:prstGeom>
          <a:noFill/>
          <a:ln/>
        </p:spPr>
        <p:txBody>
          <a:bodyPr wrap="square" lIns="0" tIns="0" rIns="0" bIns="0" rtlCol="0" anchor="ctr"/>
          <a:lstStyle/>
          <a:p>
            <a:pPr indent="0" marL="0">
              <a:lnSpc>
                <a:spcPct val="105000"/>
              </a:lnSpc>
              <a:buNone/>
            </a:pPr>
            <a:r>
              <a:rPr lang="en-US" sz="4400" b="1" dirty="0">
                <a:solidFill>
                  <a:srgbClr val="F2F6FB"/>
                </a:solidFill>
                <a:latin typeface="Calibri" pitchFamily="34" charset="0"/>
                <a:ea typeface="Calibri" pitchFamily="34" charset="-122"/>
                <a:cs typeface="Calibri" pitchFamily="34" charset="-120"/>
              </a:rPr>
              <a:t>Learnable, Task-Adaptive</a:t>
            </a:r>
            <a:endParaRPr lang="en-US" sz="4400" dirty="0"/>
          </a:p>
          <a:p>
            <a:pPr indent="0" marL="0">
              <a:lnSpc>
                <a:spcPct val="105000"/>
              </a:lnSpc>
              <a:buNone/>
            </a:pPr>
            <a:r>
              <a:rPr lang="en-US" sz="4400" b="1" dirty="0">
                <a:solidFill>
                  <a:srgbClr val="F2F6FB"/>
                </a:solidFill>
                <a:latin typeface="Calibri" pitchFamily="34" charset="0"/>
                <a:ea typeface="Calibri" pitchFamily="34" charset="-122"/>
                <a:cs typeface="Calibri" pitchFamily="34" charset="-120"/>
              </a:rPr>
              <a:t>Structured Memory for LLM Agents</a:t>
            </a:r>
            <a:endParaRPr lang="en-US" sz="4400" dirty="0"/>
          </a:p>
        </p:txBody>
      </p:sp>
      <p:sp>
        <p:nvSpPr>
          <p:cNvPr id="3" name="Shape 1"/>
          <p:cNvSpPr/>
          <p:nvPr/>
        </p:nvSpPr>
        <p:spPr>
          <a:xfrm>
            <a:off x="868680" y="3794760"/>
            <a:ext cx="2743200" cy="0"/>
          </a:xfrm>
          <a:prstGeom prst="line">
            <a:avLst/>
          </a:prstGeom>
          <a:noFill/>
          <a:ln w="38100">
            <a:solidFill>
              <a:srgbClr val="1FB6A6"/>
            </a:solidFill>
            <a:prstDash val="solid"/>
          </a:ln>
        </p:spPr>
      </p:sp>
      <p:sp>
        <p:nvSpPr>
          <p:cNvPr id="4" name="Text 2"/>
          <p:cNvSpPr/>
          <p:nvPr/>
        </p:nvSpPr>
        <p:spPr>
          <a:xfrm>
            <a:off x="822960" y="4114800"/>
            <a:ext cx="10058400" cy="457200"/>
          </a:xfrm>
          <a:prstGeom prst="rect">
            <a:avLst/>
          </a:prstGeom>
          <a:noFill/>
          <a:ln/>
        </p:spPr>
        <p:txBody>
          <a:bodyPr wrap="square" lIns="0" tIns="0" rIns="0" bIns="0" rtlCol="0" anchor="ctr"/>
          <a:lstStyle/>
          <a:p>
            <a:pPr indent="0" marL="0">
              <a:buNone/>
            </a:pPr>
            <a:r>
              <a:rPr lang="en-US" sz="3000" b="1" dirty="0">
                <a:solidFill>
                  <a:srgbClr val="F2F6FB"/>
                </a:solidFill>
                <a:latin typeface="Calibri" pitchFamily="34" charset="0"/>
                <a:ea typeface="Calibri" pitchFamily="34" charset="-122"/>
                <a:cs typeface="Calibri" pitchFamily="34" charset="-120"/>
              </a:rPr>
              <a:t>Stefan Uifalean</a:t>
            </a:r>
            <a:endParaRPr lang="en-US" sz="3000" dirty="0"/>
          </a:p>
        </p:txBody>
      </p:sp>
      <p:sp>
        <p:nvSpPr>
          <p:cNvPr id="5" name="Text 3"/>
          <p:cNvSpPr/>
          <p:nvPr/>
        </p:nvSpPr>
        <p:spPr>
          <a:xfrm>
            <a:off x="822960" y="4645152"/>
            <a:ext cx="10058400" cy="457200"/>
          </a:xfrm>
          <a:prstGeom prst="rect">
            <a:avLst/>
          </a:prstGeom>
          <a:noFill/>
          <a:ln/>
        </p:spPr>
        <p:txBody>
          <a:bodyPr wrap="square" lIns="0" tIns="0" rIns="0" bIns="0" rtlCol="0" anchor="ctr"/>
          <a:lstStyle/>
          <a:p>
            <a:pPr indent="0" marL="0">
              <a:buNone/>
            </a:pPr>
            <a:r>
              <a:rPr lang="en-US" sz="3000" dirty="0">
                <a:solidFill>
                  <a:srgbClr val="8FA6C4"/>
                </a:solidFill>
                <a:latin typeface="Calibri" pitchFamily="34" charset="0"/>
                <a:ea typeface="Calibri" pitchFamily="34" charset="-122"/>
                <a:cs typeface="Calibri" pitchFamily="34" charset="-120"/>
              </a:rPr>
              <a:t>MSc Artificial Intelligence  ·  Bocconi University</a:t>
            </a:r>
            <a:endParaRPr lang="en-US" sz="3000" dirty="0"/>
          </a:p>
        </p:txBody>
      </p:sp>
      <p:sp>
        <p:nvSpPr>
          <p:cNvPr id="6" name="Text 4"/>
          <p:cNvSpPr/>
          <p:nvPr/>
        </p:nvSpPr>
        <p:spPr>
          <a:xfrm>
            <a:off x="822960" y="5166360"/>
            <a:ext cx="10058400" cy="457200"/>
          </a:xfrm>
          <a:prstGeom prst="rect">
            <a:avLst/>
          </a:prstGeom>
          <a:noFill/>
          <a:ln/>
        </p:spPr>
        <p:txBody>
          <a:bodyPr wrap="square" lIns="0" tIns="0" rIns="0" bIns="0" rtlCol="0" anchor="ctr"/>
          <a:lstStyle/>
          <a:p>
            <a:pPr indent="0" marL="0">
              <a:buNone/>
            </a:pPr>
            <a:r>
              <a:rPr lang="en-US" sz="3000" dirty="0">
                <a:solidFill>
                  <a:srgbClr val="8FA6C4"/>
                </a:solidFill>
                <a:latin typeface="Calibri" pitchFamily="34" charset="0"/>
                <a:ea typeface="Calibri" pitchFamily="34" charset="-122"/>
                <a:cs typeface="Calibri" pitchFamily="34" charset="-120"/>
              </a:rPr>
              <a:t>Supervisor: Prof. Dirk Hovy</a:t>
            </a:r>
            <a:endParaRPr lang="en-US" sz="3000" dirty="0"/>
          </a:p>
        </p:txBody>
      </p:sp>
      <p:sp>
        <p:nvSpPr>
          <p:cNvPr id="8" name="Text 5"/>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960120"/>
            <a:ext cx="10607040" cy="640080"/>
          </a:xfrm>
          <a:prstGeom prst="rect">
            <a:avLst/>
          </a:prstGeom>
          <a:noFill/>
          <a:ln/>
        </p:spPr>
        <p:txBody>
          <a:bodyPr wrap="square" lIns="0" tIns="0" rIns="0" bIns="0" rtlCol="0" anchor="ctr"/>
          <a:lstStyle/>
          <a:p>
            <a:pPr indent="0" marL="0">
              <a:buNone/>
            </a:pPr>
            <a:r>
              <a:rPr lang="en-US" sz="4000" dirty="0">
                <a:solidFill>
                  <a:srgbClr val="F2F6FB"/>
                </a:solidFill>
                <a:latin typeface="Calibri" pitchFamily="34" charset="0"/>
                <a:ea typeface="Calibri" pitchFamily="34" charset="-122"/>
                <a:cs typeface="Calibri" pitchFamily="34" charset="-120"/>
              </a:rPr>
              <a:t>The agent reads 500 contracts.</a:t>
            </a:r>
            <a:endParaRPr lang="en-US" sz="4000" dirty="0"/>
          </a:p>
        </p:txBody>
      </p:sp>
      <p:sp>
        <p:nvSpPr>
          <p:cNvPr id="3" name="Text 1"/>
          <p:cNvSpPr/>
          <p:nvPr/>
        </p:nvSpPr>
        <p:spPr>
          <a:xfrm>
            <a:off x="822960" y="1645920"/>
            <a:ext cx="10607040" cy="640080"/>
          </a:xfrm>
          <a:prstGeom prst="rect">
            <a:avLst/>
          </a:prstGeom>
          <a:noFill/>
          <a:ln/>
        </p:spPr>
        <p:txBody>
          <a:bodyPr wrap="square" lIns="0" tIns="0" rIns="0" bIns="0" rtlCol="0" anchor="ctr"/>
          <a:lstStyle/>
          <a:p>
            <a:pPr indent="0" marL="0">
              <a:buNone/>
            </a:pPr>
            <a:r>
              <a:rPr lang="en-US" sz="4000" dirty="0">
                <a:solidFill>
                  <a:srgbClr val="F2F6FB"/>
                </a:solidFill>
                <a:latin typeface="Calibri" pitchFamily="34" charset="0"/>
                <a:ea typeface="Calibri" pitchFamily="34" charset="-122"/>
                <a:cs typeface="Calibri" pitchFamily="34" charset="-120"/>
              </a:rPr>
              <a:t>Ask about #3 — </a:t>
            </a:r>
            <a:pPr indent="0" marL="0">
              <a:buNone/>
            </a:pPr>
            <a:r>
              <a:rPr lang="en-US" sz="4000" b="1" dirty="0">
                <a:solidFill>
                  <a:srgbClr val="E6A23C"/>
                </a:solidFill>
                <a:latin typeface="Calibri" pitchFamily="34" charset="0"/>
                <a:ea typeface="Calibri" pitchFamily="34" charset="-122"/>
                <a:cs typeface="Calibri" pitchFamily="34" charset="-120"/>
              </a:rPr>
              <a:t>it answers from #500.</a:t>
            </a:r>
            <a:endParaRPr lang="en-US" sz="4000" dirty="0"/>
          </a:p>
        </p:txBody>
      </p:sp>
      <p:sp>
        <p:nvSpPr>
          <p:cNvPr id="4" name="Shape 2"/>
          <p:cNvSpPr/>
          <p:nvPr/>
        </p:nvSpPr>
        <p:spPr>
          <a:xfrm>
            <a:off x="822960" y="4434840"/>
            <a:ext cx="128016" cy="640080"/>
          </a:xfrm>
          <a:prstGeom prst="rect">
            <a:avLst/>
          </a:prstGeom>
          <a:solidFill>
            <a:srgbClr val="223A5E"/>
          </a:solidFill>
          <a:ln/>
        </p:spPr>
      </p:sp>
      <p:sp>
        <p:nvSpPr>
          <p:cNvPr id="5" name="Shape 3"/>
          <p:cNvSpPr/>
          <p:nvPr/>
        </p:nvSpPr>
        <p:spPr>
          <a:xfrm>
            <a:off x="1115060" y="4434840"/>
            <a:ext cx="128016" cy="640080"/>
          </a:xfrm>
          <a:prstGeom prst="rect">
            <a:avLst/>
          </a:prstGeom>
          <a:solidFill>
            <a:srgbClr val="223A5E"/>
          </a:solidFill>
          <a:ln/>
        </p:spPr>
      </p:sp>
      <p:sp>
        <p:nvSpPr>
          <p:cNvPr id="6" name="Shape 4"/>
          <p:cNvSpPr/>
          <p:nvPr/>
        </p:nvSpPr>
        <p:spPr>
          <a:xfrm>
            <a:off x="1407160" y="3840480"/>
            <a:ext cx="146304" cy="1234440"/>
          </a:xfrm>
          <a:prstGeom prst="rect">
            <a:avLst/>
          </a:prstGeom>
          <a:solidFill>
            <a:srgbClr val="1FB6A6"/>
          </a:solidFill>
          <a:ln/>
        </p:spPr>
      </p:sp>
      <p:sp>
        <p:nvSpPr>
          <p:cNvPr id="7" name="Shape 5"/>
          <p:cNvSpPr/>
          <p:nvPr/>
        </p:nvSpPr>
        <p:spPr>
          <a:xfrm>
            <a:off x="1699260" y="4434840"/>
            <a:ext cx="128016" cy="640080"/>
          </a:xfrm>
          <a:prstGeom prst="rect">
            <a:avLst/>
          </a:prstGeom>
          <a:solidFill>
            <a:srgbClr val="223A5E"/>
          </a:solidFill>
          <a:ln/>
        </p:spPr>
      </p:sp>
      <p:sp>
        <p:nvSpPr>
          <p:cNvPr id="8" name="Shape 6"/>
          <p:cNvSpPr/>
          <p:nvPr/>
        </p:nvSpPr>
        <p:spPr>
          <a:xfrm>
            <a:off x="1991360" y="4434840"/>
            <a:ext cx="128016" cy="640080"/>
          </a:xfrm>
          <a:prstGeom prst="rect">
            <a:avLst/>
          </a:prstGeom>
          <a:solidFill>
            <a:srgbClr val="223A5E"/>
          </a:solidFill>
          <a:ln/>
        </p:spPr>
      </p:sp>
      <p:sp>
        <p:nvSpPr>
          <p:cNvPr id="9" name="Shape 7"/>
          <p:cNvSpPr/>
          <p:nvPr/>
        </p:nvSpPr>
        <p:spPr>
          <a:xfrm>
            <a:off x="2283460" y="4434840"/>
            <a:ext cx="128016" cy="640080"/>
          </a:xfrm>
          <a:prstGeom prst="rect">
            <a:avLst/>
          </a:prstGeom>
          <a:solidFill>
            <a:srgbClr val="223A5E"/>
          </a:solidFill>
          <a:ln/>
        </p:spPr>
      </p:sp>
      <p:sp>
        <p:nvSpPr>
          <p:cNvPr id="10" name="Shape 8"/>
          <p:cNvSpPr/>
          <p:nvPr/>
        </p:nvSpPr>
        <p:spPr>
          <a:xfrm>
            <a:off x="2575560" y="4434840"/>
            <a:ext cx="128016" cy="640080"/>
          </a:xfrm>
          <a:prstGeom prst="rect">
            <a:avLst/>
          </a:prstGeom>
          <a:solidFill>
            <a:srgbClr val="223A5E"/>
          </a:solidFill>
          <a:ln/>
        </p:spPr>
      </p:sp>
      <p:sp>
        <p:nvSpPr>
          <p:cNvPr id="11" name="Shape 9"/>
          <p:cNvSpPr/>
          <p:nvPr/>
        </p:nvSpPr>
        <p:spPr>
          <a:xfrm>
            <a:off x="2867660" y="4434840"/>
            <a:ext cx="128016" cy="640080"/>
          </a:xfrm>
          <a:prstGeom prst="rect">
            <a:avLst/>
          </a:prstGeom>
          <a:solidFill>
            <a:srgbClr val="223A5E"/>
          </a:solidFill>
          <a:ln/>
        </p:spPr>
      </p:sp>
      <p:sp>
        <p:nvSpPr>
          <p:cNvPr id="12" name="Shape 10"/>
          <p:cNvSpPr/>
          <p:nvPr/>
        </p:nvSpPr>
        <p:spPr>
          <a:xfrm>
            <a:off x="3159760" y="4434840"/>
            <a:ext cx="128016" cy="640080"/>
          </a:xfrm>
          <a:prstGeom prst="rect">
            <a:avLst/>
          </a:prstGeom>
          <a:solidFill>
            <a:srgbClr val="223A5E"/>
          </a:solidFill>
          <a:ln/>
        </p:spPr>
      </p:sp>
      <p:sp>
        <p:nvSpPr>
          <p:cNvPr id="13" name="Shape 11"/>
          <p:cNvSpPr/>
          <p:nvPr/>
        </p:nvSpPr>
        <p:spPr>
          <a:xfrm>
            <a:off x="3451860" y="4434840"/>
            <a:ext cx="128016" cy="640080"/>
          </a:xfrm>
          <a:prstGeom prst="rect">
            <a:avLst/>
          </a:prstGeom>
          <a:solidFill>
            <a:srgbClr val="223A5E"/>
          </a:solidFill>
          <a:ln/>
        </p:spPr>
      </p:sp>
      <p:sp>
        <p:nvSpPr>
          <p:cNvPr id="14" name="Shape 12"/>
          <p:cNvSpPr/>
          <p:nvPr/>
        </p:nvSpPr>
        <p:spPr>
          <a:xfrm>
            <a:off x="3743960" y="4434840"/>
            <a:ext cx="128016" cy="640080"/>
          </a:xfrm>
          <a:prstGeom prst="rect">
            <a:avLst/>
          </a:prstGeom>
          <a:solidFill>
            <a:srgbClr val="223A5E"/>
          </a:solidFill>
          <a:ln/>
        </p:spPr>
      </p:sp>
      <p:sp>
        <p:nvSpPr>
          <p:cNvPr id="15" name="Shape 13"/>
          <p:cNvSpPr/>
          <p:nvPr/>
        </p:nvSpPr>
        <p:spPr>
          <a:xfrm>
            <a:off x="4036060" y="4434840"/>
            <a:ext cx="128016" cy="640080"/>
          </a:xfrm>
          <a:prstGeom prst="rect">
            <a:avLst/>
          </a:prstGeom>
          <a:solidFill>
            <a:srgbClr val="223A5E"/>
          </a:solidFill>
          <a:ln/>
        </p:spPr>
      </p:sp>
      <p:sp>
        <p:nvSpPr>
          <p:cNvPr id="16" name="Shape 14"/>
          <p:cNvSpPr/>
          <p:nvPr/>
        </p:nvSpPr>
        <p:spPr>
          <a:xfrm>
            <a:off x="4328160" y="4434840"/>
            <a:ext cx="128016" cy="640080"/>
          </a:xfrm>
          <a:prstGeom prst="rect">
            <a:avLst/>
          </a:prstGeom>
          <a:solidFill>
            <a:srgbClr val="223A5E"/>
          </a:solidFill>
          <a:ln/>
        </p:spPr>
      </p:sp>
      <p:sp>
        <p:nvSpPr>
          <p:cNvPr id="17" name="Shape 15"/>
          <p:cNvSpPr/>
          <p:nvPr/>
        </p:nvSpPr>
        <p:spPr>
          <a:xfrm>
            <a:off x="4620260" y="4434840"/>
            <a:ext cx="128016" cy="640080"/>
          </a:xfrm>
          <a:prstGeom prst="rect">
            <a:avLst/>
          </a:prstGeom>
          <a:solidFill>
            <a:srgbClr val="223A5E"/>
          </a:solidFill>
          <a:ln/>
        </p:spPr>
      </p:sp>
      <p:sp>
        <p:nvSpPr>
          <p:cNvPr id="18" name="Shape 16"/>
          <p:cNvSpPr/>
          <p:nvPr/>
        </p:nvSpPr>
        <p:spPr>
          <a:xfrm>
            <a:off x="4912360" y="4434840"/>
            <a:ext cx="128016" cy="640080"/>
          </a:xfrm>
          <a:prstGeom prst="rect">
            <a:avLst/>
          </a:prstGeom>
          <a:solidFill>
            <a:srgbClr val="223A5E"/>
          </a:solidFill>
          <a:ln/>
        </p:spPr>
      </p:sp>
      <p:sp>
        <p:nvSpPr>
          <p:cNvPr id="19" name="Shape 17"/>
          <p:cNvSpPr/>
          <p:nvPr/>
        </p:nvSpPr>
        <p:spPr>
          <a:xfrm>
            <a:off x="5204460" y="4434840"/>
            <a:ext cx="128016" cy="640080"/>
          </a:xfrm>
          <a:prstGeom prst="rect">
            <a:avLst/>
          </a:prstGeom>
          <a:solidFill>
            <a:srgbClr val="223A5E"/>
          </a:solidFill>
          <a:ln/>
        </p:spPr>
      </p:sp>
      <p:sp>
        <p:nvSpPr>
          <p:cNvPr id="20" name="Shape 18"/>
          <p:cNvSpPr/>
          <p:nvPr/>
        </p:nvSpPr>
        <p:spPr>
          <a:xfrm>
            <a:off x="5496560" y="4434840"/>
            <a:ext cx="128016" cy="640080"/>
          </a:xfrm>
          <a:prstGeom prst="rect">
            <a:avLst/>
          </a:prstGeom>
          <a:solidFill>
            <a:srgbClr val="223A5E"/>
          </a:solidFill>
          <a:ln/>
        </p:spPr>
      </p:sp>
      <p:sp>
        <p:nvSpPr>
          <p:cNvPr id="21" name="Shape 19"/>
          <p:cNvSpPr/>
          <p:nvPr/>
        </p:nvSpPr>
        <p:spPr>
          <a:xfrm>
            <a:off x="5788660" y="4434840"/>
            <a:ext cx="128016" cy="640080"/>
          </a:xfrm>
          <a:prstGeom prst="rect">
            <a:avLst/>
          </a:prstGeom>
          <a:solidFill>
            <a:srgbClr val="223A5E"/>
          </a:solidFill>
          <a:ln/>
        </p:spPr>
      </p:sp>
      <p:sp>
        <p:nvSpPr>
          <p:cNvPr id="22" name="Shape 20"/>
          <p:cNvSpPr/>
          <p:nvPr/>
        </p:nvSpPr>
        <p:spPr>
          <a:xfrm>
            <a:off x="6080760" y="4434840"/>
            <a:ext cx="128016" cy="640080"/>
          </a:xfrm>
          <a:prstGeom prst="rect">
            <a:avLst/>
          </a:prstGeom>
          <a:solidFill>
            <a:srgbClr val="223A5E"/>
          </a:solidFill>
          <a:ln/>
        </p:spPr>
      </p:sp>
      <p:sp>
        <p:nvSpPr>
          <p:cNvPr id="23" name="Shape 21"/>
          <p:cNvSpPr/>
          <p:nvPr/>
        </p:nvSpPr>
        <p:spPr>
          <a:xfrm>
            <a:off x="6372860" y="4434840"/>
            <a:ext cx="128016" cy="640080"/>
          </a:xfrm>
          <a:prstGeom prst="rect">
            <a:avLst/>
          </a:prstGeom>
          <a:solidFill>
            <a:srgbClr val="223A5E"/>
          </a:solidFill>
          <a:ln/>
        </p:spPr>
      </p:sp>
      <p:sp>
        <p:nvSpPr>
          <p:cNvPr id="24" name="Shape 22"/>
          <p:cNvSpPr/>
          <p:nvPr/>
        </p:nvSpPr>
        <p:spPr>
          <a:xfrm>
            <a:off x="6664960" y="4434840"/>
            <a:ext cx="128016" cy="640080"/>
          </a:xfrm>
          <a:prstGeom prst="rect">
            <a:avLst/>
          </a:prstGeom>
          <a:solidFill>
            <a:srgbClr val="223A5E"/>
          </a:solidFill>
          <a:ln/>
        </p:spPr>
      </p:sp>
      <p:sp>
        <p:nvSpPr>
          <p:cNvPr id="25" name="Shape 23"/>
          <p:cNvSpPr/>
          <p:nvPr/>
        </p:nvSpPr>
        <p:spPr>
          <a:xfrm>
            <a:off x="6957060" y="4434840"/>
            <a:ext cx="128016" cy="640080"/>
          </a:xfrm>
          <a:prstGeom prst="rect">
            <a:avLst/>
          </a:prstGeom>
          <a:solidFill>
            <a:srgbClr val="223A5E"/>
          </a:solidFill>
          <a:ln/>
        </p:spPr>
      </p:sp>
      <p:sp>
        <p:nvSpPr>
          <p:cNvPr id="26" name="Shape 24"/>
          <p:cNvSpPr/>
          <p:nvPr/>
        </p:nvSpPr>
        <p:spPr>
          <a:xfrm>
            <a:off x="7249160" y="4434840"/>
            <a:ext cx="128016" cy="640080"/>
          </a:xfrm>
          <a:prstGeom prst="rect">
            <a:avLst/>
          </a:prstGeom>
          <a:solidFill>
            <a:srgbClr val="223A5E"/>
          </a:solidFill>
          <a:ln/>
        </p:spPr>
      </p:sp>
      <p:sp>
        <p:nvSpPr>
          <p:cNvPr id="27" name="Shape 25"/>
          <p:cNvSpPr/>
          <p:nvPr/>
        </p:nvSpPr>
        <p:spPr>
          <a:xfrm>
            <a:off x="7541260" y="4434840"/>
            <a:ext cx="128016" cy="640080"/>
          </a:xfrm>
          <a:prstGeom prst="rect">
            <a:avLst/>
          </a:prstGeom>
          <a:solidFill>
            <a:srgbClr val="223A5E"/>
          </a:solidFill>
          <a:ln/>
        </p:spPr>
      </p:sp>
      <p:sp>
        <p:nvSpPr>
          <p:cNvPr id="28" name="Shape 26"/>
          <p:cNvSpPr/>
          <p:nvPr/>
        </p:nvSpPr>
        <p:spPr>
          <a:xfrm>
            <a:off x="7833360" y="4434840"/>
            <a:ext cx="128016" cy="640080"/>
          </a:xfrm>
          <a:prstGeom prst="rect">
            <a:avLst/>
          </a:prstGeom>
          <a:solidFill>
            <a:srgbClr val="223A5E"/>
          </a:solidFill>
          <a:ln/>
        </p:spPr>
      </p:sp>
      <p:sp>
        <p:nvSpPr>
          <p:cNvPr id="29" name="Shape 27"/>
          <p:cNvSpPr/>
          <p:nvPr/>
        </p:nvSpPr>
        <p:spPr>
          <a:xfrm>
            <a:off x="8125460" y="4434840"/>
            <a:ext cx="128016" cy="640080"/>
          </a:xfrm>
          <a:prstGeom prst="rect">
            <a:avLst/>
          </a:prstGeom>
          <a:solidFill>
            <a:srgbClr val="223A5E"/>
          </a:solidFill>
          <a:ln/>
        </p:spPr>
      </p:sp>
      <p:sp>
        <p:nvSpPr>
          <p:cNvPr id="30" name="Shape 28"/>
          <p:cNvSpPr/>
          <p:nvPr/>
        </p:nvSpPr>
        <p:spPr>
          <a:xfrm>
            <a:off x="8417560" y="4434840"/>
            <a:ext cx="128016" cy="640080"/>
          </a:xfrm>
          <a:prstGeom prst="rect">
            <a:avLst/>
          </a:prstGeom>
          <a:solidFill>
            <a:srgbClr val="223A5E"/>
          </a:solidFill>
          <a:ln/>
        </p:spPr>
      </p:sp>
      <p:sp>
        <p:nvSpPr>
          <p:cNvPr id="31" name="Shape 29"/>
          <p:cNvSpPr/>
          <p:nvPr/>
        </p:nvSpPr>
        <p:spPr>
          <a:xfrm>
            <a:off x="8709660" y="4434840"/>
            <a:ext cx="128016" cy="640080"/>
          </a:xfrm>
          <a:prstGeom prst="rect">
            <a:avLst/>
          </a:prstGeom>
          <a:solidFill>
            <a:srgbClr val="223A5E"/>
          </a:solidFill>
          <a:ln/>
        </p:spPr>
      </p:sp>
      <p:sp>
        <p:nvSpPr>
          <p:cNvPr id="32" name="Shape 30"/>
          <p:cNvSpPr/>
          <p:nvPr/>
        </p:nvSpPr>
        <p:spPr>
          <a:xfrm>
            <a:off x="9001760" y="4434840"/>
            <a:ext cx="128016" cy="640080"/>
          </a:xfrm>
          <a:prstGeom prst="rect">
            <a:avLst/>
          </a:prstGeom>
          <a:solidFill>
            <a:srgbClr val="223A5E"/>
          </a:solidFill>
          <a:ln/>
        </p:spPr>
      </p:sp>
      <p:sp>
        <p:nvSpPr>
          <p:cNvPr id="33" name="Shape 31"/>
          <p:cNvSpPr/>
          <p:nvPr/>
        </p:nvSpPr>
        <p:spPr>
          <a:xfrm>
            <a:off x="9293860" y="4434840"/>
            <a:ext cx="128016" cy="640080"/>
          </a:xfrm>
          <a:prstGeom prst="rect">
            <a:avLst/>
          </a:prstGeom>
          <a:solidFill>
            <a:srgbClr val="223A5E"/>
          </a:solidFill>
          <a:ln/>
        </p:spPr>
      </p:sp>
      <p:sp>
        <p:nvSpPr>
          <p:cNvPr id="34" name="Shape 32"/>
          <p:cNvSpPr/>
          <p:nvPr/>
        </p:nvSpPr>
        <p:spPr>
          <a:xfrm>
            <a:off x="9585960" y="4434840"/>
            <a:ext cx="128016" cy="640080"/>
          </a:xfrm>
          <a:prstGeom prst="rect">
            <a:avLst/>
          </a:prstGeom>
          <a:solidFill>
            <a:srgbClr val="223A5E"/>
          </a:solidFill>
          <a:ln/>
        </p:spPr>
      </p:sp>
      <p:sp>
        <p:nvSpPr>
          <p:cNvPr id="35" name="Shape 33"/>
          <p:cNvSpPr/>
          <p:nvPr/>
        </p:nvSpPr>
        <p:spPr>
          <a:xfrm>
            <a:off x="9878060" y="4434840"/>
            <a:ext cx="128016" cy="640080"/>
          </a:xfrm>
          <a:prstGeom prst="rect">
            <a:avLst/>
          </a:prstGeom>
          <a:solidFill>
            <a:srgbClr val="223A5E"/>
          </a:solidFill>
          <a:ln/>
        </p:spPr>
      </p:sp>
      <p:sp>
        <p:nvSpPr>
          <p:cNvPr id="36" name="Shape 34"/>
          <p:cNvSpPr/>
          <p:nvPr/>
        </p:nvSpPr>
        <p:spPr>
          <a:xfrm>
            <a:off x="10170160" y="4434840"/>
            <a:ext cx="128016" cy="640080"/>
          </a:xfrm>
          <a:prstGeom prst="rect">
            <a:avLst/>
          </a:prstGeom>
          <a:solidFill>
            <a:srgbClr val="223A5E"/>
          </a:solidFill>
          <a:ln/>
        </p:spPr>
      </p:sp>
      <p:sp>
        <p:nvSpPr>
          <p:cNvPr id="37" name="Shape 35"/>
          <p:cNvSpPr/>
          <p:nvPr/>
        </p:nvSpPr>
        <p:spPr>
          <a:xfrm>
            <a:off x="10462260" y="4434840"/>
            <a:ext cx="128016" cy="640080"/>
          </a:xfrm>
          <a:prstGeom prst="rect">
            <a:avLst/>
          </a:prstGeom>
          <a:solidFill>
            <a:srgbClr val="223A5E"/>
          </a:solidFill>
          <a:ln/>
        </p:spPr>
      </p:sp>
      <p:sp>
        <p:nvSpPr>
          <p:cNvPr id="38" name="Shape 36"/>
          <p:cNvSpPr/>
          <p:nvPr/>
        </p:nvSpPr>
        <p:spPr>
          <a:xfrm>
            <a:off x="10754360" y="4434840"/>
            <a:ext cx="128016" cy="640080"/>
          </a:xfrm>
          <a:prstGeom prst="rect">
            <a:avLst/>
          </a:prstGeom>
          <a:solidFill>
            <a:srgbClr val="223A5E"/>
          </a:solidFill>
          <a:ln/>
        </p:spPr>
      </p:sp>
      <p:sp>
        <p:nvSpPr>
          <p:cNvPr id="39" name="Shape 37"/>
          <p:cNvSpPr/>
          <p:nvPr/>
        </p:nvSpPr>
        <p:spPr>
          <a:xfrm>
            <a:off x="11046460" y="3840480"/>
            <a:ext cx="146304" cy="1234440"/>
          </a:xfrm>
          <a:prstGeom prst="rect">
            <a:avLst/>
          </a:prstGeom>
          <a:solidFill>
            <a:srgbClr val="E6A23C"/>
          </a:solidFill>
          <a:ln/>
        </p:spPr>
      </p:sp>
      <p:sp>
        <p:nvSpPr>
          <p:cNvPr id="40" name="Text 38"/>
          <p:cNvSpPr/>
          <p:nvPr/>
        </p:nvSpPr>
        <p:spPr>
          <a:xfrm>
            <a:off x="594360" y="3383280"/>
            <a:ext cx="1737360" cy="411480"/>
          </a:xfrm>
          <a:prstGeom prst="rect">
            <a:avLst/>
          </a:prstGeom>
          <a:noFill/>
          <a:ln/>
        </p:spPr>
        <p:txBody>
          <a:bodyPr wrap="square" lIns="0" tIns="0" rIns="0" bIns="0" rtlCol="0" anchor="ctr"/>
          <a:lstStyle/>
          <a:p>
            <a:pPr algn="ctr" indent="0" marL="0">
              <a:buNone/>
            </a:pPr>
            <a:r>
              <a:rPr lang="en-US" sz="3000" b="1" dirty="0">
                <a:solidFill>
                  <a:srgbClr val="1FB6A6"/>
                </a:solidFill>
                <a:latin typeface="Calibri" pitchFamily="34" charset="0"/>
                <a:ea typeface="Calibri" pitchFamily="34" charset="-122"/>
                <a:cs typeface="Calibri" pitchFamily="34" charset="-120"/>
              </a:rPr>
              <a:t>answer</a:t>
            </a:r>
            <a:endParaRPr lang="en-US" sz="3000" dirty="0"/>
          </a:p>
        </p:txBody>
      </p:sp>
      <p:sp>
        <p:nvSpPr>
          <p:cNvPr id="41" name="Text 39"/>
          <p:cNvSpPr/>
          <p:nvPr/>
        </p:nvSpPr>
        <p:spPr>
          <a:xfrm>
            <a:off x="10241280" y="3383280"/>
            <a:ext cx="1828800" cy="411480"/>
          </a:xfrm>
          <a:prstGeom prst="rect">
            <a:avLst/>
          </a:prstGeom>
          <a:noFill/>
          <a:ln/>
        </p:spPr>
        <p:txBody>
          <a:bodyPr wrap="square" lIns="0" tIns="0" rIns="0" bIns="0" rtlCol="0" anchor="ctr"/>
          <a:lstStyle/>
          <a:p>
            <a:pPr algn="ctr" indent="0" marL="0">
              <a:buNone/>
            </a:pPr>
            <a:r>
              <a:rPr lang="en-US" sz="3000" b="1" dirty="0">
                <a:solidFill>
                  <a:srgbClr val="E6A23C"/>
                </a:solidFill>
                <a:latin typeface="Calibri" pitchFamily="34" charset="0"/>
                <a:ea typeface="Calibri" pitchFamily="34" charset="-122"/>
                <a:cs typeface="Calibri" pitchFamily="34" charset="-120"/>
              </a:rPr>
              <a:t>retrieved</a:t>
            </a:r>
            <a:endParaRPr lang="en-US" sz="3000" dirty="0"/>
          </a:p>
        </p:txBody>
      </p:sp>
      <p:sp>
        <p:nvSpPr>
          <p:cNvPr id="42" name="Text 40"/>
          <p:cNvSpPr/>
          <p:nvPr/>
        </p:nvSpPr>
        <p:spPr>
          <a:xfrm>
            <a:off x="594360" y="5166360"/>
            <a:ext cx="1737360" cy="411480"/>
          </a:xfrm>
          <a:prstGeom prst="rect">
            <a:avLst/>
          </a:prstGeom>
          <a:noFill/>
          <a:ln/>
        </p:spPr>
        <p:txBody>
          <a:bodyPr wrap="square" lIns="0" tIns="0" rIns="0" bIns="0" rtlCol="0" anchor="ctr"/>
          <a:lstStyle/>
          <a:p>
            <a:pPr algn="ctr" indent="0" marL="0">
              <a:buNone/>
            </a:pPr>
            <a:r>
              <a:rPr lang="en-US" sz="3000" dirty="0">
                <a:solidFill>
                  <a:srgbClr val="8FA6C4"/>
                </a:solidFill>
                <a:latin typeface="Calibri" pitchFamily="34" charset="0"/>
                <a:ea typeface="Calibri" pitchFamily="34" charset="-122"/>
                <a:cs typeface="Calibri" pitchFamily="34" charset="-120"/>
              </a:rPr>
              <a:t>#3</a:t>
            </a:r>
            <a:endParaRPr lang="en-US" sz="3000" dirty="0"/>
          </a:p>
        </p:txBody>
      </p:sp>
      <p:sp>
        <p:nvSpPr>
          <p:cNvPr id="43" name="Text 41"/>
          <p:cNvSpPr/>
          <p:nvPr/>
        </p:nvSpPr>
        <p:spPr>
          <a:xfrm>
            <a:off x="10241280" y="5166360"/>
            <a:ext cx="1828800" cy="411480"/>
          </a:xfrm>
          <a:prstGeom prst="rect">
            <a:avLst/>
          </a:prstGeom>
          <a:noFill/>
          <a:ln/>
        </p:spPr>
        <p:txBody>
          <a:bodyPr wrap="square" lIns="0" tIns="0" rIns="0" bIns="0" rtlCol="0" anchor="ctr"/>
          <a:lstStyle/>
          <a:p>
            <a:pPr algn="ctr" indent="0" marL="0">
              <a:buNone/>
            </a:pPr>
            <a:r>
              <a:rPr lang="en-US" sz="3000" dirty="0">
                <a:solidFill>
                  <a:srgbClr val="8FA6C4"/>
                </a:solidFill>
                <a:latin typeface="Calibri" pitchFamily="34" charset="0"/>
                <a:ea typeface="Calibri" pitchFamily="34" charset="-122"/>
                <a:cs typeface="Calibri" pitchFamily="34" charset="-120"/>
              </a:rPr>
              <a:t>#500</a:t>
            </a:r>
            <a:endParaRPr lang="en-US" sz="3000" dirty="0"/>
          </a:p>
        </p:txBody>
      </p:sp>
      <p:sp>
        <p:nvSpPr>
          <p:cNvPr id="45" name="Text 42"/>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914400"/>
            <a:ext cx="10607040" cy="548640"/>
          </a:xfrm>
          <a:prstGeom prst="rect">
            <a:avLst/>
          </a:prstGeom>
          <a:noFill/>
          <a:ln/>
        </p:spPr>
        <p:txBody>
          <a:bodyPr wrap="square" lIns="0" tIns="0" rIns="0" bIns="0" rtlCol="0" anchor="ctr"/>
          <a:lstStyle/>
          <a:p>
            <a:pPr indent="0" marL="0">
              <a:buNone/>
            </a:pPr>
            <a:r>
              <a:rPr lang="en-US" sz="3000" dirty="0">
                <a:solidFill>
                  <a:srgbClr val="8FA6C4"/>
                </a:solidFill>
                <a:latin typeface="Calibri" pitchFamily="34" charset="0"/>
                <a:ea typeface="Calibri" pitchFamily="34" charset="-122"/>
                <a:cs typeface="Calibri" pitchFamily="34" charset="-120"/>
              </a:rPr>
              <a:t>Two questions</a:t>
            </a:r>
            <a:endParaRPr lang="en-US" sz="3000" dirty="0"/>
          </a:p>
        </p:txBody>
      </p:sp>
      <p:sp>
        <p:nvSpPr>
          <p:cNvPr id="3" name="Text 1"/>
          <p:cNvSpPr/>
          <p:nvPr/>
        </p:nvSpPr>
        <p:spPr>
          <a:xfrm>
            <a:off x="822960" y="2103120"/>
            <a:ext cx="731520" cy="822960"/>
          </a:xfrm>
          <a:prstGeom prst="rect">
            <a:avLst/>
          </a:prstGeom>
          <a:noFill/>
          <a:ln/>
        </p:spPr>
        <p:txBody>
          <a:bodyPr wrap="square" lIns="0" tIns="0" rIns="0" bIns="0" rtlCol="0" anchor="ctr"/>
          <a:lstStyle/>
          <a:p>
            <a:pPr indent="0" marL="0">
              <a:buNone/>
            </a:pPr>
            <a:r>
              <a:rPr lang="en-US" sz="4400" b="1" dirty="0">
                <a:solidFill>
                  <a:srgbClr val="1FB6A6"/>
                </a:solidFill>
                <a:latin typeface="Calibri" pitchFamily="34" charset="0"/>
                <a:ea typeface="Calibri" pitchFamily="34" charset="-122"/>
                <a:cs typeface="Calibri" pitchFamily="34" charset="-120"/>
              </a:rPr>
              <a:t>1</a:t>
            </a:r>
            <a:endParaRPr lang="en-US" sz="4400" dirty="0"/>
          </a:p>
        </p:txBody>
      </p:sp>
      <p:sp>
        <p:nvSpPr>
          <p:cNvPr id="4" name="Text 2"/>
          <p:cNvSpPr/>
          <p:nvPr/>
        </p:nvSpPr>
        <p:spPr>
          <a:xfrm>
            <a:off x="1737360" y="2103120"/>
            <a:ext cx="9692640" cy="822960"/>
          </a:xfrm>
          <a:prstGeom prst="rect">
            <a:avLst/>
          </a:prstGeom>
          <a:noFill/>
          <a:ln/>
        </p:spPr>
        <p:txBody>
          <a:bodyPr wrap="square" lIns="0" tIns="0" rIns="0" bIns="0" rtlCol="0" anchor="ctr"/>
          <a:lstStyle/>
          <a:p>
            <a:pPr indent="0" marL="0">
              <a:buNone/>
            </a:pPr>
            <a:r>
              <a:rPr lang="en-US" sz="4000" dirty="0">
                <a:solidFill>
                  <a:srgbClr val="F2F6FB"/>
                </a:solidFill>
                <a:latin typeface="Calibri" pitchFamily="34" charset="0"/>
                <a:ea typeface="Calibri" pitchFamily="34" charset="-122"/>
                <a:cs typeface="Calibri" pitchFamily="34" charset="-120"/>
              </a:rPr>
              <a:t>Can an agent learn its own memory?</a:t>
            </a:r>
            <a:endParaRPr lang="en-US" sz="4000" dirty="0"/>
          </a:p>
        </p:txBody>
      </p:sp>
      <p:sp>
        <p:nvSpPr>
          <p:cNvPr id="5" name="Text 3"/>
          <p:cNvSpPr/>
          <p:nvPr/>
        </p:nvSpPr>
        <p:spPr>
          <a:xfrm>
            <a:off x="822960" y="3749040"/>
            <a:ext cx="731520" cy="822960"/>
          </a:xfrm>
          <a:prstGeom prst="rect">
            <a:avLst/>
          </a:prstGeom>
          <a:noFill/>
          <a:ln/>
        </p:spPr>
        <p:txBody>
          <a:bodyPr wrap="square" lIns="0" tIns="0" rIns="0" bIns="0" rtlCol="0" anchor="ctr"/>
          <a:lstStyle/>
          <a:p>
            <a:pPr indent="0" marL="0">
              <a:buNone/>
            </a:pPr>
            <a:r>
              <a:rPr lang="en-US" sz="4400" b="1" dirty="0">
                <a:solidFill>
                  <a:srgbClr val="1FB6A6"/>
                </a:solidFill>
                <a:latin typeface="Calibri" pitchFamily="34" charset="0"/>
                <a:ea typeface="Calibri" pitchFamily="34" charset="-122"/>
                <a:cs typeface="Calibri" pitchFamily="34" charset="-120"/>
              </a:rPr>
              <a:t>2</a:t>
            </a:r>
            <a:endParaRPr lang="en-US" sz="4400" dirty="0"/>
          </a:p>
        </p:txBody>
      </p:sp>
      <p:sp>
        <p:nvSpPr>
          <p:cNvPr id="6" name="Text 4"/>
          <p:cNvSpPr/>
          <p:nvPr/>
        </p:nvSpPr>
        <p:spPr>
          <a:xfrm>
            <a:off x="1737360" y="3749040"/>
            <a:ext cx="9692640" cy="822960"/>
          </a:xfrm>
          <a:prstGeom prst="rect">
            <a:avLst/>
          </a:prstGeom>
          <a:noFill/>
          <a:ln/>
        </p:spPr>
        <p:txBody>
          <a:bodyPr wrap="square" lIns="0" tIns="0" rIns="0" bIns="0" rtlCol="0" anchor="ctr"/>
          <a:lstStyle/>
          <a:p>
            <a:pPr indent="0" marL="0">
              <a:buNone/>
            </a:pPr>
            <a:r>
              <a:rPr lang="en-US" sz="4000" dirty="0">
                <a:solidFill>
                  <a:srgbClr val="F2F6FB"/>
                </a:solidFill>
                <a:latin typeface="Calibri" pitchFamily="34" charset="0"/>
                <a:ea typeface="Calibri" pitchFamily="34" charset="-122"/>
                <a:cs typeface="Calibri" pitchFamily="34" charset="-120"/>
              </a:rPr>
              <a:t>Is the best memory task-dependent?</a:t>
            </a:r>
            <a:endParaRPr lang="en-US" sz="4000" dirty="0"/>
          </a:p>
        </p:txBody>
      </p:sp>
      <p:sp>
        <p:nvSpPr>
          <p:cNvPr id="8" name="Text 5"/>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960120"/>
            <a:ext cx="10607040" cy="731520"/>
          </a:xfrm>
          <a:prstGeom prst="rect">
            <a:avLst/>
          </a:prstGeom>
          <a:noFill/>
          <a:ln/>
        </p:spPr>
        <p:txBody>
          <a:bodyPr wrap="square" lIns="0" tIns="0" rIns="0" bIns="0" rtlCol="0" anchor="ctr"/>
          <a:lstStyle/>
          <a:p>
            <a:pPr indent="0" marL="0">
              <a:buNone/>
            </a:pPr>
            <a:r>
              <a:rPr lang="en-US" sz="4400" b="1" dirty="0">
                <a:solidFill>
                  <a:srgbClr val="F2F6FB"/>
                </a:solidFill>
                <a:latin typeface="Calibri" pitchFamily="34" charset="0"/>
                <a:ea typeface="Calibri" pitchFamily="34" charset="-122"/>
                <a:cs typeface="Calibri" pitchFamily="34" charset="-120"/>
              </a:rPr>
              <a:t>Memory becomes one vector</a:t>
            </a:r>
            <a:endParaRPr lang="en-US" sz="4400" dirty="0"/>
          </a:p>
        </p:txBody>
      </p:sp>
      <p:sp>
        <p:nvSpPr>
          <p:cNvPr id="3" name="Text 1"/>
          <p:cNvSpPr/>
          <p:nvPr/>
        </p:nvSpPr>
        <p:spPr>
          <a:xfrm>
            <a:off x="1691640" y="2834640"/>
            <a:ext cx="1143000" cy="868680"/>
          </a:xfrm>
          <a:prstGeom prst="rect">
            <a:avLst/>
          </a:prstGeom>
          <a:noFill/>
          <a:ln/>
        </p:spPr>
        <p:txBody>
          <a:bodyPr wrap="square" lIns="0" tIns="0" rIns="0" bIns="0" rtlCol="0" anchor="ctr"/>
          <a:lstStyle/>
          <a:p>
            <a:pPr algn="r" indent="0" marL="0">
              <a:buNone/>
            </a:pPr>
            <a:r>
              <a:rPr lang="en-US" sz="4400" b="1" dirty="0">
                <a:solidFill>
                  <a:srgbClr val="F2F6FB"/>
                </a:solidFill>
                <a:latin typeface="Calibri" pitchFamily="34" charset="0"/>
                <a:ea typeface="Calibri" pitchFamily="34" charset="-122"/>
                <a:cs typeface="Calibri" pitchFamily="34" charset="-120"/>
              </a:rPr>
              <a:t>θ =</a:t>
            </a:r>
            <a:endParaRPr lang="en-US" sz="4400" dirty="0"/>
          </a:p>
        </p:txBody>
      </p:sp>
      <p:sp>
        <p:nvSpPr>
          <p:cNvPr id="4" name="Shape 2"/>
          <p:cNvSpPr/>
          <p:nvPr/>
        </p:nvSpPr>
        <p:spPr>
          <a:xfrm>
            <a:off x="3063240" y="2834640"/>
            <a:ext cx="658368" cy="868680"/>
          </a:xfrm>
          <a:prstGeom prst="roundRect">
            <a:avLst>
              <a:gd name="adj" fmla="val 13889"/>
            </a:avLst>
          </a:prstGeom>
          <a:solidFill>
            <a:srgbClr val="1FB6A6"/>
          </a:solidFill>
          <a:ln/>
        </p:spPr>
      </p:sp>
      <p:sp>
        <p:nvSpPr>
          <p:cNvPr id="5" name="Shape 3"/>
          <p:cNvSpPr/>
          <p:nvPr/>
        </p:nvSpPr>
        <p:spPr>
          <a:xfrm>
            <a:off x="3813048" y="2834640"/>
            <a:ext cx="658368" cy="868680"/>
          </a:xfrm>
          <a:prstGeom prst="roundRect">
            <a:avLst>
              <a:gd name="adj" fmla="val 13889"/>
            </a:avLst>
          </a:prstGeom>
          <a:solidFill>
            <a:srgbClr val="1FB6A6"/>
          </a:solidFill>
          <a:ln/>
        </p:spPr>
      </p:sp>
      <p:sp>
        <p:nvSpPr>
          <p:cNvPr id="6" name="Shape 4"/>
          <p:cNvSpPr/>
          <p:nvPr/>
        </p:nvSpPr>
        <p:spPr>
          <a:xfrm>
            <a:off x="4562856" y="2834640"/>
            <a:ext cx="658368" cy="868680"/>
          </a:xfrm>
          <a:prstGeom prst="roundRect">
            <a:avLst>
              <a:gd name="adj" fmla="val 13889"/>
            </a:avLst>
          </a:prstGeom>
          <a:solidFill>
            <a:srgbClr val="1FB6A6"/>
          </a:solidFill>
          <a:ln/>
        </p:spPr>
      </p:sp>
      <p:sp>
        <p:nvSpPr>
          <p:cNvPr id="7" name="Shape 5"/>
          <p:cNvSpPr/>
          <p:nvPr/>
        </p:nvSpPr>
        <p:spPr>
          <a:xfrm>
            <a:off x="5312664" y="2834640"/>
            <a:ext cx="658368" cy="868680"/>
          </a:xfrm>
          <a:prstGeom prst="roundRect">
            <a:avLst>
              <a:gd name="adj" fmla="val 13889"/>
            </a:avLst>
          </a:prstGeom>
          <a:solidFill>
            <a:srgbClr val="1FB6A6"/>
          </a:solidFill>
          <a:ln/>
        </p:spPr>
      </p:sp>
      <p:sp>
        <p:nvSpPr>
          <p:cNvPr id="8" name="Shape 6"/>
          <p:cNvSpPr/>
          <p:nvPr/>
        </p:nvSpPr>
        <p:spPr>
          <a:xfrm>
            <a:off x="6062472" y="2834640"/>
            <a:ext cx="658368" cy="868680"/>
          </a:xfrm>
          <a:prstGeom prst="roundRect">
            <a:avLst>
              <a:gd name="adj" fmla="val 13889"/>
            </a:avLst>
          </a:prstGeom>
          <a:solidFill>
            <a:srgbClr val="4A7FB5"/>
          </a:solidFill>
          <a:ln/>
        </p:spPr>
      </p:sp>
      <p:sp>
        <p:nvSpPr>
          <p:cNvPr id="9" name="Shape 7"/>
          <p:cNvSpPr/>
          <p:nvPr/>
        </p:nvSpPr>
        <p:spPr>
          <a:xfrm>
            <a:off x="6812280" y="2834640"/>
            <a:ext cx="658368" cy="868680"/>
          </a:xfrm>
          <a:prstGeom prst="roundRect">
            <a:avLst>
              <a:gd name="adj" fmla="val 13889"/>
            </a:avLst>
          </a:prstGeom>
          <a:solidFill>
            <a:srgbClr val="4A7FB5"/>
          </a:solidFill>
          <a:ln/>
        </p:spPr>
      </p:sp>
      <p:sp>
        <p:nvSpPr>
          <p:cNvPr id="10" name="Shape 8"/>
          <p:cNvSpPr/>
          <p:nvPr/>
        </p:nvSpPr>
        <p:spPr>
          <a:xfrm>
            <a:off x="7562088" y="2834640"/>
            <a:ext cx="658368" cy="868680"/>
          </a:xfrm>
          <a:prstGeom prst="roundRect">
            <a:avLst>
              <a:gd name="adj" fmla="val 13889"/>
            </a:avLst>
          </a:prstGeom>
          <a:solidFill>
            <a:srgbClr val="4A7FB5"/>
          </a:solidFill>
          <a:ln/>
        </p:spPr>
      </p:sp>
      <p:sp>
        <p:nvSpPr>
          <p:cNvPr id="11" name="Shape 9"/>
          <p:cNvSpPr/>
          <p:nvPr/>
        </p:nvSpPr>
        <p:spPr>
          <a:xfrm>
            <a:off x="8311896" y="2834640"/>
            <a:ext cx="658368" cy="868680"/>
          </a:xfrm>
          <a:prstGeom prst="roundRect">
            <a:avLst>
              <a:gd name="adj" fmla="val 13889"/>
            </a:avLst>
          </a:prstGeom>
          <a:solidFill>
            <a:srgbClr val="E6A23C"/>
          </a:solidFill>
          <a:ln/>
        </p:spPr>
      </p:sp>
      <p:sp>
        <p:nvSpPr>
          <p:cNvPr id="12" name="Shape 10"/>
          <p:cNvSpPr/>
          <p:nvPr/>
        </p:nvSpPr>
        <p:spPr>
          <a:xfrm>
            <a:off x="9061704" y="2834640"/>
            <a:ext cx="658368" cy="868680"/>
          </a:xfrm>
          <a:prstGeom prst="roundRect">
            <a:avLst>
              <a:gd name="adj" fmla="val 13889"/>
            </a:avLst>
          </a:prstGeom>
          <a:solidFill>
            <a:srgbClr val="E6A23C"/>
          </a:solidFill>
          <a:ln/>
        </p:spPr>
      </p:sp>
      <p:sp>
        <p:nvSpPr>
          <p:cNvPr id="13" name="Shape 11"/>
          <p:cNvSpPr/>
          <p:nvPr/>
        </p:nvSpPr>
        <p:spPr>
          <a:xfrm>
            <a:off x="9811512" y="2834640"/>
            <a:ext cx="658368" cy="868680"/>
          </a:xfrm>
          <a:prstGeom prst="roundRect">
            <a:avLst>
              <a:gd name="adj" fmla="val 13889"/>
            </a:avLst>
          </a:prstGeom>
          <a:solidFill>
            <a:srgbClr val="E6A23C"/>
          </a:solidFill>
          <a:ln/>
        </p:spPr>
      </p:sp>
      <p:sp>
        <p:nvSpPr>
          <p:cNvPr id="14" name="Shape 12"/>
          <p:cNvSpPr/>
          <p:nvPr/>
        </p:nvSpPr>
        <p:spPr>
          <a:xfrm>
            <a:off x="3063240" y="3858768"/>
            <a:ext cx="2907792" cy="0"/>
          </a:xfrm>
          <a:prstGeom prst="line">
            <a:avLst/>
          </a:prstGeom>
          <a:noFill/>
          <a:ln w="25400">
            <a:solidFill>
              <a:srgbClr val="1FB6A6"/>
            </a:solidFill>
            <a:prstDash val="solid"/>
          </a:ln>
        </p:spPr>
      </p:sp>
      <p:sp>
        <p:nvSpPr>
          <p:cNvPr id="15" name="Text 13"/>
          <p:cNvSpPr/>
          <p:nvPr/>
        </p:nvSpPr>
        <p:spPr>
          <a:xfrm>
            <a:off x="3063240" y="3950208"/>
            <a:ext cx="2907792" cy="457200"/>
          </a:xfrm>
          <a:prstGeom prst="rect">
            <a:avLst/>
          </a:prstGeom>
          <a:noFill/>
          <a:ln/>
        </p:spPr>
        <p:txBody>
          <a:bodyPr wrap="square" lIns="0" tIns="0" rIns="0" bIns="0" rtlCol="0" anchor="ctr"/>
          <a:lstStyle/>
          <a:p>
            <a:pPr algn="ctr" indent="0" marL="0">
              <a:buNone/>
            </a:pPr>
            <a:r>
              <a:rPr lang="en-US" sz="3000" dirty="0">
                <a:solidFill>
                  <a:srgbClr val="1FB6A6"/>
                </a:solidFill>
                <a:latin typeface="Calibri" pitchFamily="34" charset="0"/>
                <a:ea typeface="Calibri" pitchFamily="34" charset="-122"/>
                <a:cs typeface="Calibri" pitchFamily="34" charset="-120"/>
              </a:rPr>
              <a:t>store</a:t>
            </a:r>
            <a:endParaRPr lang="en-US" sz="3000" dirty="0"/>
          </a:p>
        </p:txBody>
      </p:sp>
      <p:sp>
        <p:nvSpPr>
          <p:cNvPr id="16" name="Shape 14"/>
          <p:cNvSpPr/>
          <p:nvPr/>
        </p:nvSpPr>
        <p:spPr>
          <a:xfrm>
            <a:off x="6062472" y="3858768"/>
            <a:ext cx="2157984" cy="0"/>
          </a:xfrm>
          <a:prstGeom prst="line">
            <a:avLst/>
          </a:prstGeom>
          <a:noFill/>
          <a:ln w="25400">
            <a:solidFill>
              <a:srgbClr val="4A7FB5"/>
            </a:solidFill>
            <a:prstDash val="solid"/>
          </a:ln>
        </p:spPr>
      </p:sp>
      <p:sp>
        <p:nvSpPr>
          <p:cNvPr id="17" name="Text 15"/>
          <p:cNvSpPr/>
          <p:nvPr/>
        </p:nvSpPr>
        <p:spPr>
          <a:xfrm>
            <a:off x="6062472" y="3950208"/>
            <a:ext cx="2157984" cy="457200"/>
          </a:xfrm>
          <a:prstGeom prst="rect">
            <a:avLst/>
          </a:prstGeom>
          <a:noFill/>
          <a:ln/>
        </p:spPr>
        <p:txBody>
          <a:bodyPr wrap="square" lIns="0" tIns="0" rIns="0" bIns="0" rtlCol="0" anchor="ctr"/>
          <a:lstStyle/>
          <a:p>
            <a:pPr algn="ctr" indent="0" marL="0">
              <a:buNone/>
            </a:pPr>
            <a:r>
              <a:rPr lang="en-US" sz="3000" dirty="0">
                <a:solidFill>
                  <a:srgbClr val="4A7FB5"/>
                </a:solidFill>
                <a:latin typeface="Calibri" pitchFamily="34" charset="0"/>
                <a:ea typeface="Calibri" pitchFamily="34" charset="-122"/>
                <a:cs typeface="Calibri" pitchFamily="34" charset="-120"/>
              </a:rPr>
              <a:t>abstract</a:t>
            </a:r>
            <a:endParaRPr lang="en-US" sz="3000" dirty="0"/>
          </a:p>
        </p:txBody>
      </p:sp>
      <p:sp>
        <p:nvSpPr>
          <p:cNvPr id="18" name="Shape 16"/>
          <p:cNvSpPr/>
          <p:nvPr/>
        </p:nvSpPr>
        <p:spPr>
          <a:xfrm>
            <a:off x="8311896" y="3858768"/>
            <a:ext cx="2157984" cy="0"/>
          </a:xfrm>
          <a:prstGeom prst="line">
            <a:avLst/>
          </a:prstGeom>
          <a:noFill/>
          <a:ln w="25400">
            <a:solidFill>
              <a:srgbClr val="E6A23C"/>
            </a:solidFill>
            <a:prstDash val="solid"/>
          </a:ln>
        </p:spPr>
      </p:sp>
      <p:sp>
        <p:nvSpPr>
          <p:cNvPr id="19" name="Text 17"/>
          <p:cNvSpPr/>
          <p:nvPr/>
        </p:nvSpPr>
        <p:spPr>
          <a:xfrm>
            <a:off x="8311896" y="3950208"/>
            <a:ext cx="2157984" cy="457200"/>
          </a:xfrm>
          <a:prstGeom prst="rect">
            <a:avLst/>
          </a:prstGeom>
          <a:noFill/>
          <a:ln/>
        </p:spPr>
        <p:txBody>
          <a:bodyPr wrap="square" lIns="0" tIns="0" rIns="0" bIns="0" rtlCol="0" anchor="ctr"/>
          <a:lstStyle/>
          <a:p>
            <a:pPr algn="ctr" indent="0" marL="0">
              <a:buNone/>
            </a:pPr>
            <a:r>
              <a:rPr lang="en-US" sz="3000" dirty="0">
                <a:solidFill>
                  <a:srgbClr val="E6A23C"/>
                </a:solidFill>
                <a:latin typeface="Calibri" pitchFamily="34" charset="0"/>
                <a:ea typeface="Calibri" pitchFamily="34" charset="-122"/>
                <a:cs typeface="Calibri" pitchFamily="34" charset="-120"/>
              </a:rPr>
              <a:t>retrieve</a:t>
            </a:r>
            <a:endParaRPr lang="en-US" sz="3000" dirty="0"/>
          </a:p>
        </p:txBody>
      </p:sp>
      <p:sp>
        <p:nvSpPr>
          <p:cNvPr id="20" name="Text 18"/>
          <p:cNvSpPr/>
          <p:nvPr/>
        </p:nvSpPr>
        <p:spPr>
          <a:xfrm>
            <a:off x="822960" y="5120640"/>
            <a:ext cx="10607040" cy="548640"/>
          </a:xfrm>
          <a:prstGeom prst="rect">
            <a:avLst/>
          </a:prstGeom>
          <a:noFill/>
          <a:ln/>
        </p:spPr>
        <p:txBody>
          <a:bodyPr wrap="square" lIns="0" tIns="0" rIns="0" bIns="0" rtlCol="0" anchor="ctr"/>
          <a:lstStyle/>
          <a:p>
            <a:pPr algn="ctr" indent="0" marL="0">
              <a:buNone/>
            </a:pPr>
            <a:r>
              <a:rPr lang="en-US" sz="3200" dirty="0">
                <a:solidFill>
                  <a:srgbClr val="8FA6C4"/>
                </a:solidFill>
                <a:latin typeface="Calibri" pitchFamily="34" charset="0"/>
                <a:ea typeface="Calibri" pitchFamily="34" charset="-122"/>
                <a:cs typeface="Calibri" pitchFamily="34" charset="-120"/>
              </a:rPr>
              <a:t>We learn θ. Not the LLM.</a:t>
            </a:r>
            <a:endParaRPr lang="en-US" sz="3200" dirty="0"/>
          </a:p>
        </p:txBody>
      </p:sp>
      <p:sp>
        <p:nvSpPr>
          <p:cNvPr id="22" name="Text 19"/>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960120"/>
            <a:ext cx="10607040" cy="731520"/>
          </a:xfrm>
          <a:prstGeom prst="rect">
            <a:avLst/>
          </a:prstGeom>
          <a:noFill/>
          <a:ln/>
        </p:spPr>
        <p:txBody>
          <a:bodyPr wrap="square" lIns="0" tIns="0" rIns="0" bIns="0" rtlCol="0" anchor="ctr"/>
          <a:lstStyle/>
          <a:p>
            <a:pPr indent="0" marL="0">
              <a:buNone/>
            </a:pPr>
            <a:r>
              <a:rPr lang="en-US" sz="4400" b="1" dirty="0">
                <a:solidFill>
                  <a:srgbClr val="F2F6FB"/>
                </a:solidFill>
                <a:latin typeface="Calibri" pitchFamily="34" charset="0"/>
                <a:ea typeface="Calibri" pitchFamily="34" charset="-122"/>
                <a:cs typeface="Calibri" pitchFamily="34" charset="-120"/>
              </a:rPr>
              <a:t>Retrieval is a vote</a:t>
            </a:r>
            <a:endParaRPr lang="en-US" sz="4400" dirty="0"/>
          </a:p>
        </p:txBody>
      </p:sp>
      <p:sp>
        <p:nvSpPr>
          <p:cNvPr id="3" name="Text 1"/>
          <p:cNvSpPr/>
          <p:nvPr/>
        </p:nvSpPr>
        <p:spPr>
          <a:xfrm>
            <a:off x="822960" y="2304288"/>
            <a:ext cx="2834640" cy="548640"/>
          </a:xfrm>
          <a:prstGeom prst="rect">
            <a:avLst/>
          </a:prstGeom>
          <a:noFill/>
          <a:ln/>
        </p:spPr>
        <p:txBody>
          <a:bodyPr wrap="square" lIns="0" tIns="0" rIns="0" bIns="0" rtlCol="0" anchor="ctr"/>
          <a:lstStyle/>
          <a:p>
            <a:pPr indent="0" marL="0">
              <a:buNone/>
            </a:pPr>
            <a:r>
              <a:rPr lang="en-US" sz="3400" dirty="0">
                <a:solidFill>
                  <a:srgbClr val="F2F6FB"/>
                </a:solidFill>
                <a:latin typeface="Calibri" pitchFamily="34" charset="0"/>
                <a:ea typeface="Calibri" pitchFamily="34" charset="-122"/>
                <a:cs typeface="Calibri" pitchFamily="34" charset="-120"/>
              </a:rPr>
              <a:t>meaning</a:t>
            </a:r>
            <a:endParaRPr lang="en-US" sz="3400" dirty="0"/>
          </a:p>
        </p:txBody>
      </p:sp>
      <p:sp>
        <p:nvSpPr>
          <p:cNvPr id="4" name="Shape 2"/>
          <p:cNvSpPr/>
          <p:nvPr/>
        </p:nvSpPr>
        <p:spPr>
          <a:xfrm>
            <a:off x="3840480" y="2377440"/>
            <a:ext cx="7498080" cy="402336"/>
          </a:xfrm>
          <a:prstGeom prst="roundRect">
            <a:avLst>
              <a:gd name="adj" fmla="val 50000"/>
            </a:avLst>
          </a:prstGeom>
          <a:solidFill>
            <a:srgbClr val="223A5E"/>
          </a:solidFill>
          <a:ln/>
        </p:spPr>
      </p:sp>
      <p:sp>
        <p:nvSpPr>
          <p:cNvPr id="5" name="Shape 3"/>
          <p:cNvSpPr/>
          <p:nvPr/>
        </p:nvSpPr>
        <p:spPr>
          <a:xfrm>
            <a:off x="3840480" y="2377440"/>
            <a:ext cx="6748272" cy="402336"/>
          </a:xfrm>
          <a:prstGeom prst="roundRect">
            <a:avLst>
              <a:gd name="adj" fmla="val 50000"/>
            </a:avLst>
          </a:prstGeom>
          <a:solidFill>
            <a:srgbClr val="1FB6A6"/>
          </a:solidFill>
          <a:ln/>
        </p:spPr>
      </p:sp>
      <p:sp>
        <p:nvSpPr>
          <p:cNvPr id="6" name="Text 4"/>
          <p:cNvSpPr/>
          <p:nvPr/>
        </p:nvSpPr>
        <p:spPr>
          <a:xfrm>
            <a:off x="822960" y="3355848"/>
            <a:ext cx="2834640" cy="548640"/>
          </a:xfrm>
          <a:prstGeom prst="rect">
            <a:avLst/>
          </a:prstGeom>
          <a:noFill/>
          <a:ln/>
        </p:spPr>
        <p:txBody>
          <a:bodyPr wrap="square" lIns="0" tIns="0" rIns="0" bIns="0" rtlCol="0" anchor="ctr"/>
          <a:lstStyle/>
          <a:p>
            <a:pPr indent="0" marL="0">
              <a:buNone/>
            </a:pPr>
            <a:r>
              <a:rPr lang="en-US" sz="3400" dirty="0">
                <a:solidFill>
                  <a:srgbClr val="F2F6FB"/>
                </a:solidFill>
                <a:latin typeface="Calibri" pitchFamily="34" charset="0"/>
                <a:ea typeface="Calibri" pitchFamily="34" charset="-122"/>
                <a:cs typeface="Calibri" pitchFamily="34" charset="-120"/>
              </a:rPr>
              <a:t>freshness</a:t>
            </a:r>
            <a:endParaRPr lang="en-US" sz="3400" dirty="0"/>
          </a:p>
        </p:txBody>
      </p:sp>
      <p:sp>
        <p:nvSpPr>
          <p:cNvPr id="7" name="Shape 5"/>
          <p:cNvSpPr/>
          <p:nvPr/>
        </p:nvSpPr>
        <p:spPr>
          <a:xfrm>
            <a:off x="3840480" y="3429000"/>
            <a:ext cx="7498080" cy="402336"/>
          </a:xfrm>
          <a:prstGeom prst="roundRect">
            <a:avLst>
              <a:gd name="adj" fmla="val 50000"/>
            </a:avLst>
          </a:prstGeom>
          <a:solidFill>
            <a:srgbClr val="223A5E"/>
          </a:solidFill>
          <a:ln/>
        </p:spPr>
      </p:sp>
      <p:sp>
        <p:nvSpPr>
          <p:cNvPr id="8" name="Shape 6"/>
          <p:cNvSpPr/>
          <p:nvPr/>
        </p:nvSpPr>
        <p:spPr>
          <a:xfrm>
            <a:off x="3840480" y="3429000"/>
            <a:ext cx="4123944" cy="402336"/>
          </a:xfrm>
          <a:prstGeom prst="roundRect">
            <a:avLst>
              <a:gd name="adj" fmla="val 50000"/>
            </a:avLst>
          </a:prstGeom>
          <a:solidFill>
            <a:srgbClr val="E6A23C"/>
          </a:solidFill>
          <a:ln/>
        </p:spPr>
      </p:sp>
      <p:sp>
        <p:nvSpPr>
          <p:cNvPr id="9" name="Text 7"/>
          <p:cNvSpPr/>
          <p:nvPr/>
        </p:nvSpPr>
        <p:spPr>
          <a:xfrm>
            <a:off x="822960" y="4407408"/>
            <a:ext cx="2834640" cy="548640"/>
          </a:xfrm>
          <a:prstGeom prst="rect">
            <a:avLst/>
          </a:prstGeom>
          <a:noFill/>
          <a:ln/>
        </p:spPr>
        <p:txBody>
          <a:bodyPr wrap="square" lIns="0" tIns="0" rIns="0" bIns="0" rtlCol="0" anchor="ctr"/>
          <a:lstStyle/>
          <a:p>
            <a:pPr indent="0" marL="0">
              <a:buNone/>
            </a:pPr>
            <a:r>
              <a:rPr lang="en-US" sz="3400" dirty="0">
                <a:solidFill>
                  <a:srgbClr val="F2F6FB"/>
                </a:solidFill>
                <a:latin typeface="Calibri" pitchFamily="34" charset="0"/>
                <a:ea typeface="Calibri" pitchFamily="34" charset="-122"/>
                <a:cs typeface="Calibri" pitchFamily="34" charset="-120"/>
              </a:rPr>
              <a:t>link</a:t>
            </a:r>
            <a:endParaRPr lang="en-US" sz="3400" dirty="0"/>
          </a:p>
        </p:txBody>
      </p:sp>
      <p:sp>
        <p:nvSpPr>
          <p:cNvPr id="10" name="Shape 8"/>
          <p:cNvSpPr/>
          <p:nvPr/>
        </p:nvSpPr>
        <p:spPr>
          <a:xfrm>
            <a:off x="3840480" y="4480560"/>
            <a:ext cx="7498080" cy="402336"/>
          </a:xfrm>
          <a:prstGeom prst="roundRect">
            <a:avLst>
              <a:gd name="adj" fmla="val 50000"/>
            </a:avLst>
          </a:prstGeom>
          <a:solidFill>
            <a:srgbClr val="223A5E"/>
          </a:solidFill>
          <a:ln/>
        </p:spPr>
      </p:sp>
      <p:sp>
        <p:nvSpPr>
          <p:cNvPr id="11" name="Shape 9"/>
          <p:cNvSpPr/>
          <p:nvPr/>
        </p:nvSpPr>
        <p:spPr>
          <a:xfrm>
            <a:off x="3840480" y="4480560"/>
            <a:ext cx="1649578" cy="402336"/>
          </a:xfrm>
          <a:prstGeom prst="roundRect">
            <a:avLst>
              <a:gd name="adj" fmla="val 50000"/>
            </a:avLst>
          </a:prstGeom>
          <a:solidFill>
            <a:srgbClr val="4A7FB5"/>
          </a:solidFill>
          <a:ln/>
        </p:spPr>
      </p:sp>
      <p:sp>
        <p:nvSpPr>
          <p:cNvPr id="12" name="Text 10"/>
          <p:cNvSpPr/>
          <p:nvPr/>
        </p:nvSpPr>
        <p:spPr>
          <a:xfrm>
            <a:off x="822960" y="5532120"/>
            <a:ext cx="10607040" cy="548640"/>
          </a:xfrm>
          <a:prstGeom prst="rect">
            <a:avLst/>
          </a:prstGeom>
          <a:noFill/>
          <a:ln/>
        </p:spPr>
        <p:txBody>
          <a:bodyPr wrap="square" lIns="0" tIns="0" rIns="0" bIns="0" rtlCol="0" anchor="ctr"/>
          <a:lstStyle/>
          <a:p>
            <a:pPr indent="0" marL="0">
              <a:buNone/>
            </a:pPr>
            <a:r>
              <a:rPr lang="en-US" sz="3200" dirty="0">
                <a:solidFill>
                  <a:srgbClr val="8FA6C4"/>
                </a:solidFill>
                <a:latin typeface="Calibri" pitchFamily="34" charset="0"/>
                <a:ea typeface="Calibri" pitchFamily="34" charset="-122"/>
                <a:cs typeface="Calibri" pitchFamily="34" charset="-120"/>
              </a:rPr>
              <a:t>θ sets how loud each votes.</a:t>
            </a:r>
            <a:endParaRPr lang="en-US" sz="3200" dirty="0"/>
          </a:p>
        </p:txBody>
      </p:sp>
      <p:sp>
        <p:nvSpPr>
          <p:cNvPr id="14" name="Text 11"/>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960120"/>
            <a:ext cx="10607040" cy="731520"/>
          </a:xfrm>
          <a:prstGeom prst="rect">
            <a:avLst/>
          </a:prstGeom>
          <a:noFill/>
          <a:ln/>
        </p:spPr>
        <p:txBody>
          <a:bodyPr wrap="square" lIns="0" tIns="0" rIns="0" bIns="0" rtlCol="0" anchor="ctr"/>
          <a:lstStyle/>
          <a:p>
            <a:pPr indent="0" marL="0">
              <a:buNone/>
            </a:pPr>
            <a:r>
              <a:rPr lang="en-US" sz="4400" b="1" dirty="0">
                <a:solidFill>
                  <a:srgbClr val="F2F6FB"/>
                </a:solidFill>
                <a:latin typeface="Calibri" pitchFamily="34" charset="0"/>
                <a:ea typeface="Calibri" pitchFamily="34" charset="-122"/>
                <a:cs typeface="Calibri" pitchFamily="34" charset="-120"/>
              </a:rPr>
              <a:t>Learned by black-box search</a:t>
            </a:r>
            <a:endParaRPr lang="en-US" sz="4400" dirty="0"/>
          </a:p>
        </p:txBody>
      </p:sp>
      <p:sp>
        <p:nvSpPr>
          <p:cNvPr id="3" name="Text 1"/>
          <p:cNvSpPr/>
          <p:nvPr/>
        </p:nvSpPr>
        <p:spPr>
          <a:xfrm>
            <a:off x="822960" y="1737360"/>
            <a:ext cx="10607040" cy="548640"/>
          </a:xfrm>
          <a:prstGeom prst="rect">
            <a:avLst/>
          </a:prstGeom>
          <a:noFill/>
          <a:ln/>
        </p:spPr>
        <p:txBody>
          <a:bodyPr wrap="square" lIns="0" tIns="0" rIns="0" bIns="0" rtlCol="0" anchor="ctr"/>
          <a:lstStyle/>
          <a:p>
            <a:pPr indent="0" marL="0">
              <a:buNone/>
            </a:pPr>
            <a:r>
              <a:rPr lang="en-US" sz="3200" dirty="0">
                <a:solidFill>
                  <a:srgbClr val="1FB6A6"/>
                </a:solidFill>
                <a:latin typeface="Calibri" pitchFamily="34" charset="0"/>
                <a:ea typeface="Calibri" pitchFamily="34" charset="-122"/>
                <a:cs typeface="Calibri" pitchFamily="34" charset="-120"/>
              </a:rPr>
              <a:t>recall@8 — no LLM in the loop</a:t>
            </a:r>
            <a:endParaRPr lang="en-US" sz="3200" dirty="0"/>
          </a:p>
        </p:txBody>
      </p:sp>
      <p:sp>
        <p:nvSpPr>
          <p:cNvPr id="4" name="Shape 2"/>
          <p:cNvSpPr/>
          <p:nvPr/>
        </p:nvSpPr>
        <p:spPr>
          <a:xfrm>
            <a:off x="1051560" y="3200400"/>
            <a:ext cx="3017520" cy="1371600"/>
          </a:xfrm>
          <a:prstGeom prst="roundRect">
            <a:avLst>
              <a:gd name="adj" fmla="val 10000"/>
            </a:avLst>
          </a:prstGeom>
          <a:solidFill>
            <a:srgbClr val="0C1A2E"/>
          </a:solidFill>
          <a:ln w="31750">
            <a:solidFill>
              <a:srgbClr val="35507A"/>
            </a:solidFill>
            <a:prstDash val="solid"/>
          </a:ln>
        </p:spPr>
      </p:sp>
      <p:sp>
        <p:nvSpPr>
          <p:cNvPr id="5" name="Text 3"/>
          <p:cNvSpPr/>
          <p:nvPr/>
        </p:nvSpPr>
        <p:spPr>
          <a:xfrm>
            <a:off x="1051560" y="3200400"/>
            <a:ext cx="3017520" cy="1371600"/>
          </a:xfrm>
          <a:prstGeom prst="rect">
            <a:avLst/>
          </a:prstGeom>
          <a:noFill/>
          <a:ln/>
        </p:spPr>
        <p:txBody>
          <a:bodyPr wrap="square" lIns="0" tIns="0" rIns="0" bIns="0" rtlCol="0" anchor="ctr"/>
          <a:lstStyle/>
          <a:p>
            <a:pPr algn="ctr" indent="0" marL="0">
              <a:buNone/>
            </a:pPr>
            <a:r>
              <a:rPr lang="en-US" sz="3200" b="1" dirty="0">
                <a:solidFill>
                  <a:srgbClr val="F2F6FB"/>
                </a:solidFill>
                <a:latin typeface="Calibri" pitchFamily="34" charset="0"/>
                <a:ea typeface="Calibri" pitchFamily="34" charset="-122"/>
                <a:cs typeface="Calibri" pitchFamily="34" charset="-120"/>
              </a:rPr>
              <a:t>grid worlds</a:t>
            </a:r>
            <a:endParaRPr lang="en-US" sz="3200" dirty="0"/>
          </a:p>
        </p:txBody>
      </p:sp>
      <p:sp>
        <p:nvSpPr>
          <p:cNvPr id="6" name="Text 4"/>
          <p:cNvSpPr/>
          <p:nvPr/>
        </p:nvSpPr>
        <p:spPr>
          <a:xfrm>
            <a:off x="4114800" y="3200400"/>
            <a:ext cx="777240" cy="1371600"/>
          </a:xfrm>
          <a:prstGeom prst="rect">
            <a:avLst/>
          </a:prstGeom>
          <a:noFill/>
          <a:ln/>
        </p:spPr>
        <p:txBody>
          <a:bodyPr wrap="square" lIns="0" tIns="0" rIns="0" bIns="0" rtlCol="0" anchor="ctr"/>
          <a:lstStyle/>
          <a:p>
            <a:pPr algn="ctr" indent="0" marL="0">
              <a:buNone/>
            </a:pPr>
            <a:r>
              <a:rPr lang="en-US" sz="3400" dirty="0">
                <a:solidFill>
                  <a:srgbClr val="8FA6C4"/>
                </a:solidFill>
                <a:latin typeface="Calibri" pitchFamily="34" charset="0"/>
                <a:ea typeface="Calibri" pitchFamily="34" charset="-122"/>
                <a:cs typeface="Calibri" pitchFamily="34" charset="-120"/>
              </a:rPr>
              <a:t>→</a:t>
            </a:r>
            <a:endParaRPr lang="en-US" sz="3400" dirty="0"/>
          </a:p>
        </p:txBody>
      </p:sp>
      <p:sp>
        <p:nvSpPr>
          <p:cNvPr id="7" name="Shape 5"/>
          <p:cNvSpPr/>
          <p:nvPr/>
        </p:nvSpPr>
        <p:spPr>
          <a:xfrm>
            <a:off x="4892040" y="3200400"/>
            <a:ext cx="3017520" cy="1371600"/>
          </a:xfrm>
          <a:prstGeom prst="roundRect">
            <a:avLst>
              <a:gd name="adj" fmla="val 10000"/>
            </a:avLst>
          </a:prstGeom>
          <a:solidFill>
            <a:srgbClr val="0C1A2E"/>
          </a:solidFill>
          <a:ln w="31750">
            <a:solidFill>
              <a:srgbClr val="35507A"/>
            </a:solidFill>
            <a:prstDash val="solid"/>
          </a:ln>
        </p:spPr>
      </p:sp>
      <p:sp>
        <p:nvSpPr>
          <p:cNvPr id="8" name="Text 6"/>
          <p:cNvSpPr/>
          <p:nvPr/>
        </p:nvSpPr>
        <p:spPr>
          <a:xfrm>
            <a:off x="4892040" y="3200400"/>
            <a:ext cx="3017520" cy="1371600"/>
          </a:xfrm>
          <a:prstGeom prst="rect">
            <a:avLst/>
          </a:prstGeom>
          <a:noFill/>
          <a:ln/>
        </p:spPr>
        <p:txBody>
          <a:bodyPr wrap="square" lIns="0" tIns="0" rIns="0" bIns="0" rtlCol="0" anchor="ctr"/>
          <a:lstStyle/>
          <a:p>
            <a:pPr algn="ctr" indent="0" marL="0">
              <a:buNone/>
            </a:pPr>
            <a:r>
              <a:rPr lang="en-US" sz="3200" b="1" dirty="0">
                <a:solidFill>
                  <a:srgbClr val="F2F6FB"/>
                </a:solidFill>
                <a:latin typeface="Calibri" pitchFamily="34" charset="0"/>
                <a:ea typeface="Calibri" pitchFamily="34" charset="-122"/>
                <a:cs typeface="Calibri" pitchFamily="34" charset="-120"/>
              </a:rPr>
              <a:t>12 systems</a:t>
            </a:r>
            <a:endParaRPr lang="en-US" sz="3200" dirty="0"/>
          </a:p>
        </p:txBody>
      </p:sp>
      <p:sp>
        <p:nvSpPr>
          <p:cNvPr id="9" name="Text 7"/>
          <p:cNvSpPr/>
          <p:nvPr/>
        </p:nvSpPr>
        <p:spPr>
          <a:xfrm>
            <a:off x="7955280" y="3200400"/>
            <a:ext cx="777240" cy="1371600"/>
          </a:xfrm>
          <a:prstGeom prst="rect">
            <a:avLst/>
          </a:prstGeom>
          <a:noFill/>
          <a:ln/>
        </p:spPr>
        <p:txBody>
          <a:bodyPr wrap="square" lIns="0" tIns="0" rIns="0" bIns="0" rtlCol="0" anchor="ctr"/>
          <a:lstStyle/>
          <a:p>
            <a:pPr algn="ctr" indent="0" marL="0">
              <a:buNone/>
            </a:pPr>
            <a:r>
              <a:rPr lang="en-US" sz="3400" dirty="0">
                <a:solidFill>
                  <a:srgbClr val="8FA6C4"/>
                </a:solidFill>
                <a:latin typeface="Calibri" pitchFamily="34" charset="0"/>
                <a:ea typeface="Calibri" pitchFamily="34" charset="-122"/>
                <a:cs typeface="Calibri" pitchFamily="34" charset="-120"/>
              </a:rPr>
              <a:t>→</a:t>
            </a:r>
            <a:endParaRPr lang="en-US" sz="3400" dirty="0"/>
          </a:p>
        </p:txBody>
      </p:sp>
      <p:sp>
        <p:nvSpPr>
          <p:cNvPr id="10" name="Shape 8"/>
          <p:cNvSpPr/>
          <p:nvPr/>
        </p:nvSpPr>
        <p:spPr>
          <a:xfrm>
            <a:off x="8732520" y="3200400"/>
            <a:ext cx="3017520" cy="1371600"/>
          </a:xfrm>
          <a:prstGeom prst="roundRect">
            <a:avLst>
              <a:gd name="adj" fmla="val 10000"/>
            </a:avLst>
          </a:prstGeom>
          <a:solidFill>
            <a:srgbClr val="0C1A2E"/>
          </a:solidFill>
          <a:ln w="31750">
            <a:solidFill>
              <a:srgbClr val="1FB6A6"/>
            </a:solidFill>
            <a:prstDash val="solid"/>
          </a:ln>
        </p:spPr>
      </p:sp>
      <p:sp>
        <p:nvSpPr>
          <p:cNvPr id="11" name="Text 9"/>
          <p:cNvSpPr/>
          <p:nvPr/>
        </p:nvSpPr>
        <p:spPr>
          <a:xfrm>
            <a:off x="8732520" y="3200400"/>
            <a:ext cx="3017520" cy="1371600"/>
          </a:xfrm>
          <a:prstGeom prst="rect">
            <a:avLst/>
          </a:prstGeom>
          <a:noFill/>
          <a:ln/>
        </p:spPr>
        <p:txBody>
          <a:bodyPr wrap="square" lIns="0" tIns="0" rIns="0" bIns="0" rtlCol="0" anchor="ctr"/>
          <a:lstStyle/>
          <a:p>
            <a:pPr algn="ctr" indent="0" marL="0">
              <a:buNone/>
            </a:pPr>
            <a:r>
              <a:rPr lang="en-US" sz="3200" b="1" dirty="0">
                <a:solidFill>
                  <a:srgbClr val="1FB6A6"/>
                </a:solidFill>
                <a:latin typeface="Calibri" pitchFamily="34" charset="0"/>
                <a:ea typeface="Calibri" pitchFamily="34" charset="-122"/>
                <a:cs typeface="Calibri" pitchFamily="34" charset="-120"/>
              </a:rPr>
              <a:t>6 benchmarks</a:t>
            </a:r>
            <a:endParaRPr lang="en-US" sz="3200" dirty="0"/>
          </a:p>
        </p:txBody>
      </p:sp>
      <p:sp>
        <p:nvSpPr>
          <p:cNvPr id="13" name="Text 10"/>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548640" y="1737360"/>
            <a:ext cx="11064240" cy="1554480"/>
          </a:xfrm>
          <a:prstGeom prst="rect">
            <a:avLst/>
          </a:prstGeom>
          <a:noFill/>
          <a:ln/>
        </p:spPr>
        <p:txBody>
          <a:bodyPr wrap="square" lIns="0" tIns="0" rIns="0" bIns="0" rtlCol="0" anchor="ctr"/>
          <a:lstStyle/>
          <a:p>
            <a:pPr algn="ctr" indent="0" marL="0">
              <a:buNone/>
            </a:pPr>
            <a:r>
              <a:rPr lang="en-US" sz="9600" b="1" dirty="0">
                <a:solidFill>
                  <a:srgbClr val="1FB6A6"/>
                </a:solidFill>
                <a:latin typeface="Calibri" pitchFamily="34" charset="0"/>
                <a:ea typeface="Calibri" pitchFamily="34" charset="-122"/>
                <a:cs typeface="Calibri" pitchFamily="34" charset="-120"/>
              </a:rPr>
              <a:t>2.5%  →  27.5%</a:t>
            </a:r>
            <a:endParaRPr lang="en-US" sz="9600" dirty="0"/>
          </a:p>
        </p:txBody>
      </p:sp>
      <p:sp>
        <p:nvSpPr>
          <p:cNvPr id="3" name="Text 1"/>
          <p:cNvSpPr/>
          <p:nvPr/>
        </p:nvSpPr>
        <p:spPr>
          <a:xfrm>
            <a:off x="548640" y="3657600"/>
            <a:ext cx="11064240" cy="640080"/>
          </a:xfrm>
          <a:prstGeom prst="rect">
            <a:avLst/>
          </a:prstGeom>
          <a:noFill/>
          <a:ln/>
        </p:spPr>
        <p:txBody>
          <a:bodyPr wrap="square" lIns="0" tIns="0" rIns="0" bIns="0" rtlCol="0" anchor="ctr"/>
          <a:lstStyle/>
          <a:p>
            <a:pPr algn="ctr" indent="0" marL="0">
              <a:buNone/>
            </a:pPr>
            <a:r>
              <a:rPr lang="en-US" sz="4000" dirty="0">
                <a:solidFill>
                  <a:srgbClr val="F2F6FB"/>
                </a:solidFill>
                <a:latin typeface="Calibri" pitchFamily="34" charset="0"/>
                <a:ea typeface="Calibri" pitchFamily="34" charset="-122"/>
                <a:cs typeface="Calibri" pitchFamily="34" charset="-120"/>
              </a:rPr>
              <a:t>Every task learns a different θ.</a:t>
            </a:r>
            <a:endParaRPr lang="en-US" sz="4000" dirty="0"/>
          </a:p>
        </p:txBody>
      </p:sp>
      <p:sp>
        <p:nvSpPr>
          <p:cNvPr id="4" name="Text 2"/>
          <p:cNvSpPr/>
          <p:nvPr/>
        </p:nvSpPr>
        <p:spPr>
          <a:xfrm>
            <a:off x="548640" y="4434840"/>
            <a:ext cx="11064240" cy="548640"/>
          </a:xfrm>
          <a:prstGeom prst="rect">
            <a:avLst/>
          </a:prstGeom>
          <a:noFill/>
          <a:ln/>
        </p:spPr>
        <p:txBody>
          <a:bodyPr wrap="square" lIns="0" tIns="0" rIns="0" bIns="0" rtlCol="0" anchor="ctr"/>
          <a:lstStyle/>
          <a:p>
            <a:pPr algn="ctr" indent="0" marL="0">
              <a:buNone/>
            </a:pPr>
            <a:r>
              <a:rPr lang="en-US" sz="2800" dirty="0">
                <a:solidFill>
                  <a:srgbClr val="8FA6C4"/>
                </a:solidFill>
                <a:latin typeface="Calibri" pitchFamily="34" charset="0"/>
                <a:ea typeface="Calibri" pitchFamily="34" charset="-122"/>
                <a:cs typeface="Calibri" pitchFamily="34" charset="-120"/>
              </a:rPr>
              <a:t>hardest grid task — learned vs. fixed memory</a:t>
            </a:r>
            <a:endParaRPr lang="en-US" sz="2800" dirty="0"/>
          </a:p>
        </p:txBody>
      </p:sp>
      <p:sp>
        <p:nvSpPr>
          <p:cNvPr id="6" name="Text 3"/>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594360" y="566928"/>
            <a:ext cx="9235440" cy="640080"/>
          </a:xfrm>
          <a:prstGeom prst="rect">
            <a:avLst/>
          </a:prstGeom>
          <a:noFill/>
          <a:ln/>
        </p:spPr>
        <p:txBody>
          <a:bodyPr wrap="square" lIns="0" tIns="0" rIns="0" bIns="0" rtlCol="0" anchor="ctr"/>
          <a:lstStyle/>
          <a:p>
            <a:pPr indent="0" marL="0">
              <a:buNone/>
            </a:pPr>
            <a:r>
              <a:rPr lang="en-US" sz="3800" b="1" dirty="0">
                <a:solidFill>
                  <a:srgbClr val="F2F6FB"/>
                </a:solidFill>
                <a:latin typeface="Calibri" pitchFamily="34" charset="0"/>
                <a:ea typeface="Calibri" pitchFamily="34" charset="-122"/>
                <a:cs typeface="Calibri" pitchFamily="34" charset="-120"/>
              </a:rPr>
              <a:t>Re-tuning θ per corpus lifts accuracy</a:t>
            </a:r>
            <a:endParaRPr lang="en-US" sz="3800" dirty="0"/>
          </a:p>
        </p:txBody>
      </p:sp>
      <p:sp>
        <p:nvSpPr>
          <p:cNvPr id="3" name="Shape 1"/>
          <p:cNvSpPr/>
          <p:nvPr/>
        </p:nvSpPr>
        <p:spPr>
          <a:xfrm>
            <a:off x="10058400" y="566928"/>
            <a:ext cx="256032" cy="256032"/>
          </a:xfrm>
          <a:prstGeom prst="rect">
            <a:avLst/>
          </a:prstGeom>
          <a:solidFill>
            <a:srgbClr val="7C8FA8"/>
          </a:solidFill>
          <a:ln/>
        </p:spPr>
      </p:sp>
      <p:sp>
        <p:nvSpPr>
          <p:cNvPr id="4" name="Text 2"/>
          <p:cNvSpPr/>
          <p:nvPr/>
        </p:nvSpPr>
        <p:spPr>
          <a:xfrm>
            <a:off x="10424160" y="457200"/>
            <a:ext cx="1691640" cy="457200"/>
          </a:xfrm>
          <a:prstGeom prst="rect">
            <a:avLst/>
          </a:prstGeom>
          <a:noFill/>
          <a:ln/>
        </p:spPr>
        <p:txBody>
          <a:bodyPr wrap="square" lIns="0" tIns="0" rIns="0" bIns="0" rtlCol="0" anchor="ctr"/>
          <a:lstStyle/>
          <a:p>
            <a:pPr indent="0" marL="0">
              <a:buNone/>
            </a:pPr>
            <a:r>
              <a:rPr lang="en-US" sz="3000" dirty="0">
                <a:solidFill>
                  <a:srgbClr val="7C8FA8"/>
                </a:solidFill>
                <a:latin typeface="Calibri" pitchFamily="34" charset="0"/>
                <a:ea typeface="Calibri" pitchFamily="34" charset="-122"/>
                <a:cs typeface="Calibri" pitchFamily="34" charset="-120"/>
              </a:rPr>
              <a:t>canonical</a:t>
            </a:r>
            <a:endParaRPr lang="en-US" sz="3000" dirty="0"/>
          </a:p>
        </p:txBody>
      </p:sp>
      <p:sp>
        <p:nvSpPr>
          <p:cNvPr id="5" name="Shape 3"/>
          <p:cNvSpPr/>
          <p:nvPr/>
        </p:nvSpPr>
        <p:spPr>
          <a:xfrm>
            <a:off x="10058400" y="1024128"/>
            <a:ext cx="256032" cy="256032"/>
          </a:xfrm>
          <a:prstGeom prst="rect">
            <a:avLst/>
          </a:prstGeom>
          <a:solidFill>
            <a:srgbClr val="1FB6A6"/>
          </a:solidFill>
          <a:ln/>
        </p:spPr>
      </p:sp>
      <p:sp>
        <p:nvSpPr>
          <p:cNvPr id="6" name="Text 4"/>
          <p:cNvSpPr/>
          <p:nvPr/>
        </p:nvSpPr>
        <p:spPr>
          <a:xfrm>
            <a:off x="10424160" y="914400"/>
            <a:ext cx="1691640" cy="457200"/>
          </a:xfrm>
          <a:prstGeom prst="rect">
            <a:avLst/>
          </a:prstGeom>
          <a:noFill/>
          <a:ln/>
        </p:spPr>
        <p:txBody>
          <a:bodyPr wrap="square" lIns="0" tIns="0" rIns="0" bIns="0" rtlCol="0" anchor="ctr"/>
          <a:lstStyle/>
          <a:p>
            <a:pPr indent="0" marL="0">
              <a:buNone/>
            </a:pPr>
            <a:r>
              <a:rPr lang="en-US" sz="3000" dirty="0">
                <a:solidFill>
                  <a:srgbClr val="1FB6A6"/>
                </a:solidFill>
                <a:latin typeface="Calibri" pitchFamily="34" charset="0"/>
                <a:ea typeface="Calibri" pitchFamily="34" charset="-122"/>
                <a:cs typeface="Calibri" pitchFamily="34" charset="-120"/>
              </a:rPr>
              <a:t>tuned</a:t>
            </a:r>
            <a:endParaRPr lang="en-US" sz="3000" dirty="0"/>
          </a:p>
        </p:txBody>
      </p:sp>
      <p:graphicFrame>
        <p:nvGraphicFramePr>
          <p:cNvPr id="7" name="Chart 0" descr=""/>
          <p:cNvGraphicFramePr/>
          <p:nvPr/>
        </p:nvGraphicFramePr>
        <p:xfrm>
          <a:off x="457200" y="1371600"/>
          <a:ext cx="11247120" cy="4800600"/>
        </p:xfrm>
        <a:graphic xmlns:a="http://schemas.openxmlformats.org/drawingml/2006/main">
          <a:graphicData uri="http://schemas.openxmlformats.org/drawingml/2006/chart">
            <c:chart xmlns:c="http://schemas.openxmlformats.org/drawingml/2006/chart" r:id="rId1"/>
          </a:graphicData>
        </a:graphic>
      </p:graphicFrame>
      <p:sp>
        <p:nvSpPr>
          <p:cNvPr id="9" name="Text 5"/>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548640" y="1371600"/>
            <a:ext cx="11064240" cy="1645920"/>
          </a:xfrm>
          <a:prstGeom prst="rect">
            <a:avLst/>
          </a:prstGeom>
          <a:noFill/>
          <a:ln/>
        </p:spPr>
        <p:txBody>
          <a:bodyPr wrap="square" lIns="0" tIns="0" rIns="0" bIns="0" rtlCol="0" anchor="ctr"/>
          <a:lstStyle/>
          <a:p>
            <a:pPr algn="ctr" indent="0" marL="0">
              <a:buNone/>
            </a:pPr>
            <a:r>
              <a:rPr lang="en-US" sz="11000" b="1" dirty="0">
                <a:solidFill>
                  <a:srgbClr val="1FB6A6"/>
                </a:solidFill>
                <a:latin typeface="Calibri" pitchFamily="34" charset="0"/>
                <a:ea typeface="Calibri" pitchFamily="34" charset="-122"/>
                <a:cs typeface="Calibri" pitchFamily="34" charset="-120"/>
              </a:rPr>
              <a:t>18×</a:t>
            </a:r>
            <a:endParaRPr lang="en-US" sz="11000" dirty="0"/>
          </a:p>
        </p:txBody>
      </p:sp>
      <p:sp>
        <p:nvSpPr>
          <p:cNvPr id="3" name="Text 1"/>
          <p:cNvSpPr/>
          <p:nvPr/>
        </p:nvSpPr>
        <p:spPr>
          <a:xfrm>
            <a:off x="548640" y="3246120"/>
            <a:ext cx="11064240" cy="640080"/>
          </a:xfrm>
          <a:prstGeom prst="rect">
            <a:avLst/>
          </a:prstGeom>
          <a:noFill/>
          <a:ln/>
        </p:spPr>
        <p:txBody>
          <a:bodyPr wrap="square" lIns="0" tIns="0" rIns="0" bIns="0" rtlCol="0" anchor="ctr"/>
          <a:lstStyle/>
          <a:p>
            <a:pPr algn="ctr" indent="0" marL="0">
              <a:buNone/>
            </a:pPr>
            <a:r>
              <a:rPr lang="en-US" sz="4000" dirty="0">
                <a:solidFill>
                  <a:srgbClr val="F2F6FB"/>
                </a:solidFill>
                <a:latin typeface="Calibri" pitchFamily="34" charset="0"/>
                <a:ea typeface="Calibri" pitchFamily="34" charset="-122"/>
                <a:cs typeface="Calibri" pitchFamily="34" charset="-120"/>
              </a:rPr>
              <a:t>cheaper, at the same accuracy</a:t>
            </a:r>
            <a:endParaRPr lang="en-US" sz="4000" dirty="0"/>
          </a:p>
        </p:txBody>
      </p:sp>
      <p:sp>
        <p:nvSpPr>
          <p:cNvPr id="4" name="Shape 2"/>
          <p:cNvSpPr/>
          <p:nvPr/>
        </p:nvSpPr>
        <p:spPr>
          <a:xfrm>
            <a:off x="4937760" y="4251960"/>
            <a:ext cx="2286000" cy="0"/>
          </a:xfrm>
          <a:prstGeom prst="line">
            <a:avLst/>
          </a:prstGeom>
          <a:noFill/>
          <a:ln w="25400">
            <a:solidFill>
              <a:srgbClr val="35507A"/>
            </a:solidFill>
            <a:prstDash val="solid"/>
          </a:ln>
        </p:spPr>
      </p:sp>
      <p:sp>
        <p:nvSpPr>
          <p:cNvPr id="5" name="Text 3"/>
          <p:cNvSpPr/>
          <p:nvPr/>
        </p:nvSpPr>
        <p:spPr>
          <a:xfrm>
            <a:off x="548640" y="4526280"/>
            <a:ext cx="11064240" cy="640080"/>
          </a:xfrm>
          <a:prstGeom prst="rect">
            <a:avLst/>
          </a:prstGeom>
          <a:noFill/>
          <a:ln/>
        </p:spPr>
        <p:txBody>
          <a:bodyPr wrap="square" lIns="0" tIns="0" rIns="0" bIns="0" rtlCol="0" anchor="ctr"/>
          <a:lstStyle/>
          <a:p>
            <a:pPr algn="ctr" indent="0" marL="0">
              <a:buNone/>
            </a:pPr>
            <a:r>
              <a:rPr lang="en-US" sz="3400" dirty="0">
                <a:solidFill>
                  <a:srgbClr val="E6A23C"/>
                </a:solidFill>
                <a:latin typeface="Calibri" pitchFamily="34" charset="0"/>
                <a:ea typeface="Calibri" pitchFamily="34" charset="-122"/>
                <a:cs typeface="Calibri" pitchFamily="34" charset="-120"/>
              </a:rPr>
              <a:t>Full context breaks at 11 contracts.</a:t>
            </a:r>
            <a:endParaRPr lang="en-US" sz="3400" dirty="0"/>
          </a:p>
        </p:txBody>
      </p:sp>
      <p:sp>
        <p:nvSpPr>
          <p:cNvPr id="7" name="Text 4"/>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1188720"/>
            <a:ext cx="10607040" cy="914400"/>
          </a:xfrm>
          <a:prstGeom prst="rect">
            <a:avLst/>
          </a:prstGeom>
          <a:noFill/>
          <a:ln/>
        </p:spPr>
        <p:txBody>
          <a:bodyPr wrap="square" lIns="0" tIns="0" rIns="0" bIns="0" rtlCol="0" anchor="ctr"/>
          <a:lstStyle/>
          <a:p>
            <a:pPr indent="0" marL="0">
              <a:buNone/>
            </a:pPr>
            <a:r>
              <a:rPr lang="en-US" sz="6000" b="1" dirty="0">
                <a:solidFill>
                  <a:srgbClr val="F2F6FB"/>
                </a:solidFill>
                <a:latin typeface="Calibri" pitchFamily="34" charset="0"/>
                <a:ea typeface="Calibri" pitchFamily="34" charset="-122"/>
                <a:cs typeface="Calibri" pitchFamily="34" charset="-120"/>
              </a:rPr>
              <a:t>Yes, and yes.</a:t>
            </a:r>
            <a:endParaRPr lang="en-US" sz="6000" dirty="0"/>
          </a:p>
        </p:txBody>
      </p:sp>
      <p:sp>
        <p:nvSpPr>
          <p:cNvPr id="3" name="Text 1"/>
          <p:cNvSpPr/>
          <p:nvPr/>
        </p:nvSpPr>
        <p:spPr>
          <a:xfrm>
            <a:off x="822960" y="2743200"/>
            <a:ext cx="640080" cy="640080"/>
          </a:xfrm>
          <a:prstGeom prst="rect">
            <a:avLst/>
          </a:prstGeom>
          <a:noFill/>
          <a:ln/>
        </p:spPr>
        <p:txBody>
          <a:bodyPr wrap="square" lIns="0" tIns="0" rIns="0" bIns="0" rtlCol="0" anchor="ctr"/>
          <a:lstStyle/>
          <a:p>
            <a:pPr indent="0" marL="0">
              <a:buNone/>
            </a:pPr>
            <a:r>
              <a:rPr lang="en-US" sz="3400" b="1" dirty="0">
                <a:solidFill>
                  <a:srgbClr val="1FB6A6"/>
                </a:solidFill>
                <a:latin typeface="Calibri" pitchFamily="34" charset="0"/>
                <a:ea typeface="Calibri" pitchFamily="34" charset="-122"/>
                <a:cs typeface="Calibri" pitchFamily="34" charset="-120"/>
              </a:rPr>
              <a:t>1</a:t>
            </a:r>
            <a:endParaRPr lang="en-US" sz="3400" dirty="0"/>
          </a:p>
        </p:txBody>
      </p:sp>
      <p:sp>
        <p:nvSpPr>
          <p:cNvPr id="4" name="Text 2"/>
          <p:cNvSpPr/>
          <p:nvPr/>
        </p:nvSpPr>
        <p:spPr>
          <a:xfrm>
            <a:off x="1600200" y="2743200"/>
            <a:ext cx="9875520" cy="640080"/>
          </a:xfrm>
          <a:prstGeom prst="rect">
            <a:avLst/>
          </a:prstGeom>
          <a:noFill/>
          <a:ln/>
        </p:spPr>
        <p:txBody>
          <a:bodyPr wrap="square" lIns="0" tIns="0" rIns="0" bIns="0" rtlCol="0" anchor="ctr"/>
          <a:lstStyle/>
          <a:p>
            <a:pPr indent="0" marL="0">
              <a:buNone/>
            </a:pPr>
            <a:r>
              <a:rPr lang="en-US" sz="3600" dirty="0">
                <a:solidFill>
                  <a:srgbClr val="F2F6FB"/>
                </a:solidFill>
                <a:latin typeface="Calibri" pitchFamily="34" charset="0"/>
                <a:ea typeface="Calibri" pitchFamily="34" charset="-122"/>
                <a:cs typeface="Calibri" pitchFamily="34" charset="-120"/>
              </a:rPr>
              <a:t>Memory construction is learnable.</a:t>
            </a:r>
            <a:endParaRPr lang="en-US" sz="3600" dirty="0"/>
          </a:p>
        </p:txBody>
      </p:sp>
      <p:sp>
        <p:nvSpPr>
          <p:cNvPr id="5" name="Text 3"/>
          <p:cNvSpPr/>
          <p:nvPr/>
        </p:nvSpPr>
        <p:spPr>
          <a:xfrm>
            <a:off x="822960" y="3749040"/>
            <a:ext cx="640080" cy="640080"/>
          </a:xfrm>
          <a:prstGeom prst="rect">
            <a:avLst/>
          </a:prstGeom>
          <a:noFill/>
          <a:ln/>
        </p:spPr>
        <p:txBody>
          <a:bodyPr wrap="square" lIns="0" tIns="0" rIns="0" bIns="0" rtlCol="0" anchor="ctr"/>
          <a:lstStyle/>
          <a:p>
            <a:pPr indent="0" marL="0">
              <a:buNone/>
            </a:pPr>
            <a:r>
              <a:rPr lang="en-US" sz="3400" b="1" dirty="0">
                <a:solidFill>
                  <a:srgbClr val="1FB6A6"/>
                </a:solidFill>
                <a:latin typeface="Calibri" pitchFamily="34" charset="0"/>
                <a:ea typeface="Calibri" pitchFamily="34" charset="-122"/>
                <a:cs typeface="Calibri" pitchFamily="34" charset="-120"/>
              </a:rPr>
              <a:t>2</a:t>
            </a:r>
            <a:endParaRPr lang="en-US" sz="3400" dirty="0"/>
          </a:p>
        </p:txBody>
      </p:sp>
      <p:sp>
        <p:nvSpPr>
          <p:cNvPr id="6" name="Text 4"/>
          <p:cNvSpPr/>
          <p:nvPr/>
        </p:nvSpPr>
        <p:spPr>
          <a:xfrm>
            <a:off x="1600200" y="3749040"/>
            <a:ext cx="9875520" cy="640080"/>
          </a:xfrm>
          <a:prstGeom prst="rect">
            <a:avLst/>
          </a:prstGeom>
          <a:noFill/>
          <a:ln/>
        </p:spPr>
        <p:txBody>
          <a:bodyPr wrap="square" lIns="0" tIns="0" rIns="0" bIns="0" rtlCol="0" anchor="ctr"/>
          <a:lstStyle/>
          <a:p>
            <a:pPr indent="0" marL="0">
              <a:buNone/>
            </a:pPr>
            <a:r>
              <a:rPr lang="en-US" sz="3600" dirty="0">
                <a:solidFill>
                  <a:srgbClr val="F2F6FB"/>
                </a:solidFill>
                <a:latin typeface="Calibri" pitchFamily="34" charset="0"/>
                <a:ea typeface="Calibri" pitchFamily="34" charset="-122"/>
                <a:cs typeface="Calibri" pitchFamily="34" charset="-120"/>
              </a:rPr>
              <a:t>The optimum is task-dependent.</a:t>
            </a:r>
            <a:endParaRPr lang="en-US" sz="3600" dirty="0"/>
          </a:p>
        </p:txBody>
      </p:sp>
      <p:sp>
        <p:nvSpPr>
          <p:cNvPr id="7" name="Text 5"/>
          <p:cNvSpPr/>
          <p:nvPr/>
        </p:nvSpPr>
        <p:spPr>
          <a:xfrm>
            <a:off x="822960" y="5120640"/>
            <a:ext cx="10607040" cy="640080"/>
          </a:xfrm>
          <a:prstGeom prst="rect">
            <a:avLst/>
          </a:prstGeom>
          <a:noFill/>
          <a:ln/>
        </p:spPr>
        <p:txBody>
          <a:bodyPr wrap="square" lIns="0" tIns="0" rIns="0" bIns="0" rtlCol="0" anchor="ctr"/>
          <a:lstStyle/>
          <a:p>
            <a:pPr indent="0" marL="0">
              <a:buNone/>
            </a:pPr>
            <a:r>
              <a:rPr lang="en-US" sz="3000" i="1" dirty="0">
                <a:solidFill>
                  <a:srgbClr val="8FA6C4"/>
                </a:solidFill>
                <a:latin typeface="Calibri" pitchFamily="34" charset="0"/>
                <a:ea typeface="Calibri" pitchFamily="34" charset="-122"/>
                <a:cs typeface="Calibri" pitchFamily="34" charset="-120"/>
              </a:rPr>
              <a:t>At scale: efficiency, not free accuracy.</a:t>
            </a:r>
            <a:endParaRPr lang="en-US" sz="3000" dirty="0"/>
          </a:p>
        </p:txBody>
      </p:sp>
      <p:sp>
        <p:nvSpPr>
          <p:cNvPr id="9" name="Text 6"/>
          <p:cNvSpPr/>
          <p:nvPr/>
        </p:nvSpPr>
        <p:spPr>
          <a:xfrm>
            <a:off x="11430000" y="6355080"/>
            <a:ext cx="365760" cy="274320"/>
          </a:xfrm>
          <a:prstGeom prst="rect">
            <a:avLst/>
          </a:prstGeom>
          <a:noFill/>
          <a:ln/>
        </p:spPr>
        <p:txBody>
          <a:bodyPr wrap="square" lIns="0" tIns="0" rIns="0" bIns="0" rtlCol="0" anchor="ctr"/>
          <a:lstStyle/>
          <a:p>
            <a:pPr algn="r" indent="0" marL="0">
              <a:buNone/>
            </a:pPr>
            <a:r>
              <a:rPr lang="en-US" sz="1200" dirty="0">
                <a:solidFill>
                  <a:srgbClr val="3B547A"/>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A2E"/>
        </a:solidFill>
      </p:bgPr>
    </p:bg>
    <p:spTree>
      <p:nvGrpSpPr>
        <p:cNvPr id="1" name=""/>
        <p:cNvGrpSpPr/>
        <p:nvPr/>
      </p:nvGrpSpPr>
      <p:grpSpPr>
        <a:xfrm>
          <a:off x="0" y="0"/>
          <a:ext cx="0" cy="0"/>
          <a:chOff x="0" y="0"/>
          <a:chExt cx="0" cy="0"/>
        </a:xfrm>
      </p:grpSpPr>
      <p:sp>
        <p:nvSpPr>
          <p:cNvPr id="2" name="Text 0"/>
          <p:cNvSpPr/>
          <p:nvPr/>
        </p:nvSpPr>
        <p:spPr>
          <a:xfrm>
            <a:off x="822960" y="2468880"/>
            <a:ext cx="10607040" cy="914400"/>
          </a:xfrm>
          <a:prstGeom prst="rect">
            <a:avLst/>
          </a:prstGeom>
          <a:noFill/>
          <a:ln/>
        </p:spPr>
        <p:txBody>
          <a:bodyPr wrap="square" lIns="0" tIns="0" rIns="0" bIns="0" rtlCol="0" anchor="ctr"/>
          <a:lstStyle/>
          <a:p>
            <a:pPr indent="0" marL="0">
              <a:buNone/>
            </a:pPr>
            <a:r>
              <a:rPr lang="en-US" sz="5400" b="1" dirty="0">
                <a:solidFill>
                  <a:srgbClr val="F2F6FB"/>
                </a:solidFill>
                <a:latin typeface="Calibri" pitchFamily="34" charset="0"/>
                <a:ea typeface="Calibri" pitchFamily="34" charset="-122"/>
                <a:cs typeface="Calibri" pitchFamily="34" charset="-120"/>
              </a:rPr>
              <a:t>Thank you.</a:t>
            </a:r>
            <a:endParaRPr lang="en-US" sz="5400" dirty="0"/>
          </a:p>
        </p:txBody>
      </p:sp>
      <p:sp>
        <p:nvSpPr>
          <p:cNvPr id="3" name="Text 1"/>
          <p:cNvSpPr/>
          <p:nvPr/>
        </p:nvSpPr>
        <p:spPr>
          <a:xfrm>
            <a:off x="822960" y="3520440"/>
            <a:ext cx="10607040" cy="731520"/>
          </a:xfrm>
          <a:prstGeom prst="rect">
            <a:avLst/>
          </a:prstGeom>
          <a:noFill/>
          <a:ln/>
        </p:spPr>
        <p:txBody>
          <a:bodyPr wrap="square" lIns="0" tIns="0" rIns="0" bIns="0" rtlCol="0" anchor="ctr"/>
          <a:lstStyle/>
          <a:p>
            <a:pPr indent="0" marL="0">
              <a:buNone/>
            </a:pPr>
            <a:r>
              <a:rPr lang="en-US" sz="4000" dirty="0">
                <a:solidFill>
                  <a:srgbClr val="1FB6A6"/>
                </a:solidFill>
                <a:latin typeface="Calibri" pitchFamily="34" charset="0"/>
                <a:ea typeface="Calibri" pitchFamily="34" charset="-122"/>
                <a:cs typeface="Calibri" pitchFamily="34" charset="-120"/>
              </a:rPr>
              <a:t>Questions?</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Learnable, Task-Adaptive Structured Memory for LLM Agents</dc:title>
  <dc:subject>PptxGenJS Presentation</dc:subject>
  <dc:creator>Stefan Uifalean</dc:creator>
  <cp:lastModifiedBy>Stefan Uifalean</cp:lastModifiedBy>
  <cp:revision>1</cp:revision>
  <dcterms:created xsi:type="dcterms:W3CDTF">2026-07-15T19:38:19Z</dcterms:created>
  <dcterms:modified xsi:type="dcterms:W3CDTF">2026-07-15T19:38:19Z</dcterms:modified>
</cp:coreProperties>
</file>